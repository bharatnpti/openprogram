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77b9b4c9494298" /><Relationship Type="http://schemas.openxmlformats.org/officeDocument/2006/relationships/extended-properties" Target="/docProps/app.xml" Id="Rf4feaeb37de843ba" /><Relationship Type="http://schemas.openxmlformats.org/officeDocument/2006/relationships/officeDocument" Target="/ppt/presentation.xml" Id="R670b470b01d34e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661e826ea0471e"/>
  </p:sldMasterIdLst>
  <p:notesMasterIdLst>
    <p:notesMasterId xmlns:r="http://schemas.openxmlformats.org/officeDocument/2006/relationships" r:id="R685471bfdfd746ff"/>
  </p:notesMasterIdLst>
  <p:sldIdLst>
    <p:sldId xmlns:r="http://schemas.openxmlformats.org/officeDocument/2006/relationships" id="256" r:id="R0851f0f49b6942da"/>
    <p:sldId xmlns:r="http://schemas.openxmlformats.org/officeDocument/2006/relationships" id="257" r:id="R8dd2ea7693a94d6c"/>
    <p:sldId xmlns:r="http://schemas.openxmlformats.org/officeDocument/2006/relationships" id="258" r:id="R0ec4c5d6b7444409"/>
    <p:sldId xmlns:r="http://schemas.openxmlformats.org/officeDocument/2006/relationships" id="259" r:id="R7d22aaa6cae145da"/>
    <p:sldId xmlns:r="http://schemas.openxmlformats.org/officeDocument/2006/relationships" id="260" r:id="R265159156c1e4f33"/>
    <p:sldId xmlns:r="http://schemas.openxmlformats.org/officeDocument/2006/relationships" id="261" r:id="Ref7ad986225c49b5"/>
    <p:sldId xmlns:r="http://schemas.openxmlformats.org/officeDocument/2006/relationships" id="262" r:id="R7ebcc177f40244dc"/>
    <p:sldId xmlns:r="http://schemas.openxmlformats.org/officeDocument/2006/relationships" id="263" r:id="Rbd079a1920de45fd"/>
    <p:sldId xmlns:r="http://schemas.openxmlformats.org/officeDocument/2006/relationships" id="264" r:id="Rf6df086e03794546"/>
    <p:sldId xmlns:r="http://schemas.openxmlformats.org/officeDocument/2006/relationships" id="265" r:id="R597d65a6904d4ee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baa6c0cf2a4794" /><Relationship Type="http://schemas.openxmlformats.org/officeDocument/2006/relationships/slideMaster" Target="/ppt/slideMasters/slideMaster1.xml" Id="R3c661e826ea0471e" /><Relationship Type="http://schemas.openxmlformats.org/officeDocument/2006/relationships/notesMaster" Target="/ppt/notesMasters/notesMaster1.xml" Id="R685471bfdfd746ff" /><Relationship Type="http://schemas.openxmlformats.org/officeDocument/2006/relationships/presProps" Target="/ppt/presProps.xml" Id="Rcdfa4e13949943f2" /><Relationship Type="http://schemas.openxmlformats.org/officeDocument/2006/relationships/tableStyles" Target="/ppt/tableStyles.xml" Id="R2a83f83cb95846b2" /><Relationship Type="http://schemas.openxmlformats.org/officeDocument/2006/relationships/slide" Target="/ppt/slides/slide1.xml" Id="R0851f0f49b6942da" /><Relationship Type="http://schemas.openxmlformats.org/officeDocument/2006/relationships/slide" Target="/ppt/slides/slide2.xml" Id="R8dd2ea7693a94d6c" /><Relationship Type="http://schemas.openxmlformats.org/officeDocument/2006/relationships/slide" Target="/ppt/slides/slide3.xml" Id="R0ec4c5d6b7444409" /><Relationship Type="http://schemas.openxmlformats.org/officeDocument/2006/relationships/slide" Target="/ppt/slides/slide4.xml" Id="R7d22aaa6cae145da" /><Relationship Type="http://schemas.openxmlformats.org/officeDocument/2006/relationships/slide" Target="/ppt/slides/slide5.xml" Id="R265159156c1e4f33" /><Relationship Type="http://schemas.openxmlformats.org/officeDocument/2006/relationships/slide" Target="/ppt/slides/slide6.xml" Id="Ref7ad986225c49b5" /><Relationship Type="http://schemas.openxmlformats.org/officeDocument/2006/relationships/slide" Target="/ppt/slides/slide7.xml" Id="R7ebcc177f40244dc" /><Relationship Type="http://schemas.openxmlformats.org/officeDocument/2006/relationships/slide" Target="/ppt/slides/slide8.xml" Id="Rbd079a1920de45fd" /><Relationship Type="http://schemas.openxmlformats.org/officeDocument/2006/relationships/slide" Target="/ppt/slides/slide9.xml" Id="Rf6df086e03794546" /><Relationship Type="http://schemas.openxmlformats.org/officeDocument/2006/relationships/slide" Target="/ppt/slides/slide10.xml" Id="R597d65a6904d4e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af6bc629d644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Bright Aqua">
      <a:dk1>
        <a:srgbClr val="000000"/>
      </a:dk1>
      <a:lt1>
        <a:srgbClr val="FFFFFF"/>
      </a:lt1>
      <a:dk2>
        <a:srgbClr val="213E50"/>
      </a:dk2>
      <a:lt2>
        <a:srgbClr val="E7ECEF"/>
      </a:lt2>
      <a:accent1>
        <a:srgbClr val="19C8BD"/>
      </a:accent1>
      <a:accent2>
        <a:srgbClr val="00AEB8"/>
      </a:accent2>
      <a:accent3>
        <a:srgbClr val="F4FBFA"/>
      </a:accent3>
      <a:accent4>
        <a:srgbClr val="E7ECEF"/>
      </a:accent4>
      <a:accent5>
        <a:srgbClr val="53616B"/>
      </a:accent5>
      <a:accent6>
        <a:srgbClr val="213E50"/>
      </a:accent6>
      <a:hlink>
        <a:srgbClr val="00AEB8"/>
      </a:hlink>
      <a:folHlink>
        <a:srgbClr val="19C8B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25ad3565c143d2" /><Relationship Type="http://schemas.openxmlformats.org/officeDocument/2006/relationships/notesMaster" Target="/ppt/notesMasters/notesMaster1.xml" Id="Rbf5dcc614f3b44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943b97237b4376" /><Relationship Type="http://schemas.openxmlformats.org/officeDocument/2006/relationships/notesMaster" Target="/ppt/notesMasters/notesMaster1.xml" Id="Rfbfec036a4c64b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886730edc84f40" /><Relationship Type="http://schemas.openxmlformats.org/officeDocument/2006/relationships/notesMaster" Target="/ppt/notesMasters/notesMaster1.xml" Id="R1a59e856299340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bf898fbcf746a2" /><Relationship Type="http://schemas.openxmlformats.org/officeDocument/2006/relationships/notesMaster" Target="/ppt/notesMasters/notesMaster1.xml" Id="R207df91f092844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9a3b9a648743a1" /><Relationship Type="http://schemas.openxmlformats.org/officeDocument/2006/relationships/notesMaster" Target="/ppt/notesMasters/notesMaster1.xml" Id="R07d55a35adb74e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62ff6afa52403a" /><Relationship Type="http://schemas.openxmlformats.org/officeDocument/2006/relationships/notesMaster" Target="/ppt/notesMasters/notesMaster1.xml" Id="Re3064b88f15b49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f8bef7b2fd4502" /><Relationship Type="http://schemas.openxmlformats.org/officeDocument/2006/relationships/notesMaster" Target="/ppt/notesMasters/notesMaster1.xml" Id="R933cf9d6f20c45d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26f72c2814345e8" /><Relationship Type="http://schemas.openxmlformats.org/officeDocument/2006/relationships/notesMaster" Target="/ppt/notesMasters/notesMaster1.xml" Id="R84a5ed56b4a74b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1508ccfbe234907" /><Relationship Type="http://schemas.openxmlformats.org/officeDocument/2006/relationships/notesMaster" Target="/ppt/notesMasters/notesMaster1.xml" Id="Raca2e1d9783d4e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c587aaed9f040cd" /><Relationship Type="http://schemas.openxmlformats.org/officeDocument/2006/relationships/notesMaster" Target="/ppt/notesMasters/notesMaster1.xml" Id="Raf7c5c8b4fbc4e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b3521e497344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c25f7c748245c2" /><Relationship Type="http://schemas.openxmlformats.org/officeDocument/2006/relationships/slideLayout" Target="/ppt/slideLayouts/slideLayout1.xml" Id="R8725f98b5cc64d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25f98b5cc64d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Bright Aqua">
      <a:dk1>
        <a:srgbClr val="000000"/>
      </a:dk1>
      <a:lt1>
        <a:srgbClr val="FFFFFF"/>
      </a:lt1>
      <a:dk2>
        <a:srgbClr val="213E50"/>
      </a:dk2>
      <a:lt2>
        <a:srgbClr val="E7ECEF"/>
      </a:lt2>
      <a:accent1>
        <a:srgbClr val="19C8BD"/>
      </a:accent1>
      <a:accent2>
        <a:srgbClr val="00AEB8"/>
      </a:accent2>
      <a:accent3>
        <a:srgbClr val="F4FBFA"/>
      </a:accent3>
      <a:accent4>
        <a:srgbClr val="E7ECEF"/>
      </a:accent4>
      <a:accent5>
        <a:srgbClr val="53616B"/>
      </a:accent5>
      <a:accent6>
        <a:srgbClr val="213E50"/>
      </a:accent6>
      <a:hlink>
        <a:srgbClr val="00AEB8"/>
      </a:hlink>
      <a:folHlink>
        <a:srgbClr val="19C8B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151a0aadc34e12" /><Relationship Type="http://schemas.openxmlformats.org/officeDocument/2006/relationships/notesSlide" Target="/ppt/notesSlides/notesSlide1.xml" Id="R3afa58a0ffab41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cf615171494988" /><Relationship Type="http://schemas.openxmlformats.org/officeDocument/2006/relationships/notesSlide" Target="/ppt/notesSlides/notesSlide2.xml" Id="Ra0e9a8f4817549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ab6e25146462e" /><Relationship Type="http://schemas.openxmlformats.org/officeDocument/2006/relationships/notesSlide" Target="/ppt/notesSlides/notesSlide3.xml" Id="R00f4e839b1ad46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1b8f273ec542f8" /><Relationship Type="http://schemas.openxmlformats.org/officeDocument/2006/relationships/notesSlide" Target="/ppt/notesSlides/notesSlide4.xml" Id="R6e740eb65a7045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d4a13528e64ba5" /><Relationship Type="http://schemas.openxmlformats.org/officeDocument/2006/relationships/image" Target="/ppt/media/image.png" Id="R139ae2b9c7584bd1" /><Relationship Type="http://schemas.openxmlformats.org/officeDocument/2006/relationships/notesSlide" Target="/ppt/notesSlides/notesSlide5.xml" Id="R292f4dc1b2d043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61824fd21a418f" /><Relationship Type="http://schemas.openxmlformats.org/officeDocument/2006/relationships/image" Target="/ppt/media/image2.png" Id="R5303176b1aeb4d15" /><Relationship Type="http://schemas.openxmlformats.org/officeDocument/2006/relationships/notesSlide" Target="/ppt/notesSlides/notesSlide6.xml" Id="R017acf23ad9647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8afc7c92bf45ac" /><Relationship Type="http://schemas.openxmlformats.org/officeDocument/2006/relationships/notesSlide" Target="/ppt/notesSlides/notesSlide7.xml" Id="R3b3fbee7bca942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22f907e73e43b8" /><Relationship Type="http://schemas.openxmlformats.org/officeDocument/2006/relationships/notesSlide" Target="/ppt/notesSlides/notesSlide8.xml" Id="R68df6d20bb1546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b6b67d588f4479" /><Relationship Type="http://schemas.openxmlformats.org/officeDocument/2006/relationships/image" Target="/ppt/media/image3.png" Id="Rda2347a207964550" /><Relationship Type="http://schemas.openxmlformats.org/officeDocument/2006/relationships/notesSlide" Target="/ppt/notesSlides/notesSlide9.xml" Id="R59eda7684372426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d3e0db16744fa4" /><Relationship Type="http://schemas.openxmlformats.org/officeDocument/2006/relationships/notesSlide" Target="/ppt/notesSlides/notesSlide10.xml" Id="Rd7b9fef3432e4d2e" /></Relationships>
</file>

<file path=ppt/slides/slide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a16:creationId id="{1039B0A8-8012-4DD5-AF3C-398E16B31E1E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00AEB8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00AEB8"/>
                </a:solidFill>
                <a:latin typeface="Calibri"/>
                <a:ea typeface="Calibri"/>
                <a:cs typeface="Calibri"/>
              </a:rPr>
              <a:t>PULSEOPS / PROGRAMMANAGER</a:t>
            </a:r>
          </a:p>
        </p:txBody>
      </p:sp>
      <p:sp>
        <p:nvSpPr>
          <p:cNvPr id="2" name="">
            <a:extLst>
              <a:ext uri="{FF2B5EF4-FFF2-40B4-BE49-F238E27FC236}">
                <a16:creationId id="{6062C3A5-D894-4B49-AF7E-53E8D17F972B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857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4350" b="1">
                <a:solidFill>
                  <a:srgbClr val="213E50"/>
                </a:solidFill>
                <a:latin typeface="Calibri"/>
                <a:ea typeface="Calibri"/>
                <a:cs typeface="Calibri"/>
              </a:defRPr>
            </a:pPr>
            <a:r>
              <a:rPr sz="4350" b="1">
                <a:solidFill>
                  <a:srgbClr val="213E50"/>
                </a:solidFill>
                <a:latin typeface="Calibri"/>
                <a:ea typeface="Calibri"/>
                <a:cs typeface="Calibri"/>
              </a:rPr>
              <a:t>ProgramManager - Demo</a:t>
            </a:r>
          </a:p>
        </p:txBody>
      </p:sp>
      <p:sp>
        <p:nvSpPr>
          <p:cNvPr id="3" name="">
            <a:extLst>
              <a:ext uri="{FF2B5EF4-FFF2-40B4-BE49-F238E27FC236}">
                <a16:creationId id="{1A0365E5-4501-4428-9A57-12D13EE9E750}"/>
              </a:ext>
            </a:extLst>
          </p:cNvPr>
          <p:cNvSpPr>
            <a:spLocks noGrp="1"/>
          </p:cNvSpPr>
          <p:nvPr/>
        </p:nvSpPr>
        <p:spPr>
          <a:xfrm>
            <a:off x="704850" y="2400300"/>
            <a:ext cx="7810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950" b="0">
                <a:solidFill>
                  <a:srgbClr val="53616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3616B"/>
                </a:solidFill>
                <a:latin typeface="Calibri"/>
                <a:ea typeface="Calibri"/>
                <a:cs typeface="Calibri"/>
              </a:rPr>
              <a:t>Status collection now runs as a provider-neutral, graph-backed delivery loop.</a:t>
            </a:r>
          </a:p>
        </p:txBody>
      </p:sp>
      <p:sp>
        <p:nvSpPr>
          <p:cNvPr id="4" name="">
            <a:extLst>
              <a:ext uri="{FF2B5EF4-FFF2-40B4-BE49-F238E27FC236}">
                <a16:creationId id="{B7AF209B-F302-41D7-A834-4DF2F3160F33}"/>
              </a:ext>
            </a:extLst>
          </p:cNvPr>
          <p:cNvSpPr>
            <a:spLocks noGrp="1"/>
          </p:cNvSpPr>
          <p:nvPr/>
        </p:nvSpPr>
        <p:spPr>
          <a:xfrm>
            <a:off x="704850" y="327660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800" b="0">
                <a:solidFill>
                  <a:srgbClr val="7A8790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7A8790"/>
                </a:solidFill>
                <a:latin typeface="Calibri"/>
                <a:ea typeface="Calibri"/>
                <a:cs typeface="Calibri"/>
              </a:rPr>
              <a:t>July 1, 2026</a:t>
            </a:r>
          </a:p>
        </p:txBody>
      </p:sp>
      <p:sp>
        <p:nvSpPr>
          <p:cNvPr id="5" name="">
            <a:extLst>
              <a:ext uri="{FF2B5EF4-FFF2-40B4-BE49-F238E27FC236}">
                <a16:creationId id="{24604FB0-C898-4E3F-970B-BE700C66883B}"/>
              </a:ext>
            </a:extLst>
          </p:cNvPr>
          <p:cNvSpPr>
            <a:spLocks noGrp="1"/>
          </p:cNvSpPr>
          <p:nvPr/>
        </p:nvSpPr>
        <p:spPr>
          <a:xfrm>
            <a:off x="685800" y="4019550"/>
            <a:ext cx="10820400" cy="0"/>
          </a:xfrm>
          <a:prstGeom prst="line">
            <a:avLst/>
          </a:prstGeom>
          <a:noFill/>
          <a:ln w="19050">
            <a:solidFill>
              <a:srgbClr val="19C8BD"/>
            </a:solidFill>
            <a:prstDash val="solid"/>
          </a:ln>
        </p:spPr>
      </p:sp>
      <p:sp>
        <p:nvSpPr>
          <p:cNvPr id="6" name="">
            <a:extLst>
              <a:ext uri="{FF2B5EF4-FFF2-40B4-BE49-F238E27FC236}">
                <a16:creationId id="{86AF30BD-042B-4629-B1FB-38A0183359AA}"/>
              </a:ext>
            </a:extLst>
          </p:cNvPr>
          <p:cNvSpPr>
            <a:spLocks noGrp="1"/>
          </p:cNvSpPr>
          <p:nvPr/>
        </p:nvSpPr>
        <p:spPr>
          <a:xfrm>
            <a:off x="685800" y="4476750"/>
            <a:ext cx="2857500" cy="1066800"/>
          </a:xfrm>
          <a:prstGeom prst="roundRect">
            <a:avLst>
              <a:gd name="adj" fmla="val 7143"/>
            </a:avLst>
          </a:prstGeom>
          <a:solidFill>
            <a:srgbClr val="F4FBFA"/>
          </a:solidFill>
          <a:ln w="9525">
            <a:solidFill>
              <a:srgbClr val="E7ECEF"/>
            </a:solidFill>
            <a:prstDash val="solid"/>
          </a:ln>
        </p:spPr>
      </p:sp>
      <p:sp>
        <p:nvSpPr>
          <p:cNvPr id="7" name="">
            <a:extLst>
              <a:ext uri="{FF2B5EF4-FFF2-40B4-BE49-F238E27FC236}">
                <a16:creationId id="{38FAA5CE-5F3A-4B27-82C9-D890647C14FA}"/>
              </a:ext>
            </a:extLst>
          </p:cNvPr>
          <p:cNvSpPr>
            <a:spLocks noGrp="1"/>
          </p:cNvSpPr>
          <p:nvPr/>
        </p:nvSpPr>
        <p:spPr>
          <a:xfrm>
            <a:off x="895350" y="4648200"/>
            <a:ext cx="2438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2550" b="1">
                <a:solidFill>
                  <a:srgbClr val="00AEB8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0AEB8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8" name="">
            <a:extLst>
              <a:ext uri="{FF2B5EF4-FFF2-40B4-BE49-F238E27FC236}">
                <a16:creationId id="{7B24D45B-723C-49B2-8848-1D3F24307A28}"/>
              </a:ext>
            </a:extLst>
          </p:cNvPr>
          <p:cNvSpPr>
            <a:spLocks noGrp="1"/>
          </p:cNvSpPr>
          <p:nvPr/>
        </p:nvSpPr>
        <p:spPr>
          <a:xfrm>
            <a:off x="895350" y="5067300"/>
            <a:ext cx="2438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53616B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3616B"/>
                </a:solidFill>
                <a:latin typeface="Calibri"/>
                <a:ea typeface="Calibri"/>
                <a:cs typeface="Calibri"/>
              </a:rPr>
              <a:t>feature commits since Jun 1</a:t>
            </a:r>
          </a:p>
        </p:txBody>
      </p:sp>
      <p:sp>
        <p:nvSpPr>
          <p:cNvPr id="9" name="">
            <a:extLst>
              <a:ext uri="{FF2B5EF4-FFF2-40B4-BE49-F238E27FC236}">
                <a16:creationId id="{14918EA4-9157-4463-8862-B05DD5D13DEB}"/>
              </a:ext>
            </a:extLst>
          </p:cNvPr>
          <p:cNvSpPr>
            <a:spLocks noGrp="1"/>
          </p:cNvSpPr>
          <p:nvPr/>
        </p:nvSpPr>
        <p:spPr>
          <a:xfrm>
            <a:off x="3905250" y="4476750"/>
            <a:ext cx="2857500" cy="1066800"/>
          </a:xfrm>
          <a:prstGeom prst="roundRect">
            <a:avLst>
              <a:gd name="adj" fmla="val 7143"/>
            </a:avLst>
          </a:prstGeom>
          <a:solidFill>
            <a:srgbClr val="F4FBFA"/>
          </a:solidFill>
          <a:ln w="9525">
            <a:solidFill>
              <a:srgbClr val="E7ECEF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a16:creationId id="{C8D96A54-3B9B-46EF-BA7C-94FA87D7F7DC}"/>
              </a:ext>
            </a:extLst>
          </p:cNvPr>
          <p:cNvSpPr>
            <a:spLocks noGrp="1"/>
          </p:cNvSpPr>
          <p:nvPr/>
        </p:nvSpPr>
        <p:spPr>
          <a:xfrm>
            <a:off x="4114800" y="4648200"/>
            <a:ext cx="2438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2550" b="1">
                <a:solidFill>
                  <a:srgbClr val="00AEB8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0AEB8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sp>
        <p:nvSpPr>
          <p:cNvPr id="11" name="">
            <a:extLst>
              <a:ext uri="{FF2B5EF4-FFF2-40B4-BE49-F238E27FC236}">
                <a16:creationId id="{56A0FF06-2596-4572-BE71-6DB26277D2CB}"/>
              </a:ext>
            </a:extLst>
          </p:cNvPr>
          <p:cNvSpPr>
            <a:spLocks noGrp="1"/>
          </p:cNvSpPr>
          <p:nvPr/>
        </p:nvSpPr>
        <p:spPr>
          <a:xfrm>
            <a:off x="4114800" y="5067300"/>
            <a:ext cx="2438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53616B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3616B"/>
                </a:solidFill>
                <a:latin typeface="Calibri"/>
                <a:ea typeface="Calibri"/>
                <a:cs typeface="Calibri"/>
              </a:rPr>
              <a:t>fixes and hardening commits</a:t>
            </a:r>
          </a:p>
        </p:txBody>
      </p:sp>
      <p:sp>
        <p:nvSpPr>
          <p:cNvPr id="12" name="">
            <a:extLst>
              <a:ext uri="{FF2B5EF4-FFF2-40B4-BE49-F238E27FC236}">
                <a16:creationId id="{1052DF98-B72D-40D0-AE9B-128AC5F21577}"/>
              </a:ext>
            </a:extLst>
          </p:cNvPr>
          <p:cNvSpPr>
            <a:spLocks noGrp="1"/>
          </p:cNvSpPr>
          <p:nvPr/>
        </p:nvSpPr>
        <p:spPr>
          <a:xfrm>
            <a:off x="7124700" y="4476750"/>
            <a:ext cx="2857500" cy="1066800"/>
          </a:xfrm>
          <a:prstGeom prst="roundRect">
            <a:avLst>
              <a:gd name="adj" fmla="val 7143"/>
            </a:avLst>
          </a:prstGeom>
          <a:solidFill>
            <a:srgbClr val="F4FBFA"/>
          </a:solidFill>
          <a:ln w="9525">
            <a:solidFill>
              <a:srgbClr val="E7ECEF"/>
            </a:solidFill>
            <a:prstDash val="solid"/>
          </a:ln>
        </p:spPr>
      </p:sp>
      <p:sp>
        <p:nvSpPr>
          <p:cNvPr id="13" name="">
            <a:extLst>
              <a:ext uri="{FF2B5EF4-FFF2-40B4-BE49-F238E27FC236}">
                <a16:creationId id="{6E1F98DB-E703-4B75-A5A2-3C7AB41853D0}"/>
              </a:ext>
            </a:extLst>
          </p:cNvPr>
          <p:cNvSpPr>
            <a:spLocks noGrp="1"/>
          </p:cNvSpPr>
          <p:nvPr/>
        </p:nvSpPr>
        <p:spPr>
          <a:xfrm>
            <a:off x="7334250" y="4648200"/>
            <a:ext cx="2438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2550" b="1">
                <a:solidFill>
                  <a:srgbClr val="00AEB8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0AEB8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14" name="">
            <a:extLst>
              <a:ext uri="{FF2B5EF4-FFF2-40B4-BE49-F238E27FC236}">
                <a16:creationId id="{6AADDED3-D691-450E-BE93-713A2E5DA899}"/>
              </a:ext>
            </a:extLst>
          </p:cNvPr>
          <p:cNvSpPr>
            <a:spLocks noGrp="1"/>
          </p:cNvSpPr>
          <p:nvPr/>
        </p:nvSpPr>
        <p:spPr>
          <a:xfrm>
            <a:off x="7334250" y="5067300"/>
            <a:ext cx="2438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53616B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3616B"/>
                </a:solidFill>
                <a:latin typeface="Calibri"/>
                <a:ea typeface="Calibri"/>
                <a:cs typeface="Calibri"/>
              </a:rPr>
              <a:t>infra, docs, and test changes</a:t>
            </a:r>
          </a:p>
        </p:txBody>
      </p:sp>
      <p:sp>
        <p:nvSpPr>
          <p:cNvPr id="15" name="">
            <a:extLst>
              <a:ext uri="{FF2B5EF4-FFF2-40B4-BE49-F238E27FC236}">
                <a16:creationId id="{9BF8FB7F-7E41-402A-A06B-691F0707F86A}"/>
              </a:ext>
            </a:extLst>
          </p:cNvPr>
          <p:cNvSpPr>
            <a:spLocks noGrp="1"/>
          </p:cNvSpPr>
          <p:nvPr/>
        </p:nvSpPr>
        <p:spPr>
          <a:xfrm>
            <a:off x="685800" y="609600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7A879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7A8790"/>
                </a:solidFill>
                <a:latin typeface="Calibri"/>
                <a:ea typeface="Calibri"/>
                <a:cs typeface="Calibri"/>
              </a:rPr>
              <a:t>Source: git history, repo docs, and local QA screenshots.</a:t>
            </a:r>
          </a:p>
        </p:txBody>
      </p:sp>
    </p:spTree>
    <p:extLst>
      <p:ext uri="{BB962C8B-B14F-4D97-AF65-F5344CB8AC3E}">
        <p14:creationId val="688346610"/>
      </p:ext>
    </p:extLst>
  </p:cSld>
</p:sld>
</file>

<file path=ppt/slides/slide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" name="slide-title">
            <a:extLst>
              <a:ext uri="{FF2B5EF4-FFF2-40B4-BE49-F238E27FC236}">
                <a16:creationId id="{817F4C86-6C86-4185-A983-2A57081E6C27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933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2850" b="1">
                <a:solidFill>
                  <a:srgbClr val="213E50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213E50"/>
                </a:solidFill>
                <a:latin typeface="Calibri"/>
                <a:ea typeface="Calibri"/>
                <a:cs typeface="Calibri"/>
              </a:rPr>
              <a:t>The project now proves the core status loop</a:t>
            </a:r>
          </a:p>
        </p:txBody>
      </p:sp>
      <p:sp>
        <p:nvSpPr>
          <p:cNvPr id="2" name="">
            <a:extLst>
              <a:ext uri="{FF2B5EF4-FFF2-40B4-BE49-F238E27FC236}">
                <a16:creationId id="{AE8575CA-72F1-44DE-B1B3-11CD5A77C3F0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0"/>
          </a:xfrm>
          <a:prstGeom prst="line">
            <a:avLst/>
          </a:prstGeom>
          <a:noFill/>
          <a:ln w="19050">
            <a:solidFill>
              <a:srgbClr val="19C8BD"/>
            </a:solidFill>
            <a:prstDash val="solid"/>
          </a:ln>
        </p:spPr>
      </p:sp>
      <p:sp>
        <p:nvSpPr>
          <p:cNvPr id="3" name="footer">
            <a:extLst>
              <a:ext uri="{FF2B5EF4-FFF2-40B4-BE49-F238E27FC236}">
                <a16:creationId id="{DDEDE71D-C8F7-4958-9A85-30911183D2AD}"/>
              </a:ext>
            </a:extLst>
          </p:cNvPr>
          <p:cNvSpPr>
            <a:spLocks noGrp="1"/>
          </p:cNvSpPr>
          <p:nvPr/>
        </p:nvSpPr>
        <p:spPr>
          <a:xfrm>
            <a:off x="609600" y="63246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7A8790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7A8790"/>
                </a:solidFill>
                <a:latin typeface="Calibri"/>
                <a:ea typeface="Calibri"/>
                <a:cs typeface="Calibri"/>
              </a:rPr>
              <a:t>ProgramManager demo | 2026-07-01</a:t>
            </a:r>
          </a:p>
        </p:txBody>
      </p:sp>
      <p:sp>
        <p:nvSpPr>
          <p:cNvPr id="4" name="">
            <a:extLst>
              <a:ext uri="{FF2B5EF4-FFF2-40B4-BE49-F238E27FC236}">
                <a16:creationId id="{A2D85E40-7BCA-4841-84C8-6E26D793D237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7762875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875" b="0">
                <a:solidFill>
                  <a:srgbClr val="213E5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13E50"/>
                </a:solidFill>
                <a:latin typeface="Calibri"/>
                <a:ea typeface="Calibri"/>
                <a:cs typeface="Calibri"/>
              </a:rPr>
              <a:t>The demo is no longer just an architecture story. It shows an end-to-end loop that asks for status, records evidence, keeps ambiguity visible, and rolls the result up for each persona.</a:t>
            </a:r>
          </a:p>
        </p:txBody>
      </p:sp>
      <p:sp>
        <p:nvSpPr>
          <p:cNvPr id="5" name="">
            <a:extLst>
              <a:ext uri="{FF2B5EF4-FFF2-40B4-BE49-F238E27FC236}">
                <a16:creationId id="{49E4A47A-99CD-4491-B003-183226A803E7}"/>
              </a:ext>
            </a:extLst>
          </p:cNvPr>
          <p:cNvSpPr>
            <a:spLocks noGrp="1"/>
          </p:cNvSpPr>
          <p:nvPr/>
        </p:nvSpPr>
        <p:spPr>
          <a:xfrm>
            <a:off x="781050" y="2590800"/>
            <a:ext cx="19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19C8B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9C8BD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6" name="">
            <a:extLst>
              <a:ext uri="{FF2B5EF4-FFF2-40B4-BE49-F238E27FC236}">
                <a16:creationId id="{DAF07402-2B4F-44B1-BFDF-949B6C0F7C6A}"/>
              </a:ext>
            </a:extLst>
          </p:cNvPr>
          <p:cNvSpPr>
            <a:spLocks noGrp="1"/>
          </p:cNvSpPr>
          <p:nvPr/>
        </p:nvSpPr>
        <p:spPr>
          <a:xfrm>
            <a:off x="1047750" y="2571750"/>
            <a:ext cx="7543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650" b="0">
                <a:solidFill>
                  <a:srgbClr val="53616B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3616B"/>
                </a:solidFill>
                <a:latin typeface="Calibri"/>
                <a:ea typeface="Calibri"/>
                <a:cs typeface="Calibri"/>
              </a:rPr>
              <a:t>Developers can be prompted through chat instead of meeting-driven status chasing.</a:t>
            </a:r>
          </a:p>
        </p:txBody>
      </p:sp>
      <p:sp>
        <p:nvSpPr>
          <p:cNvPr id="7" name="">
            <a:extLst>
              <a:ext uri="{FF2B5EF4-FFF2-40B4-BE49-F238E27FC236}">
                <a16:creationId id="{8F62FDCF-1236-4AF8-8777-D29E2CACF92D}"/>
              </a:ext>
            </a:extLst>
          </p:cNvPr>
          <p:cNvSpPr>
            <a:spLocks noGrp="1"/>
          </p:cNvSpPr>
          <p:nvPr/>
        </p:nvSpPr>
        <p:spPr>
          <a:xfrm>
            <a:off x="781050" y="3143250"/>
            <a:ext cx="19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19C8B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9C8BD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8" name="">
            <a:extLst>
              <a:ext uri="{FF2B5EF4-FFF2-40B4-BE49-F238E27FC236}">
                <a16:creationId id="{9B2AC065-182E-49FB-AB68-481EA2E4B243}"/>
              </a:ext>
            </a:extLst>
          </p:cNvPr>
          <p:cNvSpPr>
            <a:spLocks noGrp="1"/>
          </p:cNvSpPr>
          <p:nvPr/>
        </p:nvSpPr>
        <p:spPr>
          <a:xfrm>
            <a:off x="1047750" y="3124200"/>
            <a:ext cx="7543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650" b="0">
                <a:solidFill>
                  <a:srgbClr val="53616B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3616B"/>
                </a:solidFill>
                <a:latin typeface="Calibri"/>
                <a:ea typeface="Calibri"/>
                <a:cs typeface="Calibri"/>
              </a:rPr>
              <a:t>Replies become structured delivery signals with source quality and confidence.</a:t>
            </a:r>
          </a:p>
        </p:txBody>
      </p:sp>
      <p:sp>
        <p:nvSpPr>
          <p:cNvPr id="9" name="">
            <a:extLst>
              <a:ext uri="{FF2B5EF4-FFF2-40B4-BE49-F238E27FC236}">
                <a16:creationId id="{B2B38A57-EEEC-4F93-874C-3C903B28E1C9}"/>
              </a:ext>
            </a:extLst>
          </p:cNvPr>
          <p:cNvSpPr>
            <a:spLocks noGrp="1"/>
          </p:cNvSpPr>
          <p:nvPr/>
        </p:nvSpPr>
        <p:spPr>
          <a:xfrm>
            <a:off x="781050" y="3695700"/>
            <a:ext cx="19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19C8B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9C8BD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10" name="">
            <a:extLst>
              <a:ext uri="{FF2B5EF4-FFF2-40B4-BE49-F238E27FC236}">
                <a16:creationId id="{57A358BD-86AA-4239-A88E-0A0AD0E1DE55}"/>
              </a:ext>
            </a:extLst>
          </p:cNvPr>
          <p:cNvSpPr>
            <a:spLocks noGrp="1"/>
          </p:cNvSpPr>
          <p:nvPr/>
        </p:nvSpPr>
        <p:spPr>
          <a:xfrm>
            <a:off x="1047750" y="3676650"/>
            <a:ext cx="7543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650" b="0">
                <a:solidFill>
                  <a:srgbClr val="53616B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3616B"/>
                </a:solidFill>
                <a:latin typeface="Calibri"/>
                <a:ea typeface="Calibri"/>
                <a:cs typeface="Calibri"/>
              </a:rPr>
              <a:t>Silence, stale data, and ambiguous replies stay out of green rollups.</a:t>
            </a:r>
          </a:p>
        </p:txBody>
      </p:sp>
      <p:sp>
        <p:nvSpPr>
          <p:cNvPr id="11" name="">
            <a:extLst>
              <a:ext uri="{FF2B5EF4-FFF2-40B4-BE49-F238E27FC236}">
                <a16:creationId id="{2A97969B-4EE0-42EF-AA94-3AF6EB49FE04}"/>
              </a:ext>
            </a:extLst>
          </p:cNvPr>
          <p:cNvSpPr>
            <a:spLocks noGrp="1"/>
          </p:cNvSpPr>
          <p:nvPr/>
        </p:nvSpPr>
        <p:spPr>
          <a:xfrm>
            <a:off x="781050" y="4248150"/>
            <a:ext cx="19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19C8B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9C8BD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12" name="">
            <a:extLst>
              <a:ext uri="{FF2B5EF4-FFF2-40B4-BE49-F238E27FC236}">
                <a16:creationId id="{2EB98D86-C44C-429E-85AB-4073DF0661CE}"/>
              </a:ext>
            </a:extLst>
          </p:cNvPr>
          <p:cNvSpPr>
            <a:spLocks noGrp="1"/>
          </p:cNvSpPr>
          <p:nvPr/>
        </p:nvSpPr>
        <p:spPr>
          <a:xfrm>
            <a:off x="1047750" y="4229100"/>
            <a:ext cx="7543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650" b="0">
                <a:solidFill>
                  <a:srgbClr val="53616B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3616B"/>
                </a:solidFill>
                <a:latin typeface="Calibri"/>
                <a:ea typeface="Calibri"/>
                <a:cs typeface="Calibri"/>
              </a:rPr>
              <a:t>Leaders can consume portfolio health without seeing raw direct-message content.</a:t>
            </a:r>
          </a:p>
        </p:txBody>
      </p:sp>
      <p:sp>
        <p:nvSpPr>
          <p:cNvPr id="13" name="">
            <a:extLst>
              <a:ext uri="{FF2B5EF4-FFF2-40B4-BE49-F238E27FC236}">
                <a16:creationId id="{154ABE2F-0B21-46BE-9C13-CC60FDDEFA58}"/>
              </a:ext>
            </a:extLst>
          </p:cNvPr>
          <p:cNvSpPr>
            <a:spLocks noGrp="1"/>
          </p:cNvSpPr>
          <p:nvPr/>
        </p:nvSpPr>
        <p:spPr>
          <a:xfrm>
            <a:off x="8858250" y="1657350"/>
            <a:ext cx="2381250" cy="1009650"/>
          </a:xfrm>
          <a:prstGeom prst="roundRect">
            <a:avLst>
              <a:gd name="adj" fmla="val 7547"/>
            </a:avLst>
          </a:prstGeom>
          <a:solidFill>
            <a:srgbClr val="F4FBFA"/>
          </a:solidFill>
          <a:ln w="9525">
            <a:solidFill>
              <a:srgbClr val="E7ECEF"/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a16:creationId id="{C304E797-D25C-4A0B-9F21-2AD07D914B98}"/>
              </a:ext>
            </a:extLst>
          </p:cNvPr>
          <p:cNvSpPr>
            <a:spLocks noGrp="1"/>
          </p:cNvSpPr>
          <p:nvPr/>
        </p:nvSpPr>
        <p:spPr>
          <a:xfrm>
            <a:off x="9067800" y="1828800"/>
            <a:ext cx="1962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2550" b="1">
                <a:solidFill>
                  <a:srgbClr val="00AEB8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0AEB8"/>
                </a:solidFill>
                <a:latin typeface="Calibri"/>
                <a:ea typeface="Calibri"/>
                <a:cs typeface="Calibri"/>
              </a:rPr>
              <a:t>41</a:t>
            </a:r>
          </a:p>
        </p:txBody>
      </p:sp>
      <p:sp>
        <p:nvSpPr>
          <p:cNvPr id="15" name="">
            <a:extLst>
              <a:ext uri="{FF2B5EF4-FFF2-40B4-BE49-F238E27FC236}">
                <a16:creationId id="{C03BFE7B-9AE4-46D4-8720-8427FDDDD934}"/>
              </a:ext>
            </a:extLst>
          </p:cNvPr>
          <p:cNvSpPr>
            <a:spLocks noGrp="1"/>
          </p:cNvSpPr>
          <p:nvPr/>
        </p:nvSpPr>
        <p:spPr>
          <a:xfrm>
            <a:off x="9067800" y="2247900"/>
            <a:ext cx="1962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53616B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3616B"/>
                </a:solidFill>
                <a:latin typeface="Calibri"/>
                <a:ea typeface="Calibri"/>
                <a:cs typeface="Calibri"/>
              </a:rPr>
              <a:t>non-merge commits in the window</a:t>
            </a:r>
          </a:p>
        </p:txBody>
      </p:sp>
      <p:sp>
        <p:nvSpPr>
          <p:cNvPr id="16" name="">
            <a:extLst>
              <a:ext uri="{FF2B5EF4-FFF2-40B4-BE49-F238E27FC236}">
                <a16:creationId id="{6327ADF9-D732-40EF-A084-23B1FD2447A5}"/>
              </a:ext>
            </a:extLst>
          </p:cNvPr>
          <p:cNvSpPr>
            <a:spLocks noGrp="1"/>
          </p:cNvSpPr>
          <p:nvPr/>
        </p:nvSpPr>
        <p:spPr>
          <a:xfrm>
            <a:off x="8858250" y="2952750"/>
            <a:ext cx="2381250" cy="1009650"/>
          </a:xfrm>
          <a:prstGeom prst="roundRect">
            <a:avLst>
              <a:gd name="adj" fmla="val 7547"/>
            </a:avLst>
          </a:prstGeom>
          <a:solidFill>
            <a:srgbClr val="F4FBFA"/>
          </a:solidFill>
          <a:ln w="9525">
            <a:solidFill>
              <a:srgbClr val="E7ECEF"/>
            </a:solidFill>
            <a:prstDash val="solid"/>
          </a:ln>
        </p:spPr>
      </p:sp>
      <p:sp>
        <p:nvSpPr>
          <p:cNvPr id="17" name="">
            <a:extLst>
              <a:ext uri="{FF2B5EF4-FFF2-40B4-BE49-F238E27FC236}">
                <a16:creationId id="{A52498C0-7C44-45D1-993D-495CCB23B46A}"/>
              </a:ext>
            </a:extLst>
          </p:cNvPr>
          <p:cNvSpPr>
            <a:spLocks noGrp="1"/>
          </p:cNvSpPr>
          <p:nvPr/>
        </p:nvSpPr>
        <p:spPr>
          <a:xfrm>
            <a:off x="9067800" y="3124200"/>
            <a:ext cx="1962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2550" b="1">
                <a:solidFill>
                  <a:srgbClr val="00AEB8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0AEB8"/>
                </a:solidFill>
                <a:latin typeface="Calibri"/>
                <a:ea typeface="Calibri"/>
                <a:cs typeface="Calibri"/>
              </a:rPr>
              <a:t>Phase 1</a:t>
            </a:r>
          </a:p>
        </p:txBody>
      </p:sp>
      <p:sp>
        <p:nvSpPr>
          <p:cNvPr id="18" name="">
            <a:extLst>
              <a:ext uri="{FF2B5EF4-FFF2-40B4-BE49-F238E27FC236}">
                <a16:creationId id="{601C2BE5-592B-4703-93E8-732DC539D842}"/>
              </a:ext>
            </a:extLst>
          </p:cNvPr>
          <p:cNvSpPr>
            <a:spLocks noGrp="1"/>
          </p:cNvSpPr>
          <p:nvPr/>
        </p:nvSpPr>
        <p:spPr>
          <a:xfrm>
            <a:off x="9067800" y="3543300"/>
            <a:ext cx="1962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53616B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3616B"/>
                </a:solidFill>
                <a:latin typeface="Calibri"/>
                <a:ea typeface="Calibri"/>
                <a:cs typeface="Calibri"/>
              </a:rPr>
              <a:t>Sense loop is the current product center</a:t>
            </a:r>
          </a:p>
        </p:txBody>
      </p:sp>
      <p:sp>
        <p:nvSpPr>
          <p:cNvPr id="19" name="">
            <a:extLst>
              <a:ext uri="{FF2B5EF4-FFF2-40B4-BE49-F238E27FC236}">
                <a16:creationId id="{E92D4289-4AA8-463F-BE0D-B5819F4B47D3}"/>
              </a:ext>
            </a:extLst>
          </p:cNvPr>
          <p:cNvSpPr>
            <a:spLocks noGrp="1"/>
          </p:cNvSpPr>
          <p:nvPr/>
        </p:nvSpPr>
        <p:spPr>
          <a:xfrm>
            <a:off x="8858250" y="4248150"/>
            <a:ext cx="2381250" cy="1009650"/>
          </a:xfrm>
          <a:prstGeom prst="roundRect">
            <a:avLst>
              <a:gd name="adj" fmla="val 7547"/>
            </a:avLst>
          </a:prstGeom>
          <a:solidFill>
            <a:srgbClr val="F4FBFA"/>
          </a:solidFill>
          <a:ln w="9525">
            <a:solidFill>
              <a:srgbClr val="E7ECEF"/>
            </a:solidFill>
            <a:prstDash val="solid"/>
          </a:ln>
        </p:spPr>
      </p:sp>
      <p:sp>
        <p:nvSpPr>
          <p:cNvPr id="20" name="">
            <a:extLst>
              <a:ext uri="{FF2B5EF4-FFF2-40B4-BE49-F238E27FC236}">
                <a16:creationId id="{2EF6FF68-15C8-4512-BDA3-7507696E7C5B}"/>
              </a:ext>
            </a:extLst>
          </p:cNvPr>
          <p:cNvSpPr>
            <a:spLocks noGrp="1"/>
          </p:cNvSpPr>
          <p:nvPr/>
        </p:nvSpPr>
        <p:spPr>
          <a:xfrm>
            <a:off x="9067800" y="4419600"/>
            <a:ext cx="1962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2550" b="1">
                <a:solidFill>
                  <a:srgbClr val="00AEB8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0AEB8"/>
                </a:solidFill>
                <a:latin typeface="Calibri"/>
                <a:ea typeface="Calibri"/>
                <a:cs typeface="Calibri"/>
              </a:rPr>
              <a:t>Local</a:t>
            </a:r>
          </a:p>
        </p:txBody>
      </p:sp>
      <p:sp>
        <p:nvSpPr>
          <p:cNvPr id="21" name="">
            <a:extLst>
              <a:ext uri="{FF2B5EF4-FFF2-40B4-BE49-F238E27FC236}">
                <a16:creationId id="{2DEE6710-912F-45E7-B3CC-B41374004309}"/>
              </a:ext>
            </a:extLst>
          </p:cNvPr>
          <p:cNvSpPr>
            <a:spLocks noGrp="1"/>
          </p:cNvSpPr>
          <p:nvPr/>
        </p:nvSpPr>
        <p:spPr>
          <a:xfrm>
            <a:off x="9067800" y="4838700"/>
            <a:ext cx="1962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53616B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3616B"/>
                </a:solidFill>
                <a:latin typeface="Calibri"/>
                <a:ea typeface="Calibri"/>
                <a:cs typeface="Calibri"/>
              </a:rPr>
              <a:t>demo stack uses fake and mock providers</a:t>
            </a:r>
          </a:p>
        </p:txBody>
      </p:sp>
    </p:spTree>
    <p:extLst>
      <p:ext uri="{BB962C8B-B14F-4D97-AF65-F5344CB8AC3E}">
        <p14:creationId val="1754849634"/>
      </p:ext>
    </p:extLst>
  </p:cSld>
</p:sld>
</file>

<file path=ppt/slides/slide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" name="slide-title">
            <a:extLst>
              <a:ext uri="{FF2B5EF4-FFF2-40B4-BE49-F238E27FC236}">
                <a16:creationId id="{8B30576D-F559-4595-B7ED-B96ED98EA2B5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933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2850" b="1">
                <a:solidFill>
                  <a:srgbClr val="213E50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213E50"/>
                </a:solidFill>
                <a:latin typeface="Calibri"/>
                <a:ea typeface="Calibri"/>
                <a:cs typeface="Calibri"/>
              </a:rPr>
              <a:t>Delivery moved from foundation to runnable product</a:t>
            </a:r>
          </a:p>
        </p:txBody>
      </p:sp>
      <p:sp>
        <p:nvSpPr>
          <p:cNvPr id="2" name="">
            <a:extLst>
              <a:ext uri="{FF2B5EF4-FFF2-40B4-BE49-F238E27FC236}">
                <a16:creationId id="{ED28ECBD-5D1A-4874-8FA4-4B29F16CCFCC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0"/>
          </a:xfrm>
          <a:prstGeom prst="line">
            <a:avLst/>
          </a:prstGeom>
          <a:noFill/>
          <a:ln w="19050">
            <a:solidFill>
              <a:srgbClr val="19C8BD"/>
            </a:solidFill>
            <a:prstDash val="solid"/>
          </a:ln>
        </p:spPr>
      </p:sp>
      <p:sp>
        <p:nvSpPr>
          <p:cNvPr id="3" name="footer">
            <a:extLst>
              <a:ext uri="{FF2B5EF4-FFF2-40B4-BE49-F238E27FC236}">
                <a16:creationId id="{CE97EC60-39B3-4198-AB30-EB0ABF115133}"/>
              </a:ext>
            </a:extLst>
          </p:cNvPr>
          <p:cNvSpPr>
            <a:spLocks noGrp="1"/>
          </p:cNvSpPr>
          <p:nvPr/>
        </p:nvSpPr>
        <p:spPr>
          <a:xfrm>
            <a:off x="609600" y="63246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7A8790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7A8790"/>
                </a:solidFill>
                <a:latin typeface="Calibri"/>
                <a:ea typeface="Calibri"/>
                <a:cs typeface="Calibri"/>
              </a:rPr>
              <a:t>ProgramManager demo | 2026-07-01</a:t>
            </a:r>
          </a:p>
        </p:txBody>
      </p:sp>
      <p:sp>
        <p:nvSpPr>
          <p:cNvPr id="4" name="">
            <a:extLst>
              <a:ext uri="{FF2B5EF4-FFF2-40B4-BE49-F238E27FC236}">
                <a16:creationId id="{6F282EB8-D1B3-4E69-BBF8-D5CAD4400398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3257550" cy="3714750"/>
          </a:xfrm>
          <a:prstGeom prst="roundRect">
            <a:avLst>
              <a:gd name="adj" fmla="val 2339"/>
            </a:avLst>
          </a:prstGeom>
          <a:solidFill>
            <a:srgbClr val="F4FBFA"/>
          </a:solidFill>
          <a:ln w="9525">
            <a:solidFill>
              <a:srgbClr val="E7ECEF"/>
            </a:solidFill>
            <a:prstDash val="solid"/>
          </a:ln>
        </p:spPr>
      </p:sp>
      <p:sp>
        <p:nvSpPr>
          <p:cNvPr id="5" name="">
            <a:extLst>
              <a:ext uri="{FF2B5EF4-FFF2-40B4-BE49-F238E27FC236}">
                <a16:creationId id="{01CAB0FC-DB6F-4E33-B980-BAAF90B3FBCC}"/>
              </a:ext>
            </a:extLst>
          </p:cNvPr>
          <p:cNvSpPr>
            <a:spLocks noGrp="1"/>
          </p:cNvSpPr>
          <p:nvPr/>
        </p:nvSpPr>
        <p:spPr>
          <a:xfrm>
            <a:off x="895350" y="1752600"/>
            <a:ext cx="2838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725" b="1">
                <a:solidFill>
                  <a:srgbClr val="00AEB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0AEB8"/>
                </a:solidFill>
                <a:latin typeface="Calibri"/>
                <a:ea typeface="Calibri"/>
                <a:cs typeface="Calibri"/>
              </a:rPr>
              <a:t>Foundation</a:t>
            </a:r>
          </a:p>
        </p:txBody>
      </p:sp>
      <p:sp>
        <p:nvSpPr>
          <p:cNvPr id="6" name="">
            <a:extLst>
              <a:ext uri="{FF2B5EF4-FFF2-40B4-BE49-F238E27FC236}">
                <a16:creationId id="{A70CA19F-CE71-478E-A584-87BA06F0DBED}"/>
              </a:ext>
            </a:extLst>
          </p:cNvPr>
          <p:cNvSpPr>
            <a:spLocks noGrp="1"/>
          </p:cNvSpPr>
          <p:nvPr/>
        </p:nvSpPr>
        <p:spPr>
          <a:xfrm>
            <a:off x="895350" y="2247900"/>
            <a:ext cx="19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19C8B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C8BD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7" name="">
            <a:extLst>
              <a:ext uri="{FF2B5EF4-FFF2-40B4-BE49-F238E27FC236}">
                <a16:creationId id="{1A01E297-9867-4B0B-9597-39E446DE9455}"/>
              </a:ext>
            </a:extLst>
          </p:cNvPr>
          <p:cNvSpPr>
            <a:spLocks noGrp="1"/>
          </p:cNvSpPr>
          <p:nvPr/>
        </p:nvSpPr>
        <p:spPr>
          <a:xfrm>
            <a:off x="1162050" y="2228850"/>
            <a:ext cx="2571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361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16B"/>
                </a:solidFill>
                <a:latin typeface="Calibri"/>
                <a:ea typeface="Calibri"/>
                <a:cs typeface="Calibri"/>
              </a:rPr>
              <a:t>Hexagonal backend and React shell are in place.</a:t>
            </a:r>
          </a:p>
        </p:txBody>
      </p:sp>
      <p:sp>
        <p:nvSpPr>
          <p:cNvPr id="8" name="">
            <a:extLst>
              <a:ext uri="{FF2B5EF4-FFF2-40B4-BE49-F238E27FC236}">
                <a16:creationId id="{749152C9-21A5-4573-B7C7-EE49ED05FA51}"/>
              </a:ext>
            </a:extLst>
          </p:cNvPr>
          <p:cNvSpPr>
            <a:spLocks noGrp="1"/>
          </p:cNvSpPr>
          <p:nvPr/>
        </p:nvSpPr>
        <p:spPr>
          <a:xfrm>
            <a:off x="895350" y="2724150"/>
            <a:ext cx="19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19C8B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C8BD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9" name="">
            <a:extLst>
              <a:ext uri="{FF2B5EF4-FFF2-40B4-BE49-F238E27FC236}">
                <a16:creationId id="{384B2F38-3FFC-4D88-91FF-7ED03316DCBC}"/>
              </a:ext>
            </a:extLst>
          </p:cNvPr>
          <p:cNvSpPr>
            <a:spLocks noGrp="1"/>
          </p:cNvSpPr>
          <p:nvPr/>
        </p:nvSpPr>
        <p:spPr>
          <a:xfrm>
            <a:off x="1162050" y="2705100"/>
            <a:ext cx="2571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361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16B"/>
                </a:solidFill>
                <a:latin typeface="Calibri"/>
                <a:ea typeface="Calibri"/>
                <a:cs typeface="Calibri"/>
              </a:rPr>
              <a:t>Provider seams keep core logic vendor-neutral.</a:t>
            </a:r>
          </a:p>
        </p:txBody>
      </p:sp>
      <p:sp>
        <p:nvSpPr>
          <p:cNvPr id="10" name="">
            <a:extLst>
              <a:ext uri="{FF2B5EF4-FFF2-40B4-BE49-F238E27FC236}">
                <a16:creationId id="{A0B85E7C-828C-42FF-94F0-CA29C4BD800D}"/>
              </a:ext>
            </a:extLst>
          </p:cNvPr>
          <p:cNvSpPr>
            <a:spLocks noGrp="1"/>
          </p:cNvSpPr>
          <p:nvPr/>
        </p:nvSpPr>
        <p:spPr>
          <a:xfrm>
            <a:off x="895350" y="3200400"/>
            <a:ext cx="19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19C8B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C8BD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11" name="">
            <a:extLst>
              <a:ext uri="{FF2B5EF4-FFF2-40B4-BE49-F238E27FC236}">
                <a16:creationId id="{B27BAA19-C240-4684-8A87-33625223B708}"/>
              </a:ext>
            </a:extLst>
          </p:cNvPr>
          <p:cNvSpPr>
            <a:spLocks noGrp="1"/>
          </p:cNvSpPr>
          <p:nvPr/>
        </p:nvSpPr>
        <p:spPr>
          <a:xfrm>
            <a:off x="1162050" y="3181350"/>
            <a:ext cx="2571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361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16B"/>
                </a:solidFill>
                <a:latin typeface="Calibri"/>
                <a:ea typeface="Calibri"/>
                <a:cs typeface="Calibri"/>
              </a:rPr>
              <a:t>Container runtime and persistence paths are proven.</a:t>
            </a:r>
          </a:p>
        </p:txBody>
      </p:sp>
      <p:sp>
        <p:nvSpPr>
          <p:cNvPr id="12" name="">
            <a:extLst>
              <a:ext uri="{FF2B5EF4-FFF2-40B4-BE49-F238E27FC236}">
                <a16:creationId id="{73CB3E6C-5FA0-406C-A630-FD937F20D77C}"/>
              </a:ext>
            </a:extLst>
          </p:cNvPr>
          <p:cNvSpPr>
            <a:spLocks noGrp="1"/>
          </p:cNvSpPr>
          <p:nvPr/>
        </p:nvSpPr>
        <p:spPr>
          <a:xfrm>
            <a:off x="4467225" y="1562100"/>
            <a:ext cx="3257550" cy="3714750"/>
          </a:xfrm>
          <a:prstGeom prst="roundRect">
            <a:avLst>
              <a:gd name="adj" fmla="val 2339"/>
            </a:avLst>
          </a:prstGeom>
          <a:solidFill>
            <a:srgbClr val="F4FBFA"/>
          </a:solidFill>
          <a:ln w="9525">
            <a:solidFill>
              <a:srgbClr val="E7ECEF"/>
            </a:solidFill>
            <a:prstDash val="solid"/>
          </a:ln>
        </p:spPr>
      </p:sp>
      <p:sp>
        <p:nvSpPr>
          <p:cNvPr id="13" name="">
            <a:extLst>
              <a:ext uri="{FF2B5EF4-FFF2-40B4-BE49-F238E27FC236}">
                <a16:creationId id="{9BBAEAE3-3551-4EB2-A2C7-5A36D9B23275}"/>
              </a:ext>
            </a:extLst>
          </p:cNvPr>
          <p:cNvSpPr>
            <a:spLocks noGrp="1"/>
          </p:cNvSpPr>
          <p:nvPr/>
        </p:nvSpPr>
        <p:spPr>
          <a:xfrm>
            <a:off x="4676775" y="1752600"/>
            <a:ext cx="2838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725" b="1">
                <a:solidFill>
                  <a:srgbClr val="00AEB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0AEB8"/>
                </a:solidFill>
                <a:latin typeface="Calibri"/>
                <a:ea typeface="Calibri"/>
                <a:cs typeface="Calibri"/>
              </a:rPr>
              <a:t>Sense loop</a:t>
            </a:r>
          </a:p>
        </p:txBody>
      </p:sp>
      <p:sp>
        <p:nvSpPr>
          <p:cNvPr id="14" name="">
            <a:extLst>
              <a:ext uri="{FF2B5EF4-FFF2-40B4-BE49-F238E27FC236}">
                <a16:creationId id="{F26771DB-6673-4EDC-9676-05DC2BF24BC3}"/>
              </a:ext>
            </a:extLst>
          </p:cNvPr>
          <p:cNvSpPr>
            <a:spLocks noGrp="1"/>
          </p:cNvSpPr>
          <p:nvPr/>
        </p:nvSpPr>
        <p:spPr>
          <a:xfrm>
            <a:off x="4676775" y="2247900"/>
            <a:ext cx="19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19C8B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C8BD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15" name="">
            <a:extLst>
              <a:ext uri="{FF2B5EF4-FFF2-40B4-BE49-F238E27FC236}">
                <a16:creationId id="{18509324-3B08-4082-B953-F2ED9A826188}"/>
              </a:ext>
            </a:extLst>
          </p:cNvPr>
          <p:cNvSpPr>
            <a:spLocks noGrp="1"/>
          </p:cNvSpPr>
          <p:nvPr/>
        </p:nvSpPr>
        <p:spPr>
          <a:xfrm>
            <a:off x="4943475" y="2228850"/>
            <a:ext cx="2571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361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16B"/>
                </a:solidFill>
                <a:latin typeface="Calibri"/>
                <a:ea typeface="Calibri"/>
                <a:cs typeface="Calibri"/>
              </a:rPr>
              <a:t>Daily check-ins dispatch through the workflow layer.</a:t>
            </a:r>
          </a:p>
        </p:txBody>
      </p:sp>
      <p:sp>
        <p:nvSpPr>
          <p:cNvPr id="16" name="">
            <a:extLst>
              <a:ext uri="{FF2B5EF4-FFF2-40B4-BE49-F238E27FC236}">
                <a16:creationId id="{21354A2F-06BE-487B-A867-5C1426AC8803}"/>
              </a:ext>
            </a:extLst>
          </p:cNvPr>
          <p:cNvSpPr>
            <a:spLocks noGrp="1"/>
          </p:cNvSpPr>
          <p:nvPr/>
        </p:nvSpPr>
        <p:spPr>
          <a:xfrm>
            <a:off x="4676775" y="2724150"/>
            <a:ext cx="19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19C8B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C8BD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17" name="">
            <a:extLst>
              <a:ext uri="{FF2B5EF4-FFF2-40B4-BE49-F238E27FC236}">
                <a16:creationId id="{425C1173-86CA-4ECB-AB8F-528228A350E2}"/>
              </a:ext>
            </a:extLst>
          </p:cNvPr>
          <p:cNvSpPr>
            <a:spLocks noGrp="1"/>
          </p:cNvSpPr>
          <p:nvPr/>
        </p:nvSpPr>
        <p:spPr>
          <a:xfrm>
            <a:off x="4943475" y="2705100"/>
            <a:ext cx="2571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361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16B"/>
                </a:solidFill>
                <a:latin typeface="Calibri"/>
                <a:ea typeface="Calibri"/>
                <a:cs typeface="Calibri"/>
              </a:rPr>
              <a:t>Replies parse into progress, blocker, ETA, and mood signals.</a:t>
            </a:r>
          </a:p>
        </p:txBody>
      </p:sp>
      <p:sp>
        <p:nvSpPr>
          <p:cNvPr id="18" name="">
            <a:extLst>
              <a:ext uri="{FF2B5EF4-FFF2-40B4-BE49-F238E27FC236}">
                <a16:creationId id="{ED46BB4E-760D-41A8-842A-250B46962B4E}"/>
              </a:ext>
            </a:extLst>
          </p:cNvPr>
          <p:cNvSpPr>
            <a:spLocks noGrp="1"/>
          </p:cNvSpPr>
          <p:nvPr/>
        </p:nvSpPr>
        <p:spPr>
          <a:xfrm>
            <a:off x="4676775" y="3200400"/>
            <a:ext cx="19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19C8B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C8BD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19" name="">
            <a:extLst>
              <a:ext uri="{FF2B5EF4-FFF2-40B4-BE49-F238E27FC236}">
                <a16:creationId id="{611269B2-0F7C-4320-AD44-0B45F95B3CE8}"/>
              </a:ext>
            </a:extLst>
          </p:cNvPr>
          <p:cNvSpPr>
            <a:spLocks noGrp="1"/>
          </p:cNvSpPr>
          <p:nvPr/>
        </p:nvSpPr>
        <p:spPr>
          <a:xfrm>
            <a:off x="4943475" y="3181350"/>
            <a:ext cx="2571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361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16B"/>
                </a:solidFill>
                <a:latin typeface="Calibri"/>
                <a:ea typeface="Calibri"/>
                <a:cs typeface="Calibri"/>
              </a:rPr>
              <a:t>Rollups compute developer, pod, project, and program health.</a:t>
            </a:r>
          </a:p>
        </p:txBody>
      </p:sp>
      <p:sp>
        <p:nvSpPr>
          <p:cNvPr id="20" name="">
            <a:extLst>
              <a:ext uri="{FF2B5EF4-FFF2-40B4-BE49-F238E27FC236}">
                <a16:creationId id="{FCA2D06E-873C-4981-A9E9-89CCEAC9909E}"/>
              </a:ext>
            </a:extLst>
          </p:cNvPr>
          <p:cNvSpPr>
            <a:spLocks noGrp="1"/>
          </p:cNvSpPr>
          <p:nvPr/>
        </p:nvSpPr>
        <p:spPr>
          <a:xfrm>
            <a:off x="8248650" y="1562100"/>
            <a:ext cx="3257550" cy="3714750"/>
          </a:xfrm>
          <a:prstGeom prst="roundRect">
            <a:avLst>
              <a:gd name="adj" fmla="val 2339"/>
            </a:avLst>
          </a:prstGeom>
          <a:solidFill>
            <a:srgbClr val="F4FBFA"/>
          </a:solidFill>
          <a:ln w="9525">
            <a:solidFill>
              <a:srgbClr val="E7ECEF"/>
            </a:solidFill>
            <a:prstDash val="solid"/>
          </a:ln>
        </p:spPr>
      </p:sp>
      <p:sp>
        <p:nvSpPr>
          <p:cNvPr id="21" name="">
            <a:extLst>
              <a:ext uri="{FF2B5EF4-FFF2-40B4-BE49-F238E27FC236}">
                <a16:creationId id="{EE725436-49F7-45AF-994B-AB9C1B10024F}"/>
              </a:ext>
            </a:extLst>
          </p:cNvPr>
          <p:cNvSpPr>
            <a:spLocks noGrp="1"/>
          </p:cNvSpPr>
          <p:nvPr/>
        </p:nvSpPr>
        <p:spPr>
          <a:xfrm>
            <a:off x="8458200" y="1752600"/>
            <a:ext cx="2838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725" b="1">
                <a:solidFill>
                  <a:srgbClr val="00AEB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0AEB8"/>
                </a:solidFill>
                <a:latin typeface="Calibri"/>
                <a:ea typeface="Calibri"/>
                <a:cs typeface="Calibri"/>
              </a:rPr>
              <a:t>Demo operations</a:t>
            </a:r>
          </a:p>
        </p:txBody>
      </p:sp>
      <p:sp>
        <p:nvSpPr>
          <p:cNvPr id="22" name="">
            <a:extLst>
              <a:ext uri="{FF2B5EF4-FFF2-40B4-BE49-F238E27FC236}">
                <a16:creationId id="{E82BA937-646C-42C8-BFD8-EBA7925E4A0B}"/>
              </a:ext>
            </a:extLst>
          </p:cNvPr>
          <p:cNvSpPr>
            <a:spLocks noGrp="1"/>
          </p:cNvSpPr>
          <p:nvPr/>
        </p:nvSpPr>
        <p:spPr>
          <a:xfrm>
            <a:off x="8458200" y="2247900"/>
            <a:ext cx="19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19C8B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C8BD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23" name="">
            <a:extLst>
              <a:ext uri="{FF2B5EF4-FFF2-40B4-BE49-F238E27FC236}">
                <a16:creationId id="{E3C095D0-E0C9-47BA-B8EC-9F273877AD73}"/>
              </a:ext>
            </a:extLst>
          </p:cNvPr>
          <p:cNvSpPr>
            <a:spLocks noGrp="1"/>
          </p:cNvSpPr>
          <p:nvPr/>
        </p:nvSpPr>
        <p:spPr>
          <a:xfrm>
            <a:off x="8724900" y="2228850"/>
            <a:ext cx="2571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361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16B"/>
                </a:solidFill>
                <a:latin typeface="Calibri"/>
                <a:ea typeface="Calibri"/>
                <a:cs typeface="Calibri"/>
              </a:rPr>
              <a:t>Mock Slack provides a credential-free local test surface.</a:t>
            </a:r>
          </a:p>
        </p:txBody>
      </p:sp>
      <p:sp>
        <p:nvSpPr>
          <p:cNvPr id="24" name="">
            <a:extLst>
              <a:ext uri="{FF2B5EF4-FFF2-40B4-BE49-F238E27FC236}">
                <a16:creationId id="{179E7855-94BB-49FA-8F48-31D5629A0150}"/>
              </a:ext>
            </a:extLst>
          </p:cNvPr>
          <p:cNvSpPr>
            <a:spLocks noGrp="1"/>
          </p:cNvSpPr>
          <p:nvPr/>
        </p:nvSpPr>
        <p:spPr>
          <a:xfrm>
            <a:off x="8458200" y="2724150"/>
            <a:ext cx="19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19C8B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C8BD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25" name="">
            <a:extLst>
              <a:ext uri="{FF2B5EF4-FFF2-40B4-BE49-F238E27FC236}">
                <a16:creationId id="{C268B48C-0F22-4994-A8A6-FF75EC7D65AE}"/>
              </a:ext>
            </a:extLst>
          </p:cNvPr>
          <p:cNvSpPr>
            <a:spLocks noGrp="1"/>
          </p:cNvSpPr>
          <p:nvPr/>
        </p:nvSpPr>
        <p:spPr>
          <a:xfrm>
            <a:off x="8724900" y="2705100"/>
            <a:ext cx="2571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361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16B"/>
                </a:solidFill>
                <a:latin typeface="Calibri"/>
                <a:ea typeface="Calibri"/>
                <a:cs typeface="Calibri"/>
              </a:rPr>
              <a:t>Runtime config is graph-backed and admin-managed.</a:t>
            </a:r>
          </a:p>
        </p:txBody>
      </p:sp>
      <p:sp>
        <p:nvSpPr>
          <p:cNvPr id="26" name="">
            <a:extLst>
              <a:ext uri="{FF2B5EF4-FFF2-40B4-BE49-F238E27FC236}">
                <a16:creationId id="{2B7CDB03-4079-4D82-A723-42F8DFB768DF}"/>
              </a:ext>
            </a:extLst>
          </p:cNvPr>
          <p:cNvSpPr>
            <a:spLocks noGrp="1"/>
          </p:cNvSpPr>
          <p:nvPr/>
        </p:nvSpPr>
        <p:spPr>
          <a:xfrm>
            <a:off x="8458200" y="3200400"/>
            <a:ext cx="19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19C8B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C8BD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27" name="">
            <a:extLst>
              <a:ext uri="{FF2B5EF4-FFF2-40B4-BE49-F238E27FC236}">
                <a16:creationId id="{2507C3D9-1F0F-49E9-ACFA-9433FFF86EAD}"/>
              </a:ext>
            </a:extLst>
          </p:cNvPr>
          <p:cNvSpPr>
            <a:spLocks noGrp="1"/>
          </p:cNvSpPr>
          <p:nvPr/>
        </p:nvSpPr>
        <p:spPr>
          <a:xfrm>
            <a:off x="8724900" y="3181350"/>
            <a:ext cx="2571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361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16B"/>
                </a:solidFill>
                <a:latin typeface="Calibri"/>
                <a:ea typeface="Calibri"/>
                <a:cs typeface="Calibri"/>
              </a:rPr>
              <a:t>Jira and Git sync scopes are configurable.</a:t>
            </a:r>
          </a:p>
        </p:txBody>
      </p:sp>
      <p:sp>
        <p:nvSpPr>
          <p:cNvPr id="28" name="">
            <a:extLst>
              <a:ext uri="{FF2B5EF4-FFF2-40B4-BE49-F238E27FC236}">
                <a16:creationId id="{2770ADA1-E638-4B6D-A59B-A7D035AA0E06}"/>
              </a:ext>
            </a:extLst>
          </p:cNvPr>
          <p:cNvSpPr>
            <a:spLocks noGrp="1"/>
          </p:cNvSpPr>
          <p:nvPr/>
        </p:nvSpPr>
        <p:spPr>
          <a:xfrm>
            <a:off x="685800" y="5572125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7A879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A8790"/>
                </a:solidFill>
                <a:latin typeface="Calibri"/>
                <a:ea typeface="Calibri"/>
                <a:cs typeface="Calibri"/>
              </a:rPr>
              <a:t>Representative commits: 1229fe7, fcac736, 701ea01, 1c1e62f, d54f44b, 7ee5746, d4bfb6c.</a:t>
            </a:r>
          </a:p>
        </p:txBody>
      </p:sp>
    </p:spTree>
    <p:extLst>
      <p:ext uri="{BB962C8B-B14F-4D97-AF65-F5344CB8AC3E}">
        <p14:creationId val="1247944983"/>
      </p:ext>
    </p:extLst>
  </p:cSld>
</p:sld>
</file>

<file path=ppt/slides/slide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" name="slide-title">
            <a:extLst>
              <a:ext uri="{FF2B5EF4-FFF2-40B4-BE49-F238E27FC236}">
                <a16:creationId id="{B6B39D31-E2F9-40E6-A763-33E8FD445210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933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2850" b="1">
                <a:solidFill>
                  <a:srgbClr val="213E50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213E50"/>
                </a:solidFill>
                <a:latin typeface="Calibri"/>
                <a:ea typeface="Calibri"/>
                <a:cs typeface="Calibri"/>
              </a:rPr>
              <a:t>The graph is now the operational source of truth</a:t>
            </a:r>
          </a:p>
        </p:txBody>
      </p:sp>
      <p:sp>
        <p:nvSpPr>
          <p:cNvPr id="2" name="">
            <a:extLst>
              <a:ext uri="{FF2B5EF4-FFF2-40B4-BE49-F238E27FC236}">
                <a16:creationId id="{6238E0D7-F196-4229-A07F-BFBB6D5DCECE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0"/>
          </a:xfrm>
          <a:prstGeom prst="line">
            <a:avLst/>
          </a:prstGeom>
          <a:noFill/>
          <a:ln w="19050">
            <a:solidFill>
              <a:srgbClr val="19C8BD"/>
            </a:solidFill>
            <a:prstDash val="solid"/>
          </a:ln>
        </p:spPr>
      </p:sp>
      <p:sp>
        <p:nvSpPr>
          <p:cNvPr id="3" name="footer">
            <a:extLst>
              <a:ext uri="{FF2B5EF4-FFF2-40B4-BE49-F238E27FC236}">
                <a16:creationId id="{0309394E-2FBA-49CC-AF4F-19543F459030}"/>
              </a:ext>
            </a:extLst>
          </p:cNvPr>
          <p:cNvSpPr>
            <a:spLocks noGrp="1"/>
          </p:cNvSpPr>
          <p:nvPr/>
        </p:nvSpPr>
        <p:spPr>
          <a:xfrm>
            <a:off x="609600" y="63246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7A8790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7A8790"/>
                </a:solidFill>
                <a:latin typeface="Calibri"/>
                <a:ea typeface="Calibri"/>
                <a:cs typeface="Calibri"/>
              </a:rPr>
              <a:t>ProgramManager demo | 2026-07-01</a:t>
            </a:r>
          </a:p>
        </p:txBody>
      </p:sp>
      <p:sp>
        <p:nvSpPr>
          <p:cNvPr id="4" name="">
            <a:extLst>
              <a:ext uri="{FF2B5EF4-FFF2-40B4-BE49-F238E27FC236}">
                <a16:creationId id="{83AA12B9-3B9D-4929-921B-6E7A1D38FEA8}"/>
              </a:ext>
            </a:extLst>
          </p:cNvPr>
          <p:cNvSpPr>
            <a:spLocks noGrp="1"/>
          </p:cNvSpPr>
          <p:nvPr/>
        </p:nvSpPr>
        <p:spPr>
          <a:xfrm>
            <a:off x="742950" y="1524000"/>
            <a:ext cx="19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19C8B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9C8BD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5" name="">
            <a:extLst>
              <a:ext uri="{FF2B5EF4-FFF2-40B4-BE49-F238E27FC236}">
                <a16:creationId id="{66057BB0-2CAA-4E87-9C27-0DA9AACCD508}"/>
              </a:ext>
            </a:extLst>
          </p:cNvPr>
          <p:cNvSpPr>
            <a:spLocks noGrp="1"/>
          </p:cNvSpPr>
          <p:nvPr/>
        </p:nvSpPr>
        <p:spPr>
          <a:xfrm>
            <a:off x="1009650" y="1504950"/>
            <a:ext cx="50196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650" b="0">
                <a:solidFill>
                  <a:srgbClr val="53616B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3616B"/>
                </a:solidFill>
                <a:latin typeface="Calibri"/>
                <a:ea typeface="Calibri"/>
                <a:cs typeface="Calibri"/>
              </a:rPr>
              <a:t>Admins configure programs, projects, pods, members, assignments, and links at runtime.</a:t>
            </a:r>
          </a:p>
        </p:txBody>
      </p:sp>
      <p:sp>
        <p:nvSpPr>
          <p:cNvPr id="6" name="">
            <a:extLst>
              <a:ext uri="{FF2B5EF4-FFF2-40B4-BE49-F238E27FC236}">
                <a16:creationId id="{E1D9347B-57DA-49DF-8280-F8383898C830}"/>
              </a:ext>
            </a:extLst>
          </p:cNvPr>
          <p:cNvSpPr>
            <a:spLocks noGrp="1"/>
          </p:cNvSpPr>
          <p:nvPr/>
        </p:nvSpPr>
        <p:spPr>
          <a:xfrm>
            <a:off x="742950" y="2190750"/>
            <a:ext cx="19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19C8B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9C8BD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7" name="">
            <a:extLst>
              <a:ext uri="{FF2B5EF4-FFF2-40B4-BE49-F238E27FC236}">
                <a16:creationId id="{B46824FB-D188-4D2A-8996-FCBE948DA14A}"/>
              </a:ext>
            </a:extLst>
          </p:cNvPr>
          <p:cNvSpPr>
            <a:spLocks noGrp="1"/>
          </p:cNvSpPr>
          <p:nvPr/>
        </p:nvSpPr>
        <p:spPr>
          <a:xfrm>
            <a:off x="1009650" y="2171700"/>
            <a:ext cx="50196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650" b="0">
                <a:solidFill>
                  <a:srgbClr val="53616B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3616B"/>
                </a:solidFill>
                <a:latin typeface="Calibri"/>
                <a:ea typeface="Calibri"/>
                <a:cs typeface="Calibri"/>
              </a:rPr>
              <a:t>Read integrations append provider-neutral facts instead of mutating source systems.</a:t>
            </a:r>
          </a:p>
        </p:txBody>
      </p:sp>
      <p:sp>
        <p:nvSpPr>
          <p:cNvPr id="8" name="">
            <a:extLst>
              <a:ext uri="{FF2B5EF4-FFF2-40B4-BE49-F238E27FC236}">
                <a16:creationId id="{94FA7A60-8013-456A-B5A6-0E8B2C71CB34}"/>
              </a:ext>
            </a:extLst>
          </p:cNvPr>
          <p:cNvSpPr>
            <a:spLocks noGrp="1"/>
          </p:cNvSpPr>
          <p:nvPr/>
        </p:nvSpPr>
        <p:spPr>
          <a:xfrm>
            <a:off x="742950" y="2857500"/>
            <a:ext cx="19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19C8B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9C8BD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9" name="">
            <a:extLst>
              <a:ext uri="{FF2B5EF4-FFF2-40B4-BE49-F238E27FC236}">
                <a16:creationId id="{31453B0B-1E96-4F00-BAA4-496722D889CA}"/>
              </a:ext>
            </a:extLst>
          </p:cNvPr>
          <p:cNvSpPr>
            <a:spLocks noGrp="1"/>
          </p:cNvSpPr>
          <p:nvPr/>
        </p:nvSpPr>
        <p:spPr>
          <a:xfrm>
            <a:off x="1009650" y="2838450"/>
            <a:ext cx="50196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650" b="0">
                <a:solidFill>
                  <a:srgbClr val="53616B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3616B"/>
                </a:solidFill>
                <a:latin typeface="Calibri"/>
                <a:ea typeface="Calibri"/>
                <a:cs typeface="Calibri"/>
              </a:rPr>
              <a:t>Persona APIs and dashboards read from one graph, then apply role-scoped access.</a:t>
            </a:r>
          </a:p>
        </p:txBody>
      </p:sp>
      <p:sp>
        <p:nvSpPr>
          <p:cNvPr id="10" name="">
            <a:extLst>
              <a:ext uri="{FF2B5EF4-FFF2-40B4-BE49-F238E27FC236}">
                <a16:creationId id="{8D7C41CB-0B86-41B2-A4A9-5E9BC81399AE}"/>
              </a:ext>
            </a:extLst>
          </p:cNvPr>
          <p:cNvSpPr>
            <a:spLocks noGrp="1"/>
          </p:cNvSpPr>
          <p:nvPr/>
        </p:nvSpPr>
        <p:spPr>
          <a:xfrm>
            <a:off x="6572250" y="1428750"/>
            <a:ext cx="3905250" cy="571500"/>
          </a:xfrm>
          <a:prstGeom prst="roundRect">
            <a:avLst>
              <a:gd name="adj" fmla="val 13333"/>
            </a:avLst>
          </a:prstGeom>
          <a:solidFill>
            <a:srgbClr val="F4FBFA"/>
          </a:solidFill>
          <a:ln w="9525">
            <a:solidFill>
              <a:srgbClr val="BDEEEB"/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a16:creationId id="{C2AB45C2-9C29-4AE5-AF39-8E3CF038F595}"/>
              </a:ext>
            </a:extLst>
          </p:cNvPr>
          <p:cNvSpPr>
            <a:spLocks noGrp="1"/>
          </p:cNvSpPr>
          <p:nvPr/>
        </p:nvSpPr>
        <p:spPr>
          <a:xfrm>
            <a:off x="6800850" y="15906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213E5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13E50"/>
                </a:solidFill>
                <a:latin typeface="Calibri"/>
                <a:ea typeface="Calibri"/>
                <a:cs typeface="Calibri"/>
              </a:rPr>
              <a:t>Program</a:t>
            </a:r>
          </a:p>
        </p:txBody>
      </p:sp>
      <p:sp>
        <p:nvSpPr>
          <p:cNvPr id="12" name="">
            <a:extLst>
              <a:ext uri="{FF2B5EF4-FFF2-40B4-BE49-F238E27FC236}">
                <a16:creationId id="{8BAF0F73-F04B-4AC2-AAD9-5B687107ED2D}"/>
              </a:ext>
            </a:extLst>
          </p:cNvPr>
          <p:cNvSpPr>
            <a:spLocks noGrp="1"/>
          </p:cNvSpPr>
          <p:nvPr/>
        </p:nvSpPr>
        <p:spPr>
          <a:xfrm>
            <a:off x="9144000" y="1628775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12000"/>
              </a:lnSpc>
              <a:buNone/>
              <a:defRPr sz="1050" b="0">
                <a:solidFill>
                  <a:srgbClr val="7A8790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7A8790"/>
                </a:solidFill>
                <a:latin typeface="Calibri"/>
                <a:ea typeface="Calibri"/>
                <a:cs typeface="Calibri"/>
              </a:rPr>
              <a:t>typed graph node</a:t>
            </a:r>
          </a:p>
        </p:txBody>
      </p:sp>
      <p:sp>
        <p:nvSpPr>
          <p:cNvPr id="13" name="">
            <a:extLst>
              <a:ext uri="{FF2B5EF4-FFF2-40B4-BE49-F238E27FC236}">
                <a16:creationId id="{6D9A4DB2-F409-43AD-A8AE-EBCAF3597D5B}"/>
              </a:ext>
            </a:extLst>
          </p:cNvPr>
          <p:cNvSpPr>
            <a:spLocks noGrp="1"/>
          </p:cNvSpPr>
          <p:nvPr/>
        </p:nvSpPr>
        <p:spPr>
          <a:xfrm>
            <a:off x="8524875" y="2019300"/>
            <a:ext cx="0" cy="266700"/>
          </a:xfrm>
          <a:prstGeom prst="line">
            <a:avLst/>
          </a:prstGeom>
          <a:noFill/>
          <a:ln w="19050">
            <a:solidFill>
              <a:srgbClr val="19C8BD"/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a16:creationId id="{A4CFB823-624C-4709-A7D3-6C0B991674D3}"/>
              </a:ext>
            </a:extLst>
          </p:cNvPr>
          <p:cNvSpPr>
            <a:spLocks noGrp="1"/>
          </p:cNvSpPr>
          <p:nvPr/>
        </p:nvSpPr>
        <p:spPr>
          <a:xfrm>
            <a:off x="6572250" y="2305050"/>
            <a:ext cx="3905250" cy="571500"/>
          </a:xfrm>
          <a:prstGeom prst="roundRect">
            <a:avLst>
              <a:gd name="adj" fmla="val 13333"/>
            </a:avLst>
          </a:prstGeom>
          <a:solidFill>
            <a:srgbClr val="F4FBFA"/>
          </a:solidFill>
          <a:ln w="9525">
            <a:solidFill>
              <a:srgbClr val="BDEEEB"/>
            </a:solidFill>
            <a:prstDash val="solid"/>
          </a:ln>
        </p:spPr>
      </p:sp>
      <p:sp>
        <p:nvSpPr>
          <p:cNvPr id="15" name="">
            <a:extLst>
              <a:ext uri="{FF2B5EF4-FFF2-40B4-BE49-F238E27FC236}">
                <a16:creationId id="{A30890ED-EF49-484D-AADB-1E3E9B147756}"/>
              </a:ext>
            </a:extLst>
          </p:cNvPr>
          <p:cNvSpPr>
            <a:spLocks noGrp="1"/>
          </p:cNvSpPr>
          <p:nvPr/>
        </p:nvSpPr>
        <p:spPr>
          <a:xfrm>
            <a:off x="6800850" y="24669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213E5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13E50"/>
                </a:solidFill>
                <a:latin typeface="Calibri"/>
                <a:ea typeface="Calibri"/>
                <a:cs typeface="Calibri"/>
              </a:rPr>
              <a:t>Project</a:t>
            </a:r>
          </a:p>
        </p:txBody>
      </p:sp>
      <p:sp>
        <p:nvSpPr>
          <p:cNvPr id="16" name="">
            <a:extLst>
              <a:ext uri="{FF2B5EF4-FFF2-40B4-BE49-F238E27FC236}">
                <a16:creationId id="{B5695AFE-F894-4848-8662-380A103842FE}"/>
              </a:ext>
            </a:extLst>
          </p:cNvPr>
          <p:cNvSpPr>
            <a:spLocks noGrp="1"/>
          </p:cNvSpPr>
          <p:nvPr/>
        </p:nvSpPr>
        <p:spPr>
          <a:xfrm>
            <a:off x="9144000" y="2505075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12000"/>
              </a:lnSpc>
              <a:buNone/>
              <a:defRPr sz="1050" b="0">
                <a:solidFill>
                  <a:srgbClr val="7A8790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7A8790"/>
                </a:solidFill>
                <a:latin typeface="Calibri"/>
                <a:ea typeface="Calibri"/>
                <a:cs typeface="Calibri"/>
              </a:rPr>
              <a:t>typed graph node</a:t>
            </a:r>
          </a:p>
        </p:txBody>
      </p:sp>
      <p:sp>
        <p:nvSpPr>
          <p:cNvPr id="17" name="">
            <a:extLst>
              <a:ext uri="{FF2B5EF4-FFF2-40B4-BE49-F238E27FC236}">
                <a16:creationId id="{D9FC9ADA-B0CC-4A65-BAD2-235FCAE418AF}"/>
              </a:ext>
            </a:extLst>
          </p:cNvPr>
          <p:cNvSpPr>
            <a:spLocks noGrp="1"/>
          </p:cNvSpPr>
          <p:nvPr/>
        </p:nvSpPr>
        <p:spPr>
          <a:xfrm>
            <a:off x="8524875" y="2895600"/>
            <a:ext cx="0" cy="266700"/>
          </a:xfrm>
          <a:prstGeom prst="line">
            <a:avLst/>
          </a:prstGeom>
          <a:noFill/>
          <a:ln w="19050">
            <a:solidFill>
              <a:srgbClr val="19C8BD"/>
            </a:solidFill>
            <a:prstDash val="solid"/>
          </a:ln>
        </p:spPr>
      </p:sp>
      <p:sp>
        <p:nvSpPr>
          <p:cNvPr id="18" name="">
            <a:extLst>
              <a:ext uri="{FF2B5EF4-FFF2-40B4-BE49-F238E27FC236}">
                <a16:creationId id="{9E40FA0F-A462-4883-A719-76AD624306DE}"/>
              </a:ext>
            </a:extLst>
          </p:cNvPr>
          <p:cNvSpPr>
            <a:spLocks noGrp="1"/>
          </p:cNvSpPr>
          <p:nvPr/>
        </p:nvSpPr>
        <p:spPr>
          <a:xfrm>
            <a:off x="6572250" y="3181350"/>
            <a:ext cx="3905250" cy="571500"/>
          </a:xfrm>
          <a:prstGeom prst="roundRect">
            <a:avLst>
              <a:gd name="adj" fmla="val 13333"/>
            </a:avLst>
          </a:prstGeom>
          <a:solidFill>
            <a:srgbClr val="F4FBFA"/>
          </a:solidFill>
          <a:ln w="9525">
            <a:solidFill>
              <a:srgbClr val="BDEEEB"/>
            </a:solidFill>
            <a:prstDash val="solid"/>
          </a:ln>
        </p:spPr>
      </p:sp>
      <p:sp>
        <p:nvSpPr>
          <p:cNvPr id="19" name="">
            <a:extLst>
              <a:ext uri="{FF2B5EF4-FFF2-40B4-BE49-F238E27FC236}">
                <a16:creationId id="{04D4A682-3D4C-4481-AA43-849BCCC040B1}"/>
              </a:ext>
            </a:extLst>
          </p:cNvPr>
          <p:cNvSpPr>
            <a:spLocks noGrp="1"/>
          </p:cNvSpPr>
          <p:nvPr/>
        </p:nvSpPr>
        <p:spPr>
          <a:xfrm>
            <a:off x="6800850" y="33432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213E5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13E50"/>
                </a:solidFill>
                <a:latin typeface="Calibri"/>
                <a:ea typeface="Calibri"/>
                <a:cs typeface="Calibri"/>
              </a:rPr>
              <a:t>Pod</a:t>
            </a:r>
          </a:p>
        </p:txBody>
      </p:sp>
      <p:sp>
        <p:nvSpPr>
          <p:cNvPr id="20" name="">
            <a:extLst>
              <a:ext uri="{FF2B5EF4-FFF2-40B4-BE49-F238E27FC236}">
                <a16:creationId id="{6585CC1D-2D60-4F0A-9E19-37E7E4990BAB}"/>
              </a:ext>
            </a:extLst>
          </p:cNvPr>
          <p:cNvSpPr>
            <a:spLocks noGrp="1"/>
          </p:cNvSpPr>
          <p:nvPr/>
        </p:nvSpPr>
        <p:spPr>
          <a:xfrm>
            <a:off x="9144000" y="3381375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12000"/>
              </a:lnSpc>
              <a:buNone/>
              <a:defRPr sz="1050" b="0">
                <a:solidFill>
                  <a:srgbClr val="7A8790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7A8790"/>
                </a:solidFill>
                <a:latin typeface="Calibri"/>
                <a:ea typeface="Calibri"/>
                <a:cs typeface="Calibri"/>
              </a:rPr>
              <a:t>typed graph node</a:t>
            </a:r>
          </a:p>
        </p:txBody>
      </p:sp>
      <p:sp>
        <p:nvSpPr>
          <p:cNvPr id="21" name="">
            <a:extLst>
              <a:ext uri="{FF2B5EF4-FFF2-40B4-BE49-F238E27FC236}">
                <a16:creationId id="{9BC90E5B-AD31-4706-BCC6-B4DA9C513FE9}"/>
              </a:ext>
            </a:extLst>
          </p:cNvPr>
          <p:cNvSpPr>
            <a:spLocks noGrp="1"/>
          </p:cNvSpPr>
          <p:nvPr/>
        </p:nvSpPr>
        <p:spPr>
          <a:xfrm>
            <a:off x="8524875" y="3771900"/>
            <a:ext cx="0" cy="266700"/>
          </a:xfrm>
          <a:prstGeom prst="line">
            <a:avLst/>
          </a:prstGeom>
          <a:noFill/>
          <a:ln w="19050">
            <a:solidFill>
              <a:srgbClr val="19C8BD"/>
            </a:solidFill>
            <a:prstDash val="solid"/>
          </a:ln>
        </p:spPr>
      </p:sp>
      <p:sp>
        <p:nvSpPr>
          <p:cNvPr id="22" name="">
            <a:extLst>
              <a:ext uri="{FF2B5EF4-FFF2-40B4-BE49-F238E27FC236}">
                <a16:creationId id="{028E5876-8CD2-4BC5-91F1-33249883DBDF}"/>
              </a:ext>
            </a:extLst>
          </p:cNvPr>
          <p:cNvSpPr>
            <a:spLocks noGrp="1"/>
          </p:cNvSpPr>
          <p:nvPr/>
        </p:nvSpPr>
        <p:spPr>
          <a:xfrm>
            <a:off x="6572250" y="4057650"/>
            <a:ext cx="3905250" cy="571500"/>
          </a:xfrm>
          <a:prstGeom prst="roundRect">
            <a:avLst>
              <a:gd name="adj" fmla="val 13333"/>
            </a:avLst>
          </a:prstGeom>
          <a:solidFill>
            <a:srgbClr val="F4FBFA"/>
          </a:solidFill>
          <a:ln w="9525">
            <a:solidFill>
              <a:srgbClr val="BDEEEB"/>
            </a:solidFill>
            <a:prstDash val="solid"/>
          </a:ln>
        </p:spPr>
      </p:sp>
      <p:sp>
        <p:nvSpPr>
          <p:cNvPr id="23" name="">
            <a:extLst>
              <a:ext uri="{FF2B5EF4-FFF2-40B4-BE49-F238E27FC236}">
                <a16:creationId id="{63660545-41F1-4E6E-8F8C-F73288384516}"/>
              </a:ext>
            </a:extLst>
          </p:cNvPr>
          <p:cNvSpPr>
            <a:spLocks noGrp="1"/>
          </p:cNvSpPr>
          <p:nvPr/>
        </p:nvSpPr>
        <p:spPr>
          <a:xfrm>
            <a:off x="6800850" y="4219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213E5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13E50"/>
                </a:solidFill>
                <a:latin typeface="Calibri"/>
                <a:ea typeface="Calibri"/>
                <a:cs typeface="Calibri"/>
              </a:rPr>
              <a:t>Developer</a:t>
            </a:r>
          </a:p>
        </p:txBody>
      </p:sp>
      <p:sp>
        <p:nvSpPr>
          <p:cNvPr id="24" name="">
            <a:extLst>
              <a:ext uri="{FF2B5EF4-FFF2-40B4-BE49-F238E27FC236}">
                <a16:creationId id="{FD6D63D2-FD45-4E3C-9536-EAC4524051B5}"/>
              </a:ext>
            </a:extLst>
          </p:cNvPr>
          <p:cNvSpPr>
            <a:spLocks noGrp="1"/>
          </p:cNvSpPr>
          <p:nvPr/>
        </p:nvSpPr>
        <p:spPr>
          <a:xfrm>
            <a:off x="9144000" y="4257675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12000"/>
              </a:lnSpc>
              <a:buNone/>
              <a:defRPr sz="1050" b="0">
                <a:solidFill>
                  <a:srgbClr val="7A8790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7A8790"/>
                </a:solidFill>
                <a:latin typeface="Calibri"/>
                <a:ea typeface="Calibri"/>
                <a:cs typeface="Calibri"/>
              </a:rPr>
              <a:t>typed graph node</a:t>
            </a:r>
          </a:p>
        </p:txBody>
      </p:sp>
      <p:sp>
        <p:nvSpPr>
          <p:cNvPr id="25" name="">
            <a:extLst>
              <a:ext uri="{FF2B5EF4-FFF2-40B4-BE49-F238E27FC236}">
                <a16:creationId id="{7B25BC72-C5A7-4AC2-A906-1F93C80AC421}"/>
              </a:ext>
            </a:extLst>
          </p:cNvPr>
          <p:cNvSpPr>
            <a:spLocks noGrp="1"/>
          </p:cNvSpPr>
          <p:nvPr/>
        </p:nvSpPr>
        <p:spPr>
          <a:xfrm>
            <a:off x="8524875" y="4648200"/>
            <a:ext cx="0" cy="266700"/>
          </a:xfrm>
          <a:prstGeom prst="line">
            <a:avLst/>
          </a:prstGeom>
          <a:noFill/>
          <a:ln w="19050">
            <a:solidFill>
              <a:srgbClr val="19C8BD"/>
            </a:solidFill>
            <a:prstDash val="solid"/>
          </a:ln>
        </p:spPr>
      </p:sp>
      <p:sp>
        <p:nvSpPr>
          <p:cNvPr id="26" name="">
            <a:extLst>
              <a:ext uri="{FF2B5EF4-FFF2-40B4-BE49-F238E27FC236}">
                <a16:creationId id="{CC4C2E0B-6EB4-452C-97AD-329DC3773168}"/>
              </a:ext>
            </a:extLst>
          </p:cNvPr>
          <p:cNvSpPr>
            <a:spLocks noGrp="1"/>
          </p:cNvSpPr>
          <p:nvPr/>
        </p:nvSpPr>
        <p:spPr>
          <a:xfrm>
            <a:off x="6572250" y="4933950"/>
            <a:ext cx="3905250" cy="571500"/>
          </a:xfrm>
          <a:prstGeom prst="roundRect">
            <a:avLst>
              <a:gd name="adj" fmla="val 13333"/>
            </a:avLst>
          </a:prstGeom>
          <a:solidFill>
            <a:srgbClr val="F4FBFA"/>
          </a:solidFill>
          <a:ln w="9525">
            <a:solidFill>
              <a:srgbClr val="BDEEEB"/>
            </a:solidFill>
            <a:prstDash val="solid"/>
          </a:ln>
        </p:spPr>
      </p:sp>
      <p:sp>
        <p:nvSpPr>
          <p:cNvPr id="27" name="">
            <a:extLst>
              <a:ext uri="{FF2B5EF4-FFF2-40B4-BE49-F238E27FC236}">
                <a16:creationId id="{DB2BD57E-9557-4639-8820-4A9DF3A311BE}"/>
              </a:ext>
            </a:extLst>
          </p:cNvPr>
          <p:cNvSpPr>
            <a:spLocks noGrp="1"/>
          </p:cNvSpPr>
          <p:nvPr/>
        </p:nvSpPr>
        <p:spPr>
          <a:xfrm>
            <a:off x="6800850" y="50958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213E5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13E50"/>
                </a:solidFill>
                <a:latin typeface="Calibri"/>
                <a:ea typeface="Calibri"/>
                <a:cs typeface="Calibri"/>
              </a:rPr>
              <a:t>Task + facts</a:t>
            </a:r>
          </a:p>
        </p:txBody>
      </p:sp>
      <p:sp>
        <p:nvSpPr>
          <p:cNvPr id="28" name="">
            <a:extLst>
              <a:ext uri="{FF2B5EF4-FFF2-40B4-BE49-F238E27FC236}">
                <a16:creationId id="{2DDAABF8-B618-4DAA-B12C-C36D7AB0FD6E}"/>
              </a:ext>
            </a:extLst>
          </p:cNvPr>
          <p:cNvSpPr>
            <a:spLocks noGrp="1"/>
          </p:cNvSpPr>
          <p:nvPr/>
        </p:nvSpPr>
        <p:spPr>
          <a:xfrm>
            <a:off x="9144000" y="5133975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12000"/>
              </a:lnSpc>
              <a:buNone/>
              <a:defRPr sz="1050" b="0">
                <a:solidFill>
                  <a:srgbClr val="7A8790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7A8790"/>
                </a:solidFill>
                <a:latin typeface="Calibri"/>
                <a:ea typeface="Calibri"/>
                <a:cs typeface="Calibri"/>
              </a:rPr>
              <a:t>typed graph node</a:t>
            </a:r>
          </a:p>
        </p:txBody>
      </p:sp>
      <p:sp>
        <p:nvSpPr>
          <p:cNvPr id="29" name="">
            <a:extLst>
              <a:ext uri="{FF2B5EF4-FFF2-40B4-BE49-F238E27FC236}">
                <a16:creationId id="{DE000A65-2473-4FF6-BBE5-1FCF9EA8A5EC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5143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875" b="1">
                <a:solidFill>
                  <a:srgbClr val="213E50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13E50"/>
                </a:solidFill>
                <a:latin typeface="Calibri"/>
                <a:ea typeface="Calibri"/>
                <a:cs typeface="Calibri"/>
              </a:rPr>
              <a:t>Result: status can be traced from a portfolio cell back to the lower-level source facts that made it red, amber, green, or unknown.</a:t>
            </a:r>
          </a:p>
        </p:txBody>
      </p:sp>
    </p:spTree>
    <p:extLst>
      <p:ext uri="{BB962C8B-B14F-4D97-AF65-F5344CB8AC3E}">
        <p14:creationId val="1653640576"/>
      </p:ext>
    </p:extLst>
  </p:cSld>
</p:sld>
</file>

<file path=ppt/slides/slide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" name="slide-title">
            <a:extLst>
              <a:ext uri="{FF2B5EF4-FFF2-40B4-BE49-F238E27FC236}">
                <a16:creationId id="{6AADC09F-FA28-4E65-BC1F-7DAA5E58587E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933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2850" b="1">
                <a:solidFill>
                  <a:srgbClr val="213E50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213E50"/>
                </a:solidFill>
                <a:latin typeface="Calibri"/>
                <a:ea typeface="Calibri"/>
                <a:cs typeface="Calibri"/>
              </a:rPr>
              <a:t>The check-in loop is visible and testable</a:t>
            </a:r>
          </a:p>
        </p:txBody>
      </p:sp>
      <p:sp>
        <p:nvSpPr>
          <p:cNvPr id="2" name="">
            <a:extLst>
              <a:ext uri="{FF2B5EF4-FFF2-40B4-BE49-F238E27FC236}">
                <a16:creationId id="{2135A117-7685-4665-B32F-D5DCEC5B33AB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0"/>
          </a:xfrm>
          <a:prstGeom prst="line">
            <a:avLst/>
          </a:prstGeom>
          <a:noFill/>
          <a:ln w="19050">
            <a:solidFill>
              <a:srgbClr val="19C8BD"/>
            </a:solidFill>
            <a:prstDash val="solid"/>
          </a:ln>
        </p:spPr>
      </p:sp>
      <p:sp>
        <p:nvSpPr>
          <p:cNvPr id="3" name="footer">
            <a:extLst>
              <a:ext uri="{FF2B5EF4-FFF2-40B4-BE49-F238E27FC236}">
                <a16:creationId id="{71737630-0D13-48B9-816C-170CEA883B3F}"/>
              </a:ext>
            </a:extLst>
          </p:cNvPr>
          <p:cNvSpPr>
            <a:spLocks noGrp="1"/>
          </p:cNvSpPr>
          <p:nvPr/>
        </p:nvSpPr>
        <p:spPr>
          <a:xfrm>
            <a:off x="609600" y="63246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7A8790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7A8790"/>
                </a:solidFill>
                <a:latin typeface="Calibri"/>
                <a:ea typeface="Calibri"/>
                <a:cs typeface="Calibri"/>
              </a:rPr>
              <a:t>ProgramManager demo | 2026-07-01</a:t>
            </a:r>
          </a:p>
        </p:txBody>
      </p:sp>
      <p:sp>
        <p:nvSpPr>
          <p:cNvPr id="4" name="">
            <a:extLst>
              <a:ext uri="{FF2B5EF4-FFF2-40B4-BE49-F238E27FC236}">
                <a16:creationId id="{2AECF504-96EE-4B62-A02B-360002C2AD09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3429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875" b="1">
                <a:solidFill>
                  <a:srgbClr val="213E50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13E50"/>
                </a:solidFill>
                <a:latin typeface="Calibri"/>
                <a:ea typeface="Calibri"/>
                <a:cs typeface="Calibri"/>
              </a:rPr>
              <a:t>Mock Slack makes the agent loop visible without live Slack credentials.</a:t>
            </a:r>
          </a:p>
        </p:txBody>
      </p:sp>
      <p:sp>
        <p:nvSpPr>
          <p:cNvPr id="5" name="">
            <a:extLst>
              <a:ext uri="{FF2B5EF4-FFF2-40B4-BE49-F238E27FC236}">
                <a16:creationId id="{587965B1-22E5-40AB-A8D7-FB4F97C4D531}"/>
              </a:ext>
            </a:extLst>
          </p:cNvPr>
          <p:cNvSpPr>
            <a:spLocks noGrp="1"/>
          </p:cNvSpPr>
          <p:nvPr/>
        </p:nvSpPr>
        <p:spPr>
          <a:xfrm>
            <a:off x="742950" y="2762250"/>
            <a:ext cx="19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19C8B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C8BD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6" name="">
            <a:extLst>
              <a:ext uri="{FF2B5EF4-FFF2-40B4-BE49-F238E27FC236}">
                <a16:creationId id="{51AA2C60-094F-4876-8427-9DF7CDCDD456}"/>
              </a:ext>
            </a:extLst>
          </p:cNvPr>
          <p:cNvSpPr>
            <a:spLocks noGrp="1"/>
          </p:cNvSpPr>
          <p:nvPr/>
        </p:nvSpPr>
        <p:spPr>
          <a:xfrm>
            <a:off x="1009650" y="2743200"/>
            <a:ext cx="3162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361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16B"/>
                </a:solidFill>
                <a:latin typeface="Calibri"/>
                <a:ea typeface="Calibri"/>
                <a:cs typeface="Calibri"/>
              </a:rPr>
              <a:t>Admin dispatch creates an outbound direct message.</a:t>
            </a:r>
          </a:p>
        </p:txBody>
      </p:sp>
      <p:sp>
        <p:nvSpPr>
          <p:cNvPr id="7" name="">
            <a:extLst>
              <a:ext uri="{FF2B5EF4-FFF2-40B4-BE49-F238E27FC236}">
                <a16:creationId id="{8BB50085-C0F8-4E3A-9D1F-222078E7E8E7}"/>
              </a:ext>
            </a:extLst>
          </p:cNvPr>
          <p:cNvSpPr>
            <a:spLocks noGrp="1"/>
          </p:cNvSpPr>
          <p:nvPr/>
        </p:nvSpPr>
        <p:spPr>
          <a:xfrm>
            <a:off x="742950" y="3333750"/>
            <a:ext cx="19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19C8B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C8BD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8" name="">
            <a:extLst>
              <a:ext uri="{FF2B5EF4-FFF2-40B4-BE49-F238E27FC236}">
                <a16:creationId id="{153F9ED3-027C-447C-A4F0-BF6EF51B0166}"/>
              </a:ext>
            </a:extLst>
          </p:cNvPr>
          <p:cNvSpPr>
            <a:spLocks noGrp="1"/>
          </p:cNvSpPr>
          <p:nvPr/>
        </p:nvSpPr>
        <p:spPr>
          <a:xfrm>
            <a:off x="1009650" y="3314700"/>
            <a:ext cx="3162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361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16B"/>
                </a:solidFill>
                <a:latin typeface="Calibri"/>
                <a:ea typeface="Calibri"/>
                <a:cs typeface="Calibri"/>
              </a:rPr>
              <a:t>A developer reply is processed through the simulator/webhook path.</a:t>
            </a:r>
          </a:p>
        </p:txBody>
      </p:sp>
      <p:sp>
        <p:nvSpPr>
          <p:cNvPr id="9" name="">
            <a:extLst>
              <a:ext uri="{FF2B5EF4-FFF2-40B4-BE49-F238E27FC236}">
                <a16:creationId id="{6EA87173-42D0-45A8-BF00-C3DC95797A51}"/>
              </a:ext>
            </a:extLst>
          </p:cNvPr>
          <p:cNvSpPr>
            <a:spLocks noGrp="1"/>
          </p:cNvSpPr>
          <p:nvPr/>
        </p:nvSpPr>
        <p:spPr>
          <a:xfrm>
            <a:off x="742950" y="3905250"/>
            <a:ext cx="19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19C8B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C8BD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10" name="">
            <a:extLst>
              <a:ext uri="{FF2B5EF4-FFF2-40B4-BE49-F238E27FC236}">
                <a16:creationId id="{D1FFCC58-8307-4A93-9012-DC867424D47F}"/>
              </a:ext>
            </a:extLst>
          </p:cNvPr>
          <p:cNvSpPr>
            <a:spLocks noGrp="1"/>
          </p:cNvSpPr>
          <p:nvPr/>
        </p:nvSpPr>
        <p:spPr>
          <a:xfrm>
            <a:off x="1009650" y="3886200"/>
            <a:ext cx="3162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361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16B"/>
                </a:solidFill>
                <a:latin typeface="Calibri"/>
                <a:ea typeface="Calibri"/>
                <a:cs typeface="Calibri"/>
              </a:rPr>
              <a:t>The check-in records raw reply, correlation, and scheduled as-of date.</a:t>
            </a:r>
          </a:p>
        </p:txBody>
      </p:sp>
      <p:sp>
        <p:nvSpPr>
          <p:cNvPr id="11" name="">
            <a:extLst>
              <a:ext uri="{FF2B5EF4-FFF2-40B4-BE49-F238E27FC236}">
                <a16:creationId id="{DC992E37-CCAC-4E4F-8BB3-438D95B4A535}"/>
              </a:ext>
            </a:extLst>
          </p:cNvPr>
          <p:cNvSpPr>
            <a:spLocks noGrp="1"/>
          </p:cNvSpPr>
          <p:nvPr/>
        </p:nvSpPr>
        <p:spPr>
          <a:xfrm>
            <a:off x="742950" y="4476750"/>
            <a:ext cx="19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19C8B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C8BD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12" name="">
            <a:extLst>
              <a:ext uri="{FF2B5EF4-FFF2-40B4-BE49-F238E27FC236}">
                <a16:creationId id="{25846402-CE20-47C6-B5D5-E8C547BF6421}"/>
              </a:ext>
            </a:extLst>
          </p:cNvPr>
          <p:cNvSpPr>
            <a:spLocks noGrp="1"/>
          </p:cNvSpPr>
          <p:nvPr/>
        </p:nvSpPr>
        <p:spPr>
          <a:xfrm>
            <a:off x="1009650" y="4457700"/>
            <a:ext cx="3162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361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16B"/>
                </a:solidFill>
                <a:latin typeface="Calibri"/>
                <a:ea typeface="Calibri"/>
                <a:cs typeface="Calibri"/>
              </a:rPr>
              <a:t>Persona status can update without exposing the raw message broadly.</a:t>
            </a:r>
          </a:p>
        </p:txBody>
      </p:sp>
      <p:sp>
        <p:nvSpPr>
          <p:cNvPr id="13" name="">
            <a:extLst>
              <a:ext uri="{FF2B5EF4-FFF2-40B4-BE49-F238E27FC236}">
                <a16:creationId id="{E0B42A1D-3236-408E-9F1F-0529F0C8DF51}"/>
              </a:ext>
            </a:extLst>
          </p:cNvPr>
          <p:cNvSpPr>
            <a:spLocks noGrp="1"/>
          </p:cNvSpPr>
          <p:nvPr/>
        </p:nvSpPr>
        <p:spPr>
          <a:xfrm>
            <a:off x="4591050" y="1333500"/>
            <a:ext cx="6819900" cy="4305300"/>
          </a:xfrm>
          <a:prstGeom prst="roundRect">
            <a:avLst>
              <a:gd name="adj" fmla="val 2212"/>
            </a:avLst>
          </a:prstGeom>
          <a:solidFill>
            <a:srgbClr val="F4FBFA"/>
          </a:solidFill>
          <a:ln w="9525">
            <a:solidFill>
              <a:srgbClr val="E7ECEF"/>
            </a:solidFill>
            <a:prstDash val="solid"/>
          </a:ln>
        </p:spPr>
      </p:sp>
      <p:pic>
        <p:nvPicPr>
          <p:cNvPr id="28" name=""/>
          <p:cNvPicPr>
            <a:picLocks noChangeAspect="1"/>
          </p:cNvPicPr>
          <p:nvPr/>
        </p:nvPicPr>
        <p:blipFill>
          <a:blip r:embed="R139ae2b9c7584bd1"/>
          <a:srcRect l="40" t="0" r="40" b="0"/>
          <a:stretch>
            <a:fillRect l="0" t="0" r="0" b="0"/>
          </a:stretch>
        </p:blipFill>
        <p:spPr>
          <a:xfrm>
            <a:off x="4667250" y="1409700"/>
            <a:ext cx="6667500" cy="4152900"/>
          </a:xfrm>
          <a:prstGeom prst="rect">
            <a:avLst/>
          </a:prstGeom>
        </p:spPr>
      </p:pic>
    </p:spTree>
    <p:extLst>
      <p:ext uri="{BB962C8B-B14F-4D97-AF65-F5344CB8AC3E}">
        <p14:creationId val="895221050"/>
      </p:ext>
    </p:extLst>
  </p:cSld>
</p:sld>
</file>

<file path=ppt/slides/slide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" name="slide-title">
            <a:extLst>
              <a:ext uri="{FF2B5EF4-FFF2-40B4-BE49-F238E27FC236}">
                <a16:creationId id="{27C77599-D062-411A-991F-1356723DDD96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933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2850" b="1">
                <a:solidFill>
                  <a:srgbClr val="213E50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213E50"/>
                </a:solidFill>
                <a:latin typeface="Calibri"/>
                <a:ea typeface="Calibri"/>
                <a:cs typeface="Calibri"/>
              </a:rPr>
              <a:t>Parsing now treats ambiguity as a product state</a:t>
            </a:r>
          </a:p>
        </p:txBody>
      </p:sp>
      <p:sp>
        <p:nvSpPr>
          <p:cNvPr id="2" name="">
            <a:extLst>
              <a:ext uri="{FF2B5EF4-FFF2-40B4-BE49-F238E27FC236}">
                <a16:creationId id="{1AA472EC-FE9E-4422-A11C-644BB5479FCF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0"/>
          </a:xfrm>
          <a:prstGeom prst="line">
            <a:avLst/>
          </a:prstGeom>
          <a:noFill/>
          <a:ln w="19050">
            <a:solidFill>
              <a:srgbClr val="19C8BD"/>
            </a:solidFill>
            <a:prstDash val="solid"/>
          </a:ln>
        </p:spPr>
      </p:sp>
      <p:sp>
        <p:nvSpPr>
          <p:cNvPr id="3" name="footer">
            <a:extLst>
              <a:ext uri="{FF2B5EF4-FFF2-40B4-BE49-F238E27FC236}">
                <a16:creationId id="{E7D66A1C-9E75-479A-8B2B-1C4CBB255E90}"/>
              </a:ext>
            </a:extLst>
          </p:cNvPr>
          <p:cNvSpPr>
            <a:spLocks noGrp="1"/>
          </p:cNvSpPr>
          <p:nvPr/>
        </p:nvSpPr>
        <p:spPr>
          <a:xfrm>
            <a:off x="609600" y="63246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7A8790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7A8790"/>
                </a:solidFill>
                <a:latin typeface="Calibri"/>
                <a:ea typeface="Calibri"/>
                <a:cs typeface="Calibri"/>
              </a:rPr>
              <a:t>ProgramManager demo | 2026-07-01</a:t>
            </a:r>
          </a:p>
        </p:txBody>
      </p:sp>
      <p:sp>
        <p:nvSpPr>
          <p:cNvPr id="4" name="">
            <a:extLst>
              <a:ext uri="{FF2B5EF4-FFF2-40B4-BE49-F238E27FC236}">
                <a16:creationId id="{084D86BA-8024-4E22-8C01-0AC5353ADC26}"/>
              </a:ext>
            </a:extLst>
          </p:cNvPr>
          <p:cNvSpPr>
            <a:spLocks noGrp="1"/>
          </p:cNvSpPr>
          <p:nvPr/>
        </p:nvSpPr>
        <p:spPr>
          <a:xfrm>
            <a:off x="685800" y="1447800"/>
            <a:ext cx="19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19C8B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9C8BD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5" name="">
            <a:extLst>
              <a:ext uri="{FF2B5EF4-FFF2-40B4-BE49-F238E27FC236}">
                <a16:creationId id="{E050E7AD-8633-4F1C-AE73-7853889AEEF0}"/>
              </a:ext>
            </a:extLst>
          </p:cNvPr>
          <p:cNvSpPr>
            <a:spLocks noGrp="1"/>
          </p:cNvSpPr>
          <p:nvPr/>
        </p:nvSpPr>
        <p:spPr>
          <a:xfrm>
            <a:off x="952500" y="1428750"/>
            <a:ext cx="449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650" b="0">
                <a:solidFill>
                  <a:srgbClr val="53616B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3616B"/>
                </a:solidFill>
                <a:latin typeface="Calibri"/>
                <a:ea typeface="Calibri"/>
                <a:cs typeface="Calibri"/>
              </a:rPr>
              <a:t>Short complete updates can finalize a confirmed daily status.</a:t>
            </a:r>
          </a:p>
        </p:txBody>
      </p:sp>
      <p:sp>
        <p:nvSpPr>
          <p:cNvPr id="6" name="">
            <a:extLst>
              <a:ext uri="{FF2B5EF4-FFF2-40B4-BE49-F238E27FC236}">
                <a16:creationId id="{5D871383-9081-419D-A993-F06689402E5A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9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19C8B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9C8BD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7" name="">
            <a:extLst>
              <a:ext uri="{FF2B5EF4-FFF2-40B4-BE49-F238E27FC236}">
                <a16:creationId id="{14AAE8BC-9021-4889-A58B-C64F182B8739}"/>
              </a:ext>
            </a:extLst>
          </p:cNvPr>
          <p:cNvSpPr>
            <a:spLocks noGrp="1"/>
          </p:cNvSpPr>
          <p:nvPr/>
        </p:nvSpPr>
        <p:spPr>
          <a:xfrm>
            <a:off x="952500" y="2038350"/>
            <a:ext cx="449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650" b="0">
                <a:solidFill>
                  <a:srgbClr val="53616B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3616B"/>
                </a:solidFill>
                <a:latin typeface="Calibri"/>
                <a:ea typeface="Calibri"/>
                <a:cs typeface="Calibri"/>
              </a:rPr>
              <a:t>Explicit blocker text is preserved in the status summary.</a:t>
            </a:r>
          </a:p>
        </p:txBody>
      </p:sp>
      <p:sp>
        <p:nvSpPr>
          <p:cNvPr id="8" name="">
            <a:extLst>
              <a:ext uri="{FF2B5EF4-FFF2-40B4-BE49-F238E27FC236}">
                <a16:creationId id="{43D02F92-E38A-4BF5-8E0F-53DE42726835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19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19C8B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9C8BD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9" name="">
            <a:extLst>
              <a:ext uri="{FF2B5EF4-FFF2-40B4-BE49-F238E27FC236}">
                <a16:creationId id="{B55C0F34-B6C7-4E9C-A486-52A6556990AB}"/>
              </a:ext>
            </a:extLst>
          </p:cNvPr>
          <p:cNvSpPr>
            <a:spLocks noGrp="1"/>
          </p:cNvSpPr>
          <p:nvPr/>
        </p:nvSpPr>
        <p:spPr>
          <a:xfrm>
            <a:off x="952500" y="2647950"/>
            <a:ext cx="449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650" b="0">
                <a:solidFill>
                  <a:srgbClr val="53616B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3616B"/>
                </a:solidFill>
                <a:latin typeface="Calibri"/>
                <a:ea typeface="Calibri"/>
                <a:cs typeface="Calibri"/>
              </a:rPr>
              <a:t>Trivial acknowledgements such as ok stay open instead of becoming false green.</a:t>
            </a:r>
          </a:p>
        </p:txBody>
      </p:sp>
      <p:sp>
        <p:nvSpPr>
          <p:cNvPr id="10" name="">
            <a:extLst>
              <a:ext uri="{FF2B5EF4-FFF2-40B4-BE49-F238E27FC236}">
                <a16:creationId id="{4F23BB40-DE40-4ED4-8582-5E2C226EDAD7}"/>
              </a:ext>
            </a:extLst>
          </p:cNvPr>
          <p:cNvSpPr>
            <a:spLocks noGrp="1"/>
          </p:cNvSpPr>
          <p:nvPr/>
        </p:nvSpPr>
        <p:spPr>
          <a:xfrm>
            <a:off x="685800" y="3276600"/>
            <a:ext cx="19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19C8B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9C8BD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11" name="">
            <a:extLst>
              <a:ext uri="{FF2B5EF4-FFF2-40B4-BE49-F238E27FC236}">
                <a16:creationId id="{ED967A40-C60C-44F9-9698-63C7159D8E76}"/>
              </a:ext>
            </a:extLst>
          </p:cNvPr>
          <p:cNvSpPr>
            <a:spLocks noGrp="1"/>
          </p:cNvSpPr>
          <p:nvPr/>
        </p:nvSpPr>
        <p:spPr>
          <a:xfrm>
            <a:off x="952500" y="3257550"/>
            <a:ext cx="449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650" b="0">
                <a:solidFill>
                  <a:srgbClr val="53616B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3616B"/>
                </a:solidFill>
                <a:latin typeface="Calibri"/>
                <a:ea typeface="Calibri"/>
                <a:cs typeface="Calibri"/>
              </a:rPr>
              <a:t>Duplicate replies do not overwrite the first persisted final status.</a:t>
            </a:r>
          </a:p>
        </p:txBody>
      </p:sp>
      <p:sp>
        <p:nvSpPr>
          <p:cNvPr id="12" name="">
            <a:extLst>
              <a:ext uri="{FF2B5EF4-FFF2-40B4-BE49-F238E27FC236}">
                <a16:creationId id="{BCF98D3B-D854-4507-ACBA-BECDEDF266E1}"/>
              </a:ext>
            </a:extLst>
          </p:cNvPr>
          <p:cNvSpPr>
            <a:spLocks noGrp="1"/>
          </p:cNvSpPr>
          <p:nvPr/>
        </p:nvSpPr>
        <p:spPr>
          <a:xfrm>
            <a:off x="838200" y="4238625"/>
            <a:ext cx="1238250" cy="285750"/>
          </a:xfrm>
          <a:prstGeom prst="roundRect">
            <a:avLst>
              <a:gd name="adj" fmla="val 26667"/>
            </a:avLst>
          </a:prstGeom>
          <a:solidFill>
            <a:srgbClr val="EAF9F7"/>
          </a:solidFill>
          <a:ln w="9525">
            <a:solidFill>
              <a:srgbClr val="BDEEEB"/>
            </a:solidFill>
            <a:prstDash val="solid"/>
          </a:ln>
        </p:spPr>
      </p:sp>
      <p:sp>
        <p:nvSpPr>
          <p:cNvPr id="13" name="">
            <a:extLst>
              <a:ext uri="{FF2B5EF4-FFF2-40B4-BE49-F238E27FC236}">
                <a16:creationId id="{0D21C320-72A1-4D67-B2EB-A276402F6BB3}"/>
              </a:ext>
            </a:extLst>
          </p:cNvPr>
          <p:cNvSpPr>
            <a:spLocks noGrp="1"/>
          </p:cNvSpPr>
          <p:nvPr/>
        </p:nvSpPr>
        <p:spPr>
          <a:xfrm>
            <a:off x="952500" y="4295775"/>
            <a:ext cx="1009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12000"/>
              </a:lnSpc>
              <a:buNone/>
              <a:defRPr sz="975" b="1">
                <a:solidFill>
                  <a:srgbClr val="00AEB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0AEB8"/>
                </a:solidFill>
                <a:latin typeface="Calibri"/>
                <a:ea typeface="Calibri"/>
                <a:cs typeface="Calibri"/>
              </a:rPr>
              <a:t>Confirmed</a:t>
            </a:r>
          </a:p>
        </p:txBody>
      </p:sp>
      <p:sp>
        <p:nvSpPr>
          <p:cNvPr id="14" name="">
            <a:extLst>
              <a:ext uri="{FF2B5EF4-FFF2-40B4-BE49-F238E27FC236}">
                <a16:creationId id="{90BBBBC6-3839-4FA0-B6F2-BC2B0410F93F}"/>
              </a:ext>
            </a:extLst>
          </p:cNvPr>
          <p:cNvSpPr>
            <a:spLocks noGrp="1"/>
          </p:cNvSpPr>
          <p:nvPr/>
        </p:nvSpPr>
        <p:spPr>
          <a:xfrm>
            <a:off x="2286000" y="4238625"/>
            <a:ext cx="1143000" cy="285750"/>
          </a:xfrm>
          <a:prstGeom prst="roundRect">
            <a:avLst>
              <a:gd name="adj" fmla="val 26667"/>
            </a:avLst>
          </a:prstGeom>
          <a:solidFill>
            <a:srgbClr val="EAF9F7"/>
          </a:solidFill>
          <a:ln w="9525">
            <a:solidFill>
              <a:srgbClr val="BDEEEB"/>
            </a:solidFill>
            <a:prstDash val="solid"/>
          </a:ln>
        </p:spPr>
      </p:sp>
      <p:sp>
        <p:nvSpPr>
          <p:cNvPr id="15" name="">
            <a:extLst>
              <a:ext uri="{FF2B5EF4-FFF2-40B4-BE49-F238E27FC236}">
                <a16:creationId id="{CB8BE108-1798-4E47-8D4F-6B009AE00AF1}"/>
              </a:ext>
            </a:extLst>
          </p:cNvPr>
          <p:cNvSpPr>
            <a:spLocks noGrp="1"/>
          </p:cNvSpPr>
          <p:nvPr/>
        </p:nvSpPr>
        <p:spPr>
          <a:xfrm>
            <a:off x="2400300" y="4295775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12000"/>
              </a:lnSpc>
              <a:buNone/>
              <a:defRPr sz="975" b="1">
                <a:solidFill>
                  <a:srgbClr val="00AEB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0AEB8"/>
                </a:solidFill>
                <a:latin typeface="Calibri"/>
                <a:ea typeface="Calibri"/>
                <a:cs typeface="Calibri"/>
              </a:rPr>
              <a:t>Blocked</a:t>
            </a:r>
          </a:p>
        </p:txBody>
      </p:sp>
      <p:sp>
        <p:nvSpPr>
          <p:cNvPr id="16" name="">
            <a:extLst>
              <a:ext uri="{FF2B5EF4-FFF2-40B4-BE49-F238E27FC236}">
                <a16:creationId id="{3FABACC7-52B3-436C-92FE-EBD38C7B549C}"/>
              </a:ext>
            </a:extLst>
          </p:cNvPr>
          <p:cNvSpPr>
            <a:spLocks noGrp="1"/>
          </p:cNvSpPr>
          <p:nvPr/>
        </p:nvSpPr>
        <p:spPr>
          <a:xfrm>
            <a:off x="3638550" y="4238625"/>
            <a:ext cx="1314450" cy="285750"/>
          </a:xfrm>
          <a:prstGeom prst="roundRect">
            <a:avLst>
              <a:gd name="adj" fmla="val 26667"/>
            </a:avLst>
          </a:prstGeom>
          <a:solidFill>
            <a:srgbClr val="EAF9F7"/>
          </a:solidFill>
          <a:ln w="9525">
            <a:solidFill>
              <a:srgbClr val="BDEEEB"/>
            </a:solidFill>
            <a:prstDash val="solid"/>
          </a:ln>
        </p:spPr>
      </p:sp>
      <p:sp>
        <p:nvSpPr>
          <p:cNvPr id="17" name="">
            <a:extLst>
              <a:ext uri="{FF2B5EF4-FFF2-40B4-BE49-F238E27FC236}">
                <a16:creationId id="{CEC11DFB-D966-43A9-99A4-F004DC1907F1}"/>
              </a:ext>
            </a:extLst>
          </p:cNvPr>
          <p:cNvSpPr>
            <a:spLocks noGrp="1"/>
          </p:cNvSpPr>
          <p:nvPr/>
        </p:nvSpPr>
        <p:spPr>
          <a:xfrm>
            <a:off x="3752850" y="4295775"/>
            <a:ext cx="1085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12000"/>
              </a:lnSpc>
              <a:buNone/>
              <a:defRPr sz="975" b="1">
                <a:solidFill>
                  <a:srgbClr val="00AEB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0AEB8"/>
                </a:solidFill>
                <a:latin typeface="Calibri"/>
                <a:ea typeface="Calibri"/>
                <a:cs typeface="Calibri"/>
              </a:rPr>
              <a:t>Ambiguous</a:t>
            </a:r>
          </a:p>
        </p:txBody>
      </p:sp>
      <p:sp>
        <p:nvSpPr>
          <p:cNvPr id="18" name="">
            <a:extLst>
              <a:ext uri="{FF2B5EF4-FFF2-40B4-BE49-F238E27FC236}">
                <a16:creationId id="{4A62CEFF-43F7-40E8-8D6F-2F26DA929D5E}"/>
              </a:ext>
            </a:extLst>
          </p:cNvPr>
          <p:cNvSpPr>
            <a:spLocks noGrp="1"/>
          </p:cNvSpPr>
          <p:nvPr/>
        </p:nvSpPr>
        <p:spPr>
          <a:xfrm>
            <a:off x="800100" y="4762500"/>
            <a:ext cx="4667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213E5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13E50"/>
                </a:solidFill>
                <a:latin typeface="Calibri"/>
                <a:ea typeface="Calibri"/>
                <a:cs typeface="Calibri"/>
              </a:rPr>
              <a:t>This matters because the product promise depends on trustworthy rollups, not optimistic defaults.</a:t>
            </a:r>
          </a:p>
        </p:txBody>
      </p:sp>
      <p:sp>
        <p:nvSpPr>
          <p:cNvPr id="19" name="">
            <a:extLst>
              <a:ext uri="{FF2B5EF4-FFF2-40B4-BE49-F238E27FC236}">
                <a16:creationId id="{D5CF6626-30FF-42EC-9CB0-E294BC3E1B63}"/>
              </a:ext>
            </a:extLst>
          </p:cNvPr>
          <p:cNvSpPr>
            <a:spLocks noGrp="1"/>
          </p:cNvSpPr>
          <p:nvPr/>
        </p:nvSpPr>
        <p:spPr>
          <a:xfrm>
            <a:off x="5943600" y="1352550"/>
            <a:ext cx="5391150" cy="4267200"/>
          </a:xfrm>
          <a:prstGeom prst="roundRect">
            <a:avLst>
              <a:gd name="adj" fmla="val 2232"/>
            </a:avLst>
          </a:prstGeom>
          <a:solidFill>
            <a:srgbClr val="F4FBFA"/>
          </a:solidFill>
          <a:ln w="9525">
            <a:solidFill>
              <a:srgbClr val="E7ECEF"/>
            </a:solidFill>
            <a:prstDash val="solid"/>
          </a:ln>
        </p:spPr>
      </p:sp>
      <p:pic>
        <p:nvPicPr>
          <p:cNvPr id="40" name=""/>
          <p:cNvPicPr>
            <a:picLocks noChangeAspect="1"/>
          </p:cNvPicPr>
          <p:nvPr/>
        </p:nvPicPr>
        <p:blipFill>
          <a:blip r:embed="R5303176b1aeb4d15"/>
          <a:srcRect l="10383" t="0" r="10383" b="0"/>
          <a:stretch>
            <a:fillRect l="0" t="0" r="0" b="0"/>
          </a:stretch>
        </p:blipFill>
        <p:spPr>
          <a:xfrm>
            <a:off x="6019800" y="1428750"/>
            <a:ext cx="5238750" cy="4114800"/>
          </a:xfrm>
          <a:prstGeom prst="rect">
            <a:avLst/>
          </a:prstGeom>
        </p:spPr>
      </p:pic>
    </p:spTree>
    <p:extLst>
      <p:ext uri="{BB962C8B-B14F-4D97-AF65-F5344CB8AC3E}">
        <p14:creationId val="1762994556"/>
      </p:ext>
    </p:extLst>
  </p:cSld>
</p:sld>
</file>

<file path=ppt/slides/slide7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" name="slide-title">
            <a:extLst>
              <a:ext uri="{FF2B5EF4-FFF2-40B4-BE49-F238E27FC236}">
                <a16:creationId id="{37CF041E-E7A1-4480-B8D7-9C0ACDBD857F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933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2850" b="1">
                <a:solidFill>
                  <a:srgbClr val="213E50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213E50"/>
                </a:solidFill>
                <a:latin typeface="Calibri"/>
                <a:ea typeface="Calibri"/>
                <a:cs typeface="Calibri"/>
              </a:rPr>
              <a:t>Leaders now have portfolio flow visibility</a:t>
            </a:r>
          </a:p>
        </p:txBody>
      </p:sp>
      <p:sp>
        <p:nvSpPr>
          <p:cNvPr id="2" name="">
            <a:extLst>
              <a:ext uri="{FF2B5EF4-FFF2-40B4-BE49-F238E27FC236}">
                <a16:creationId id="{D6FFD9C1-F1DA-47E1-830E-260B5347BCFE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0"/>
          </a:xfrm>
          <a:prstGeom prst="line">
            <a:avLst/>
          </a:prstGeom>
          <a:noFill/>
          <a:ln w="19050">
            <a:solidFill>
              <a:srgbClr val="19C8BD"/>
            </a:solidFill>
            <a:prstDash val="solid"/>
          </a:ln>
        </p:spPr>
      </p:sp>
      <p:sp>
        <p:nvSpPr>
          <p:cNvPr id="3" name="footer">
            <a:extLst>
              <a:ext uri="{FF2B5EF4-FFF2-40B4-BE49-F238E27FC236}">
                <a16:creationId id="{FEE44882-1610-47B8-B367-21931B629955}"/>
              </a:ext>
            </a:extLst>
          </p:cNvPr>
          <p:cNvSpPr>
            <a:spLocks noGrp="1"/>
          </p:cNvSpPr>
          <p:nvPr/>
        </p:nvSpPr>
        <p:spPr>
          <a:xfrm>
            <a:off x="609600" y="63246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7A8790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7A8790"/>
                </a:solidFill>
                <a:latin typeface="Calibri"/>
                <a:ea typeface="Calibri"/>
                <a:cs typeface="Calibri"/>
              </a:rPr>
              <a:t>ProgramManager demo | 2026-07-01</a:t>
            </a:r>
          </a:p>
        </p:txBody>
      </p:sp>
      <p:sp>
        <p:nvSpPr>
          <p:cNvPr id="4" name="">
            <a:extLst>
              <a:ext uri="{FF2B5EF4-FFF2-40B4-BE49-F238E27FC236}">
                <a16:creationId id="{A5CC1B6D-5FCE-43FA-AE33-93ACF341F59C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8286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2025" b="1">
                <a:solidFill>
                  <a:srgbClr val="213E5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213E50"/>
                </a:solidFill>
                <a:latin typeface="Calibri"/>
                <a:ea typeface="Calibri"/>
                <a:cs typeface="Calibri"/>
              </a:rPr>
              <a:t>The most recent feature work lifts the same source-backed status into program and portfolio views.</a:t>
            </a:r>
          </a:p>
        </p:txBody>
      </p:sp>
      <p:sp>
        <p:nvSpPr>
          <p:cNvPr id="5" name="">
            <a:extLst>
              <a:ext uri="{FF2B5EF4-FFF2-40B4-BE49-F238E27FC236}">
                <a16:creationId id="{9B14E7D6-22E2-49C0-BA6A-C8DDC57D471A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3314700" cy="2857500"/>
          </a:xfrm>
          <a:prstGeom prst="roundRect">
            <a:avLst>
              <a:gd name="adj" fmla="val 2667"/>
            </a:avLst>
          </a:prstGeom>
          <a:solidFill>
            <a:srgbClr val="F4FBFA"/>
          </a:solidFill>
          <a:ln w="9525">
            <a:solidFill>
              <a:srgbClr val="E7ECEF"/>
            </a:solidFill>
            <a:prstDash val="solid"/>
          </a:ln>
        </p:spPr>
      </p:sp>
      <p:sp>
        <p:nvSpPr>
          <p:cNvPr id="6" name="">
            <a:extLst>
              <a:ext uri="{FF2B5EF4-FFF2-40B4-BE49-F238E27FC236}">
                <a16:creationId id="{A0975F5D-6BEB-426C-AD40-203172119664}"/>
              </a:ext>
            </a:extLst>
          </p:cNvPr>
          <p:cNvSpPr>
            <a:spLocks noGrp="1"/>
          </p:cNvSpPr>
          <p:nvPr/>
        </p:nvSpPr>
        <p:spPr>
          <a:xfrm>
            <a:off x="895350" y="2571750"/>
            <a:ext cx="2895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725" b="1">
                <a:solidFill>
                  <a:srgbClr val="00AEB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0AEB8"/>
                </a:solidFill>
                <a:latin typeface="Calibri"/>
                <a:ea typeface="Calibri"/>
                <a:cs typeface="Calibri"/>
              </a:rPr>
              <a:t>Executive signal</a:t>
            </a:r>
          </a:p>
        </p:txBody>
      </p:sp>
      <p:sp>
        <p:nvSpPr>
          <p:cNvPr id="7" name="">
            <a:extLst>
              <a:ext uri="{FF2B5EF4-FFF2-40B4-BE49-F238E27FC236}">
                <a16:creationId id="{F34407A9-6865-4E9C-9DEA-4588E8AF242A}"/>
              </a:ext>
            </a:extLst>
          </p:cNvPr>
          <p:cNvSpPr>
            <a:spLocks noGrp="1"/>
          </p:cNvSpPr>
          <p:nvPr/>
        </p:nvSpPr>
        <p:spPr>
          <a:xfrm>
            <a:off x="895350" y="3067050"/>
            <a:ext cx="19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19C8B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C8BD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8" name="">
            <a:extLst>
              <a:ext uri="{FF2B5EF4-FFF2-40B4-BE49-F238E27FC236}">
                <a16:creationId id="{CDA90BBF-6E11-4A00-934F-2F5597E1D836}"/>
              </a:ext>
            </a:extLst>
          </p:cNvPr>
          <p:cNvSpPr>
            <a:spLocks noGrp="1"/>
          </p:cNvSpPr>
          <p:nvPr/>
        </p:nvSpPr>
        <p:spPr>
          <a:xfrm>
            <a:off x="1162050" y="3048000"/>
            <a:ext cx="2628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361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16B"/>
                </a:solidFill>
                <a:latin typeface="Calibri"/>
                <a:ea typeface="Calibri"/>
                <a:cs typeface="Calibri"/>
              </a:rPr>
              <a:t>Portfolio page selects a program root and as-of date.</a:t>
            </a:r>
          </a:p>
        </p:txBody>
      </p:sp>
      <p:sp>
        <p:nvSpPr>
          <p:cNvPr id="9" name="">
            <a:extLst>
              <a:ext uri="{FF2B5EF4-FFF2-40B4-BE49-F238E27FC236}">
                <a16:creationId id="{F6A40B57-C84E-4FCB-8608-A5C57BDB0DB3}"/>
              </a:ext>
            </a:extLst>
          </p:cNvPr>
          <p:cNvSpPr>
            <a:spLocks noGrp="1"/>
          </p:cNvSpPr>
          <p:nvPr/>
        </p:nvSpPr>
        <p:spPr>
          <a:xfrm>
            <a:off x="895350" y="3543300"/>
            <a:ext cx="19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19C8B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C8BD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10" name="">
            <a:extLst>
              <a:ext uri="{FF2B5EF4-FFF2-40B4-BE49-F238E27FC236}">
                <a16:creationId id="{F80DE49A-3341-4E9F-9B07-419D171E4021}"/>
              </a:ext>
            </a:extLst>
          </p:cNvPr>
          <p:cNvSpPr>
            <a:spLocks noGrp="1"/>
          </p:cNvSpPr>
          <p:nvPr/>
        </p:nvSpPr>
        <p:spPr>
          <a:xfrm>
            <a:off x="1162050" y="3524250"/>
            <a:ext cx="2628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361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16B"/>
                </a:solidFill>
                <a:latin typeface="Calibri"/>
                <a:ea typeface="Calibri"/>
                <a:cs typeface="Calibri"/>
              </a:rPr>
              <a:t>Heatmap cells show RAG by entity kind and ID.</a:t>
            </a:r>
          </a:p>
        </p:txBody>
      </p:sp>
      <p:sp>
        <p:nvSpPr>
          <p:cNvPr id="11" name="">
            <a:extLst>
              <a:ext uri="{FF2B5EF4-FFF2-40B4-BE49-F238E27FC236}">
                <a16:creationId id="{64C8DFB4-80C9-4516-8479-834FA2D5631E}"/>
              </a:ext>
            </a:extLst>
          </p:cNvPr>
          <p:cNvSpPr>
            <a:spLocks noGrp="1"/>
          </p:cNvSpPr>
          <p:nvPr/>
        </p:nvSpPr>
        <p:spPr>
          <a:xfrm>
            <a:off x="895350" y="4019550"/>
            <a:ext cx="19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19C8B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C8BD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12" name="">
            <a:extLst>
              <a:ext uri="{FF2B5EF4-FFF2-40B4-BE49-F238E27FC236}">
                <a16:creationId id="{4BEC1AFC-B1BE-48B4-82C6-55722605DB48}"/>
              </a:ext>
            </a:extLst>
          </p:cNvPr>
          <p:cNvSpPr>
            <a:spLocks noGrp="1"/>
          </p:cNvSpPr>
          <p:nvPr/>
        </p:nvSpPr>
        <p:spPr>
          <a:xfrm>
            <a:off x="1162050" y="4000500"/>
            <a:ext cx="2628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361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16B"/>
                </a:solidFill>
                <a:latin typeface="Calibri"/>
                <a:ea typeface="Calibri"/>
                <a:cs typeface="Calibri"/>
              </a:rPr>
              <a:t>Tree and cell data carry source, confidence, and factors.</a:t>
            </a:r>
          </a:p>
        </p:txBody>
      </p:sp>
      <p:sp>
        <p:nvSpPr>
          <p:cNvPr id="13" name="">
            <a:extLst>
              <a:ext uri="{FF2B5EF4-FFF2-40B4-BE49-F238E27FC236}">
                <a16:creationId id="{412739BC-7860-48AA-8FB4-4F7C8A57067E}"/>
              </a:ext>
            </a:extLst>
          </p:cNvPr>
          <p:cNvSpPr>
            <a:spLocks noGrp="1"/>
          </p:cNvSpPr>
          <p:nvPr/>
        </p:nvSpPr>
        <p:spPr>
          <a:xfrm>
            <a:off x="4438650" y="2381250"/>
            <a:ext cx="3314700" cy="2857500"/>
          </a:xfrm>
          <a:prstGeom prst="roundRect">
            <a:avLst>
              <a:gd name="adj" fmla="val 2667"/>
            </a:avLst>
          </a:prstGeom>
          <a:solidFill>
            <a:srgbClr val="F4FBFA"/>
          </a:solidFill>
          <a:ln w="9525">
            <a:solidFill>
              <a:srgbClr val="E7ECEF"/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a16:creationId id="{8D7B2F70-D23F-485F-984B-F26EE3BF0199}"/>
              </a:ext>
            </a:extLst>
          </p:cNvPr>
          <p:cNvSpPr>
            <a:spLocks noGrp="1"/>
          </p:cNvSpPr>
          <p:nvPr/>
        </p:nvSpPr>
        <p:spPr>
          <a:xfrm>
            <a:off x="4648200" y="2571750"/>
            <a:ext cx="2895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725" b="1">
                <a:solidFill>
                  <a:srgbClr val="00AEB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0AEB8"/>
                </a:solidFill>
                <a:latin typeface="Calibri"/>
                <a:ea typeface="Calibri"/>
                <a:cs typeface="Calibri"/>
              </a:rPr>
              <a:t>Manager signal</a:t>
            </a:r>
          </a:p>
        </p:txBody>
      </p:sp>
      <p:sp>
        <p:nvSpPr>
          <p:cNvPr id="15" name="">
            <a:extLst>
              <a:ext uri="{FF2B5EF4-FFF2-40B4-BE49-F238E27FC236}">
                <a16:creationId id="{23066229-E5AA-4C51-8A77-8B01CDCB2A5A}"/>
              </a:ext>
            </a:extLst>
          </p:cNvPr>
          <p:cNvSpPr>
            <a:spLocks noGrp="1"/>
          </p:cNvSpPr>
          <p:nvPr/>
        </p:nvSpPr>
        <p:spPr>
          <a:xfrm>
            <a:off x="4648200" y="3067050"/>
            <a:ext cx="19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19C8B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C8BD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16" name="">
            <a:extLst>
              <a:ext uri="{FF2B5EF4-FFF2-40B4-BE49-F238E27FC236}">
                <a16:creationId id="{AF418745-3C8F-4043-A1EE-2E7EE395F37D}"/>
              </a:ext>
            </a:extLst>
          </p:cNvPr>
          <p:cNvSpPr>
            <a:spLocks noGrp="1"/>
          </p:cNvSpPr>
          <p:nvPr/>
        </p:nvSpPr>
        <p:spPr>
          <a:xfrm>
            <a:off x="4914900" y="3048000"/>
            <a:ext cx="2628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361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16B"/>
                </a:solidFill>
                <a:latin typeface="Calibri"/>
                <a:ea typeface="Calibri"/>
                <a:cs typeface="Calibri"/>
              </a:rPr>
              <a:t>Program health rolls up from projects, pods, and developers.</a:t>
            </a:r>
          </a:p>
        </p:txBody>
      </p:sp>
      <p:sp>
        <p:nvSpPr>
          <p:cNvPr id="17" name="">
            <a:extLst>
              <a:ext uri="{FF2B5EF4-FFF2-40B4-BE49-F238E27FC236}">
                <a16:creationId id="{75F05C6A-8383-48E0-9A94-0C1A18AA9680}"/>
              </a:ext>
            </a:extLst>
          </p:cNvPr>
          <p:cNvSpPr>
            <a:spLocks noGrp="1"/>
          </p:cNvSpPr>
          <p:nvPr/>
        </p:nvSpPr>
        <p:spPr>
          <a:xfrm>
            <a:off x="4648200" y="3543300"/>
            <a:ext cx="19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19C8B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C8BD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18" name="">
            <a:extLst>
              <a:ext uri="{FF2B5EF4-FFF2-40B4-BE49-F238E27FC236}">
                <a16:creationId id="{E3988383-8537-4468-B663-524C03CF45AF}"/>
              </a:ext>
            </a:extLst>
          </p:cNvPr>
          <p:cNvSpPr>
            <a:spLocks noGrp="1"/>
          </p:cNvSpPr>
          <p:nvPr/>
        </p:nvSpPr>
        <p:spPr>
          <a:xfrm>
            <a:off x="4914900" y="3524250"/>
            <a:ext cx="2628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361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16B"/>
                </a:solidFill>
                <a:latin typeface="Calibri"/>
                <a:ea typeface="Calibri"/>
                <a:cs typeface="Calibri"/>
              </a:rPr>
              <a:t>Unknown and stale statuses remain visible.</a:t>
            </a:r>
          </a:p>
        </p:txBody>
      </p:sp>
      <p:sp>
        <p:nvSpPr>
          <p:cNvPr id="19" name="">
            <a:extLst>
              <a:ext uri="{FF2B5EF4-FFF2-40B4-BE49-F238E27FC236}">
                <a16:creationId id="{AC2042E2-5186-4140-BD73-E978CD30EC91}"/>
              </a:ext>
            </a:extLst>
          </p:cNvPr>
          <p:cNvSpPr>
            <a:spLocks noGrp="1"/>
          </p:cNvSpPr>
          <p:nvPr/>
        </p:nvSpPr>
        <p:spPr>
          <a:xfrm>
            <a:off x="4648200" y="4019550"/>
            <a:ext cx="19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19C8B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C8BD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20" name="">
            <a:extLst>
              <a:ext uri="{FF2B5EF4-FFF2-40B4-BE49-F238E27FC236}">
                <a16:creationId id="{736A6881-5911-4810-BF27-839329FB59DC}"/>
              </a:ext>
            </a:extLst>
          </p:cNvPr>
          <p:cNvSpPr>
            <a:spLocks noGrp="1"/>
          </p:cNvSpPr>
          <p:nvPr/>
        </p:nvSpPr>
        <p:spPr>
          <a:xfrm>
            <a:off x="4914900" y="4000500"/>
            <a:ext cx="2628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361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16B"/>
                </a:solidFill>
                <a:latin typeface="Calibri"/>
                <a:ea typeface="Calibri"/>
                <a:cs typeface="Calibri"/>
              </a:rPr>
              <a:t>Drill-oriented factors explain why a node changed color.</a:t>
            </a:r>
          </a:p>
        </p:txBody>
      </p:sp>
      <p:sp>
        <p:nvSpPr>
          <p:cNvPr id="21" name="">
            <a:extLst>
              <a:ext uri="{FF2B5EF4-FFF2-40B4-BE49-F238E27FC236}">
                <a16:creationId id="{2A0AD187-AEFA-40EC-9D59-5889A49FD031}"/>
              </a:ext>
            </a:extLst>
          </p:cNvPr>
          <p:cNvSpPr>
            <a:spLocks noGrp="1"/>
          </p:cNvSpPr>
          <p:nvPr/>
        </p:nvSpPr>
        <p:spPr>
          <a:xfrm>
            <a:off x="8191500" y="2381250"/>
            <a:ext cx="3314700" cy="2857500"/>
          </a:xfrm>
          <a:prstGeom prst="roundRect">
            <a:avLst>
              <a:gd name="adj" fmla="val 2667"/>
            </a:avLst>
          </a:prstGeom>
          <a:solidFill>
            <a:srgbClr val="F4FBFA"/>
          </a:solidFill>
          <a:ln w="9525">
            <a:solidFill>
              <a:srgbClr val="E7ECEF"/>
            </a:solidFill>
            <a:prstDash val="solid"/>
          </a:ln>
        </p:spPr>
      </p:sp>
      <p:sp>
        <p:nvSpPr>
          <p:cNvPr id="22" name="">
            <a:extLst>
              <a:ext uri="{FF2B5EF4-FFF2-40B4-BE49-F238E27FC236}">
                <a16:creationId id="{BCC19510-4AB0-40E0-9A8D-33E096D5377F}"/>
              </a:ext>
            </a:extLst>
          </p:cNvPr>
          <p:cNvSpPr>
            <a:spLocks noGrp="1"/>
          </p:cNvSpPr>
          <p:nvPr/>
        </p:nvSpPr>
        <p:spPr>
          <a:xfrm>
            <a:off x="8401050" y="2571750"/>
            <a:ext cx="2895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725" b="1">
                <a:solidFill>
                  <a:srgbClr val="00AEB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0AEB8"/>
                </a:solidFill>
                <a:latin typeface="Calibri"/>
                <a:ea typeface="Calibri"/>
                <a:cs typeface="Calibri"/>
              </a:rPr>
              <a:t>Trust boundary</a:t>
            </a:r>
          </a:p>
        </p:txBody>
      </p:sp>
      <p:sp>
        <p:nvSpPr>
          <p:cNvPr id="23" name="">
            <a:extLst>
              <a:ext uri="{FF2B5EF4-FFF2-40B4-BE49-F238E27FC236}">
                <a16:creationId id="{B40678BA-C7BD-49AF-A3B6-B1B1B7AD012B}"/>
              </a:ext>
            </a:extLst>
          </p:cNvPr>
          <p:cNvSpPr>
            <a:spLocks noGrp="1"/>
          </p:cNvSpPr>
          <p:nvPr/>
        </p:nvSpPr>
        <p:spPr>
          <a:xfrm>
            <a:off x="8401050" y="3067050"/>
            <a:ext cx="19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19C8B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C8BD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24" name="">
            <a:extLst>
              <a:ext uri="{FF2B5EF4-FFF2-40B4-BE49-F238E27FC236}">
                <a16:creationId id="{E51BE1D9-8342-455D-9748-66F79734A0E5}"/>
              </a:ext>
            </a:extLst>
          </p:cNvPr>
          <p:cNvSpPr>
            <a:spLocks noGrp="1"/>
          </p:cNvSpPr>
          <p:nvPr/>
        </p:nvSpPr>
        <p:spPr>
          <a:xfrm>
            <a:off x="8667750" y="3048000"/>
            <a:ext cx="2628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361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16B"/>
                </a:solidFill>
                <a:latin typeface="Calibri"/>
                <a:ea typeface="Calibri"/>
                <a:cs typeface="Calibri"/>
              </a:rPr>
              <a:t>Executives see aggregates, not raw developer DM text.</a:t>
            </a:r>
          </a:p>
        </p:txBody>
      </p:sp>
      <p:sp>
        <p:nvSpPr>
          <p:cNvPr id="25" name="">
            <a:extLst>
              <a:ext uri="{FF2B5EF4-FFF2-40B4-BE49-F238E27FC236}">
                <a16:creationId id="{FBD28384-D07E-4749-B79E-6FF9E1A80499}"/>
              </a:ext>
            </a:extLst>
          </p:cNvPr>
          <p:cNvSpPr>
            <a:spLocks noGrp="1"/>
          </p:cNvSpPr>
          <p:nvPr/>
        </p:nvSpPr>
        <p:spPr>
          <a:xfrm>
            <a:off x="8401050" y="3543300"/>
            <a:ext cx="19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19C8B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C8BD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26" name="">
            <a:extLst>
              <a:ext uri="{FF2B5EF4-FFF2-40B4-BE49-F238E27FC236}">
                <a16:creationId id="{BF15D1EC-4735-42B0-8BBB-463B6521490A}"/>
              </a:ext>
            </a:extLst>
          </p:cNvPr>
          <p:cNvSpPr>
            <a:spLocks noGrp="1"/>
          </p:cNvSpPr>
          <p:nvPr/>
        </p:nvSpPr>
        <p:spPr>
          <a:xfrm>
            <a:off x="8667750" y="3524250"/>
            <a:ext cx="2628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361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16B"/>
                </a:solidFill>
                <a:latin typeface="Calibri"/>
                <a:ea typeface="Calibri"/>
                <a:cs typeface="Calibri"/>
              </a:rPr>
              <a:t>Portfolio navigation is role-gated.</a:t>
            </a:r>
          </a:p>
        </p:txBody>
      </p:sp>
      <p:sp>
        <p:nvSpPr>
          <p:cNvPr id="27" name="">
            <a:extLst>
              <a:ext uri="{FF2B5EF4-FFF2-40B4-BE49-F238E27FC236}">
                <a16:creationId id="{2108F1D3-F4B0-43D9-BDF8-63E8B01B3D16}"/>
              </a:ext>
            </a:extLst>
          </p:cNvPr>
          <p:cNvSpPr>
            <a:spLocks noGrp="1"/>
          </p:cNvSpPr>
          <p:nvPr/>
        </p:nvSpPr>
        <p:spPr>
          <a:xfrm>
            <a:off x="8401050" y="4019550"/>
            <a:ext cx="19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19C8B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C8BD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28" name="">
            <a:extLst>
              <a:ext uri="{FF2B5EF4-FFF2-40B4-BE49-F238E27FC236}">
                <a16:creationId id="{79FC86BA-73E5-48E0-9120-B24C6DEA2FAE}"/>
              </a:ext>
            </a:extLst>
          </p:cNvPr>
          <p:cNvSpPr>
            <a:spLocks noGrp="1"/>
          </p:cNvSpPr>
          <p:nvPr/>
        </p:nvSpPr>
        <p:spPr>
          <a:xfrm>
            <a:off x="8667750" y="4000500"/>
            <a:ext cx="2628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361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16B"/>
                </a:solidFill>
                <a:latin typeface="Calibri"/>
                <a:ea typeface="Calibri"/>
                <a:cs typeface="Calibri"/>
              </a:rPr>
              <a:t>Admin can still manage the hierarchy and dispatch workflows.</a:t>
            </a:r>
          </a:p>
        </p:txBody>
      </p:sp>
      <p:sp>
        <p:nvSpPr>
          <p:cNvPr id="29" name="">
            <a:extLst>
              <a:ext uri="{FF2B5EF4-FFF2-40B4-BE49-F238E27FC236}">
                <a16:creationId id="{071D4B4A-4A13-4C2D-9EE7-059337330BC0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762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7A879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A8790"/>
                </a:solidFill>
                <a:latin typeface="Calibri"/>
                <a:ea typeface="Calibri"/>
                <a:cs typeface="Calibri"/>
              </a:rPr>
              <a:t>Anchor commit: cc64268 feat: give leaders portfolio flow visibility</a:t>
            </a:r>
          </a:p>
        </p:txBody>
      </p:sp>
    </p:spTree>
    <p:extLst>
      <p:ext uri="{BB962C8B-B14F-4D97-AF65-F5344CB8AC3E}">
        <p14:creationId val="2099213889"/>
      </p:ext>
    </p:extLst>
  </p:cSld>
</p:sld>
</file>

<file path=ppt/slides/slide8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" name="slide-title">
            <a:extLst>
              <a:ext uri="{FF2B5EF4-FFF2-40B4-BE49-F238E27FC236}">
                <a16:creationId id="{69265610-CF06-488E-B09C-B3982ACB86D4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933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2850" b="1">
                <a:solidFill>
                  <a:srgbClr val="213E50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213E50"/>
                </a:solidFill>
                <a:latin typeface="Calibri"/>
                <a:ea typeface="Calibri"/>
                <a:cs typeface="Calibri"/>
              </a:rPr>
              <a:t>Provider seams made the demo stack credible</a:t>
            </a:r>
          </a:p>
        </p:txBody>
      </p:sp>
      <p:sp>
        <p:nvSpPr>
          <p:cNvPr id="2" name="">
            <a:extLst>
              <a:ext uri="{FF2B5EF4-FFF2-40B4-BE49-F238E27FC236}">
                <a16:creationId id="{E9C5ABA6-A0CA-4F2F-8877-0BD52BD9C30C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0"/>
          </a:xfrm>
          <a:prstGeom prst="line">
            <a:avLst/>
          </a:prstGeom>
          <a:noFill/>
          <a:ln w="19050">
            <a:solidFill>
              <a:srgbClr val="19C8BD"/>
            </a:solidFill>
            <a:prstDash val="solid"/>
          </a:ln>
        </p:spPr>
      </p:sp>
      <p:sp>
        <p:nvSpPr>
          <p:cNvPr id="3" name="footer">
            <a:extLst>
              <a:ext uri="{FF2B5EF4-FFF2-40B4-BE49-F238E27FC236}">
                <a16:creationId id="{0AADD503-7362-4676-8B48-63176C2E0139}"/>
              </a:ext>
            </a:extLst>
          </p:cNvPr>
          <p:cNvSpPr>
            <a:spLocks noGrp="1"/>
          </p:cNvSpPr>
          <p:nvPr/>
        </p:nvSpPr>
        <p:spPr>
          <a:xfrm>
            <a:off x="609600" y="63246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7A8790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7A8790"/>
                </a:solidFill>
                <a:latin typeface="Calibri"/>
                <a:ea typeface="Calibri"/>
                <a:cs typeface="Calibri"/>
              </a:rPr>
              <a:t>ProgramManager demo | 2026-07-01</a:t>
            </a:r>
          </a:p>
        </p:txBody>
      </p:sp>
      <p:sp>
        <p:nvSpPr>
          <p:cNvPr id="4" name="">
            <a:extLst>
              <a:ext uri="{FF2B5EF4-FFF2-40B4-BE49-F238E27FC236}">
                <a16:creationId id="{7A66BEB2-2A0D-49E8-A0D8-60F0C9962E9C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8477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875" b="1">
                <a:solidFill>
                  <a:srgbClr val="213E50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13E50"/>
                </a:solidFill>
                <a:latin typeface="Calibri"/>
                <a:ea typeface="Calibri"/>
                <a:cs typeface="Calibri"/>
              </a:rPr>
              <a:t>The architecture work shows up directly in demo behavior: providers can change without rewriting the core application services.</a:t>
            </a:r>
          </a:p>
        </p:txBody>
      </p:sp>
      <p:sp>
        <p:nvSpPr>
          <p:cNvPr id="5" name="">
            <a:extLst>
              <a:ext uri="{FF2B5EF4-FFF2-40B4-BE49-F238E27FC236}">
                <a16:creationId id="{49506FB1-EEDB-4D96-81FA-65090AFE899F}"/>
              </a:ext>
            </a:extLst>
          </p:cNvPr>
          <p:cNvSpPr>
            <a:spLocks noGrp="1"/>
          </p:cNvSpPr>
          <p:nvPr/>
        </p:nvSpPr>
        <p:spPr>
          <a:xfrm>
            <a:off x="914400" y="2381250"/>
            <a:ext cx="10363200" cy="590550"/>
          </a:xfrm>
          <a:prstGeom prst="roundRect">
            <a:avLst>
              <a:gd name="adj" fmla="val 12903"/>
            </a:avLst>
          </a:prstGeom>
          <a:solidFill>
            <a:srgbClr val="F4FBFA"/>
          </a:solidFill>
          <a:ln w="9525">
            <a:solidFill>
              <a:srgbClr val="E7ECEF"/>
            </a:solidFill>
            <a:prstDash val="solid"/>
          </a:ln>
        </p:spPr>
      </p:sp>
      <p:sp>
        <p:nvSpPr>
          <p:cNvPr id="6" name="">
            <a:extLst>
              <a:ext uri="{FF2B5EF4-FFF2-40B4-BE49-F238E27FC236}">
                <a16:creationId id="{9A9EE57F-A2A4-4F9D-9BA3-8191061B9AC8}"/>
              </a:ext>
            </a:extLst>
          </p:cNvPr>
          <p:cNvSpPr>
            <a:spLocks noGrp="1"/>
          </p:cNvSpPr>
          <p:nvPr/>
        </p:nvSpPr>
        <p:spPr>
          <a:xfrm>
            <a:off x="1162050" y="25336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00AEB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AEB8"/>
                </a:solidFill>
                <a:latin typeface="Calibri"/>
                <a:ea typeface="Calibri"/>
                <a:cs typeface="Calibri"/>
              </a:rPr>
              <a:t>Chat</a:t>
            </a:r>
          </a:p>
        </p:txBody>
      </p:sp>
      <p:sp>
        <p:nvSpPr>
          <p:cNvPr id="7" name="">
            <a:extLst>
              <a:ext uri="{FF2B5EF4-FFF2-40B4-BE49-F238E27FC236}">
                <a16:creationId id="{ADD25F90-9DB1-4CFA-9D27-CE1E3845D3D4}"/>
              </a:ext>
            </a:extLst>
          </p:cNvPr>
          <p:cNvSpPr>
            <a:spLocks noGrp="1"/>
          </p:cNvSpPr>
          <p:nvPr/>
        </p:nvSpPr>
        <p:spPr>
          <a:xfrm>
            <a:off x="3048000" y="2552700"/>
            <a:ext cx="7620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53616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3616B"/>
                </a:solidFill>
                <a:latin typeface="Calibri"/>
                <a:ea typeface="Calibri"/>
                <a:cs typeface="Calibri"/>
              </a:rPr>
              <a:t>mock_slack locally, Slack-shaped webhook mapping at the edge</a:t>
            </a:r>
          </a:p>
        </p:txBody>
      </p:sp>
      <p:sp>
        <p:nvSpPr>
          <p:cNvPr id="8" name="">
            <a:extLst>
              <a:ext uri="{FF2B5EF4-FFF2-40B4-BE49-F238E27FC236}">
                <a16:creationId id="{404478C1-9807-4557-8767-06BB0D13C635}"/>
              </a:ext>
            </a:extLst>
          </p:cNvPr>
          <p:cNvSpPr>
            <a:spLocks noGrp="1"/>
          </p:cNvSpPr>
          <p:nvPr/>
        </p:nvSpPr>
        <p:spPr>
          <a:xfrm>
            <a:off x="914400" y="3067050"/>
            <a:ext cx="10363200" cy="590550"/>
          </a:xfrm>
          <a:prstGeom prst="roundRect">
            <a:avLst>
              <a:gd name="adj" fmla="val 12903"/>
            </a:avLst>
          </a:prstGeom>
          <a:solidFill>
            <a:srgbClr val="F4FBFA"/>
          </a:solidFill>
          <a:ln w="9525">
            <a:solidFill>
              <a:srgbClr val="E7ECEF"/>
            </a:solidFill>
            <a:prstDash val="solid"/>
          </a:ln>
        </p:spPr>
      </p:sp>
      <p:sp>
        <p:nvSpPr>
          <p:cNvPr id="9" name="">
            <a:extLst>
              <a:ext uri="{FF2B5EF4-FFF2-40B4-BE49-F238E27FC236}">
                <a16:creationId id="{B799E6FE-60A5-4C64-8CFB-973F593B6C1D}"/>
              </a:ext>
            </a:extLst>
          </p:cNvPr>
          <p:cNvSpPr>
            <a:spLocks noGrp="1"/>
          </p:cNvSpPr>
          <p:nvPr/>
        </p:nvSpPr>
        <p:spPr>
          <a:xfrm>
            <a:off x="1162050" y="32194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00AEB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AEB8"/>
                </a:solidFill>
                <a:latin typeface="Calibri"/>
                <a:ea typeface="Calibri"/>
                <a:cs typeface="Calibri"/>
              </a:rPr>
              <a:t>Directory</a:t>
            </a:r>
          </a:p>
        </p:txBody>
      </p:sp>
      <p:sp>
        <p:nvSpPr>
          <p:cNvPr id="10" name="">
            <a:extLst>
              <a:ext uri="{FF2B5EF4-FFF2-40B4-BE49-F238E27FC236}">
                <a16:creationId id="{FEAA873E-3506-48FE-92C2-CF55C7A2238F}"/>
              </a:ext>
            </a:extLst>
          </p:cNvPr>
          <p:cNvSpPr>
            <a:spLocks noGrp="1"/>
          </p:cNvSpPr>
          <p:nvPr/>
        </p:nvSpPr>
        <p:spPr>
          <a:xfrm>
            <a:off x="3048000" y="3238500"/>
            <a:ext cx="7620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53616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3616B"/>
                </a:solidFill>
                <a:latin typeface="Calibri"/>
                <a:ea typeface="Calibri"/>
                <a:cs typeface="Calibri"/>
              </a:rPr>
              <a:t>mock Slack users sync into configured members idempotently</a:t>
            </a:r>
          </a:p>
        </p:txBody>
      </p:sp>
      <p:sp>
        <p:nvSpPr>
          <p:cNvPr id="11" name="">
            <a:extLst>
              <a:ext uri="{FF2B5EF4-FFF2-40B4-BE49-F238E27FC236}">
                <a16:creationId id="{8826CDCB-14C8-438E-A8C1-6CD9604E3C09}"/>
              </a:ext>
            </a:extLst>
          </p:cNvPr>
          <p:cNvSpPr>
            <a:spLocks noGrp="1"/>
          </p:cNvSpPr>
          <p:nvPr/>
        </p:nvSpPr>
        <p:spPr>
          <a:xfrm>
            <a:off x="914400" y="3752850"/>
            <a:ext cx="10363200" cy="590550"/>
          </a:xfrm>
          <a:prstGeom prst="roundRect">
            <a:avLst>
              <a:gd name="adj" fmla="val 12903"/>
            </a:avLst>
          </a:prstGeom>
          <a:solidFill>
            <a:srgbClr val="F4FBFA"/>
          </a:solidFill>
          <a:ln w="9525">
            <a:solidFill>
              <a:srgbClr val="E7ECEF"/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a16:creationId id="{B5110051-2181-477E-93BB-99166555CAFA}"/>
              </a:ext>
            </a:extLst>
          </p:cNvPr>
          <p:cNvSpPr>
            <a:spLocks noGrp="1"/>
          </p:cNvSpPr>
          <p:nvPr/>
        </p:nvSpPr>
        <p:spPr>
          <a:xfrm>
            <a:off x="1162050" y="39052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00AEB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AEB8"/>
                </a:solidFill>
                <a:latin typeface="Calibri"/>
                <a:ea typeface="Calibri"/>
                <a:cs typeface="Calibri"/>
              </a:rPr>
              <a:t>Issue + VCS</a:t>
            </a:r>
          </a:p>
        </p:txBody>
      </p:sp>
      <p:sp>
        <p:nvSpPr>
          <p:cNvPr id="13" name="">
            <a:extLst>
              <a:ext uri="{FF2B5EF4-FFF2-40B4-BE49-F238E27FC236}">
                <a16:creationId id="{FAE9E742-A05A-44BE-9062-36C3AA16A944}"/>
              </a:ext>
            </a:extLst>
          </p:cNvPr>
          <p:cNvSpPr>
            <a:spLocks noGrp="1"/>
          </p:cNvSpPr>
          <p:nvPr/>
        </p:nvSpPr>
        <p:spPr>
          <a:xfrm>
            <a:off x="3048000" y="3924300"/>
            <a:ext cx="7620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53616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3616B"/>
                </a:solidFill>
                <a:latin typeface="Calibri"/>
                <a:ea typeface="Calibri"/>
                <a:cs typeface="Calibri"/>
              </a:rPr>
              <a:t>Jira and Git/GitHub scopes are configurable and read-only</a:t>
            </a:r>
          </a:p>
        </p:txBody>
      </p:sp>
      <p:sp>
        <p:nvSpPr>
          <p:cNvPr id="14" name="">
            <a:extLst>
              <a:ext uri="{FF2B5EF4-FFF2-40B4-BE49-F238E27FC236}">
                <a16:creationId id="{3F6CBB5D-824E-4FD7-8CDF-E9FA96553C8C}"/>
              </a:ext>
            </a:extLst>
          </p:cNvPr>
          <p:cNvSpPr>
            <a:spLocks noGrp="1"/>
          </p:cNvSpPr>
          <p:nvPr/>
        </p:nvSpPr>
        <p:spPr>
          <a:xfrm>
            <a:off x="914400" y="4438650"/>
            <a:ext cx="10363200" cy="590550"/>
          </a:xfrm>
          <a:prstGeom prst="roundRect">
            <a:avLst>
              <a:gd name="adj" fmla="val 12903"/>
            </a:avLst>
          </a:prstGeom>
          <a:solidFill>
            <a:srgbClr val="F4FBFA"/>
          </a:solidFill>
          <a:ln w="9525">
            <a:solidFill>
              <a:srgbClr val="E7ECEF"/>
            </a:solidFill>
            <a:prstDash val="solid"/>
          </a:ln>
        </p:spPr>
      </p:sp>
      <p:sp>
        <p:nvSpPr>
          <p:cNvPr id="15" name="">
            <a:extLst>
              <a:ext uri="{FF2B5EF4-FFF2-40B4-BE49-F238E27FC236}">
                <a16:creationId id="{790F2EA3-68B3-4B5A-BE20-461D1D70918E}"/>
              </a:ext>
            </a:extLst>
          </p:cNvPr>
          <p:cNvSpPr>
            <a:spLocks noGrp="1"/>
          </p:cNvSpPr>
          <p:nvPr/>
        </p:nvSpPr>
        <p:spPr>
          <a:xfrm>
            <a:off x="1162050" y="45910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00AEB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AEB8"/>
                </a:solidFill>
                <a:latin typeface="Calibri"/>
                <a:ea typeface="Calibri"/>
                <a:cs typeface="Calibri"/>
              </a:rPr>
              <a:t>Workflow</a:t>
            </a:r>
          </a:p>
        </p:txBody>
      </p:sp>
      <p:sp>
        <p:nvSpPr>
          <p:cNvPr id="16" name="">
            <a:extLst>
              <a:ext uri="{FF2B5EF4-FFF2-40B4-BE49-F238E27FC236}">
                <a16:creationId id="{D617B36B-F44B-4848-8113-ED14529DF367}"/>
              </a:ext>
            </a:extLst>
          </p:cNvPr>
          <p:cNvSpPr>
            <a:spLocks noGrp="1"/>
          </p:cNvSpPr>
          <p:nvPr/>
        </p:nvSpPr>
        <p:spPr>
          <a:xfrm>
            <a:off x="3048000" y="4610100"/>
            <a:ext cx="7620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53616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3616B"/>
                </a:solidFill>
                <a:latin typeface="Calibri"/>
                <a:ea typeface="Calibri"/>
                <a:cs typeface="Calibri"/>
              </a:rPr>
              <a:t>DBOS, Temporal, and fake modes remain selectable by config</a:t>
            </a:r>
          </a:p>
        </p:txBody>
      </p:sp>
      <p:sp>
        <p:nvSpPr>
          <p:cNvPr id="17" name="">
            <a:extLst>
              <a:ext uri="{FF2B5EF4-FFF2-40B4-BE49-F238E27FC236}">
                <a16:creationId id="{E844AF3B-0271-4A04-A13A-874FF177DA97}"/>
              </a:ext>
            </a:extLst>
          </p:cNvPr>
          <p:cNvSpPr>
            <a:spLocks noGrp="1"/>
          </p:cNvSpPr>
          <p:nvPr/>
        </p:nvSpPr>
        <p:spPr>
          <a:xfrm>
            <a:off x="914400" y="5124450"/>
            <a:ext cx="10363200" cy="590550"/>
          </a:xfrm>
          <a:prstGeom prst="roundRect">
            <a:avLst>
              <a:gd name="adj" fmla="val 12903"/>
            </a:avLst>
          </a:prstGeom>
          <a:solidFill>
            <a:srgbClr val="F4FBFA"/>
          </a:solidFill>
          <a:ln w="9525">
            <a:solidFill>
              <a:srgbClr val="E7ECEF"/>
            </a:solidFill>
            <a:prstDash val="solid"/>
          </a:ln>
        </p:spPr>
      </p:sp>
      <p:sp>
        <p:nvSpPr>
          <p:cNvPr id="18" name="">
            <a:extLst>
              <a:ext uri="{FF2B5EF4-FFF2-40B4-BE49-F238E27FC236}">
                <a16:creationId id="{F79C02FE-C9B8-41CE-B1D4-03E9ECCEE65F}"/>
              </a:ext>
            </a:extLst>
          </p:cNvPr>
          <p:cNvSpPr>
            <a:spLocks noGrp="1"/>
          </p:cNvSpPr>
          <p:nvPr/>
        </p:nvSpPr>
        <p:spPr>
          <a:xfrm>
            <a:off x="1162050" y="52768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00AEB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AEB8"/>
                </a:solidFill>
                <a:latin typeface="Calibri"/>
                <a:ea typeface="Calibri"/>
                <a:cs typeface="Calibri"/>
              </a:rPr>
              <a:t>Persistence</a:t>
            </a:r>
          </a:p>
        </p:txBody>
      </p:sp>
      <p:sp>
        <p:nvSpPr>
          <p:cNvPr id="19" name="">
            <a:extLst>
              <a:ext uri="{FF2B5EF4-FFF2-40B4-BE49-F238E27FC236}">
                <a16:creationId id="{06580CAE-2F0D-4502-888C-FCC8B1A3FB02}"/>
              </a:ext>
            </a:extLst>
          </p:cNvPr>
          <p:cNvSpPr>
            <a:spLocks noGrp="1"/>
          </p:cNvSpPr>
          <p:nvPr/>
        </p:nvSpPr>
        <p:spPr>
          <a:xfrm>
            <a:off x="3048000" y="5295900"/>
            <a:ext cx="7620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53616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3616B"/>
                </a:solidFill>
                <a:latin typeface="Calibri"/>
                <a:ea typeface="Calibri"/>
                <a:cs typeface="Calibri"/>
              </a:rPr>
              <a:t>graph, status, rollup, sync cursor, and conversation stores</a:t>
            </a:r>
          </a:p>
        </p:txBody>
      </p:sp>
    </p:spTree>
    <p:extLst>
      <p:ext uri="{BB962C8B-B14F-4D97-AF65-F5344CB8AC3E}">
        <p14:creationId val="1192561829"/>
      </p:ext>
    </p:extLst>
  </p:cSld>
</p:sld>
</file>

<file path=ppt/slides/slide9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" name="slide-title">
            <a:extLst>
              <a:ext uri="{FF2B5EF4-FFF2-40B4-BE49-F238E27FC236}">
                <a16:creationId id="{5E0C06E2-5ABF-4117-BB8A-765C71C2B350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933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2850" b="1">
                <a:solidFill>
                  <a:srgbClr val="213E50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213E50"/>
                </a:solidFill>
                <a:latin typeface="Calibri"/>
                <a:ea typeface="Calibri"/>
                <a:cs typeface="Calibri"/>
              </a:rPr>
              <a:t>QA shifted from smoke checks to a documented matrix</a:t>
            </a:r>
          </a:p>
        </p:txBody>
      </p:sp>
      <p:sp>
        <p:nvSpPr>
          <p:cNvPr id="2" name="">
            <a:extLst>
              <a:ext uri="{FF2B5EF4-FFF2-40B4-BE49-F238E27FC236}">
                <a16:creationId id="{DCE93B07-96B2-429F-8224-07355AD78AEC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0"/>
          </a:xfrm>
          <a:prstGeom prst="line">
            <a:avLst/>
          </a:prstGeom>
          <a:noFill/>
          <a:ln w="19050">
            <a:solidFill>
              <a:srgbClr val="19C8BD"/>
            </a:solidFill>
            <a:prstDash val="solid"/>
          </a:ln>
        </p:spPr>
      </p:sp>
      <p:sp>
        <p:nvSpPr>
          <p:cNvPr id="3" name="footer">
            <a:extLst>
              <a:ext uri="{FF2B5EF4-FFF2-40B4-BE49-F238E27FC236}">
                <a16:creationId id="{6379E96B-3F3E-4E46-B25C-B8AFE153D2B1}"/>
              </a:ext>
            </a:extLst>
          </p:cNvPr>
          <p:cNvSpPr>
            <a:spLocks noGrp="1"/>
          </p:cNvSpPr>
          <p:nvPr/>
        </p:nvSpPr>
        <p:spPr>
          <a:xfrm>
            <a:off x="609600" y="63246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7A8790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7A8790"/>
                </a:solidFill>
                <a:latin typeface="Calibri"/>
                <a:ea typeface="Calibri"/>
                <a:cs typeface="Calibri"/>
              </a:rPr>
              <a:t>ProgramManager demo | 2026-07-01</a:t>
            </a:r>
          </a:p>
        </p:txBody>
      </p:sp>
      <p:sp>
        <p:nvSpPr>
          <p:cNvPr id="4" name="">
            <a:extLst>
              <a:ext uri="{FF2B5EF4-FFF2-40B4-BE49-F238E27FC236}">
                <a16:creationId id="{AC83D0C8-C31B-4DF1-B3D9-F460CDA4B9F9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2667000" cy="1123950"/>
          </a:xfrm>
          <a:prstGeom prst="roundRect">
            <a:avLst>
              <a:gd name="adj" fmla="val 6780"/>
            </a:avLst>
          </a:prstGeom>
          <a:solidFill>
            <a:srgbClr val="F4FBFA"/>
          </a:solidFill>
          <a:ln w="9525">
            <a:solidFill>
              <a:srgbClr val="E7ECEF"/>
            </a:solidFill>
            <a:prstDash val="solid"/>
          </a:ln>
        </p:spPr>
      </p:sp>
      <p:sp>
        <p:nvSpPr>
          <p:cNvPr id="5" name="">
            <a:extLst>
              <a:ext uri="{FF2B5EF4-FFF2-40B4-BE49-F238E27FC236}">
                <a16:creationId id="{0B9FF7A8-CF5D-4757-9D88-EB8D2CB0ACB6}"/>
              </a:ext>
            </a:extLst>
          </p:cNvPr>
          <p:cNvSpPr>
            <a:spLocks noGrp="1"/>
          </p:cNvSpPr>
          <p:nvPr/>
        </p:nvSpPr>
        <p:spPr>
          <a:xfrm>
            <a:off x="895350" y="1600200"/>
            <a:ext cx="2247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2550" b="1">
                <a:solidFill>
                  <a:srgbClr val="00AEB8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0AEB8"/>
                </a:solidFill>
                <a:latin typeface="Calibri"/>
                <a:ea typeface="Calibri"/>
                <a:cs typeface="Calibri"/>
              </a:rPr>
              <a:t>45</a:t>
            </a:r>
          </a:p>
        </p:txBody>
      </p:sp>
      <p:sp>
        <p:nvSpPr>
          <p:cNvPr id="6" name="">
            <a:extLst>
              <a:ext uri="{FF2B5EF4-FFF2-40B4-BE49-F238E27FC236}">
                <a16:creationId id="{4857E50A-7A0C-40A6-83F9-547CAFCDDC1B}"/>
              </a:ext>
            </a:extLst>
          </p:cNvPr>
          <p:cNvSpPr>
            <a:spLocks noGrp="1"/>
          </p:cNvSpPr>
          <p:nvPr/>
        </p:nvSpPr>
        <p:spPr>
          <a:xfrm>
            <a:off x="895350" y="2019300"/>
            <a:ext cx="2247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53616B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3616B"/>
                </a:solidFill>
                <a:latin typeface="Calibri"/>
                <a:ea typeface="Calibri"/>
                <a:cs typeface="Calibri"/>
              </a:rPr>
              <a:t>Mock Slack E2E rows covered through Attempt 30</a:t>
            </a:r>
          </a:p>
        </p:txBody>
      </p:sp>
      <p:sp>
        <p:nvSpPr>
          <p:cNvPr id="7" name="">
            <a:extLst>
              <a:ext uri="{FF2B5EF4-FFF2-40B4-BE49-F238E27FC236}">
                <a16:creationId id="{89910D5C-0530-412A-86F3-C55681A6793C}"/>
              </a:ext>
            </a:extLst>
          </p:cNvPr>
          <p:cNvSpPr>
            <a:spLocks noGrp="1"/>
          </p:cNvSpPr>
          <p:nvPr/>
        </p:nvSpPr>
        <p:spPr>
          <a:xfrm>
            <a:off x="685800" y="2838450"/>
            <a:ext cx="2667000" cy="1123950"/>
          </a:xfrm>
          <a:prstGeom prst="roundRect">
            <a:avLst>
              <a:gd name="adj" fmla="val 6780"/>
            </a:avLst>
          </a:prstGeom>
          <a:solidFill>
            <a:srgbClr val="F4FBFA"/>
          </a:solidFill>
          <a:ln w="9525">
            <a:solidFill>
              <a:srgbClr val="E7ECEF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a16:creationId id="{6DE4A576-3308-4C6C-855E-318D8140FF3F}"/>
              </a:ext>
            </a:extLst>
          </p:cNvPr>
          <p:cNvSpPr>
            <a:spLocks noGrp="1"/>
          </p:cNvSpPr>
          <p:nvPr/>
        </p:nvSpPr>
        <p:spPr>
          <a:xfrm>
            <a:off x="895350" y="3009900"/>
            <a:ext cx="2247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2550" b="1">
                <a:solidFill>
                  <a:srgbClr val="00AEB8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0AEB8"/>
                </a:solidFill>
                <a:latin typeface="Calibri"/>
                <a:ea typeface="Calibri"/>
                <a:cs typeface="Calibri"/>
              </a:rPr>
              <a:t>173</a:t>
            </a:r>
          </a:p>
        </p:txBody>
      </p:sp>
      <p:sp>
        <p:nvSpPr>
          <p:cNvPr id="9" name="">
            <a:extLst>
              <a:ext uri="{FF2B5EF4-FFF2-40B4-BE49-F238E27FC236}">
                <a16:creationId id="{DFCB400D-90CA-4BA3-9A4A-158713031E4F}"/>
              </a:ext>
            </a:extLst>
          </p:cNvPr>
          <p:cNvSpPr>
            <a:spLocks noGrp="1"/>
          </p:cNvSpPr>
          <p:nvPr/>
        </p:nvSpPr>
        <p:spPr>
          <a:xfrm>
            <a:off x="895350" y="3429000"/>
            <a:ext cx="2247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53616B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3616B"/>
                </a:solidFill>
                <a:latin typeface="Calibri"/>
                <a:ea typeface="Calibri"/>
                <a:cs typeface="Calibri"/>
              </a:rPr>
              <a:t>backend unit tests passed in the full unit suite</a:t>
            </a:r>
          </a:p>
        </p:txBody>
      </p:sp>
      <p:sp>
        <p:nvSpPr>
          <p:cNvPr id="10" name="">
            <a:extLst>
              <a:ext uri="{FF2B5EF4-FFF2-40B4-BE49-F238E27FC236}">
                <a16:creationId id="{C858E2B9-7D2C-48BF-ACC8-51FAB5BC3E45}"/>
              </a:ext>
            </a:extLst>
          </p:cNvPr>
          <p:cNvSpPr>
            <a:spLocks noGrp="1"/>
          </p:cNvSpPr>
          <p:nvPr/>
        </p:nvSpPr>
        <p:spPr>
          <a:xfrm>
            <a:off x="685800" y="4248150"/>
            <a:ext cx="2667000" cy="1123950"/>
          </a:xfrm>
          <a:prstGeom prst="roundRect">
            <a:avLst>
              <a:gd name="adj" fmla="val 6780"/>
            </a:avLst>
          </a:prstGeom>
          <a:solidFill>
            <a:srgbClr val="F4FBFA"/>
          </a:solidFill>
          <a:ln w="9525">
            <a:solidFill>
              <a:srgbClr val="E7ECEF"/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a16:creationId id="{8CD8B2E8-5C0F-42A7-9FAF-04F571D967DE}"/>
              </a:ext>
            </a:extLst>
          </p:cNvPr>
          <p:cNvSpPr>
            <a:spLocks noGrp="1"/>
          </p:cNvSpPr>
          <p:nvPr/>
        </p:nvSpPr>
        <p:spPr>
          <a:xfrm>
            <a:off x="895350" y="4419600"/>
            <a:ext cx="2247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2550" b="1">
                <a:solidFill>
                  <a:srgbClr val="00AEB8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0AEB8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12" name="">
            <a:extLst>
              <a:ext uri="{FF2B5EF4-FFF2-40B4-BE49-F238E27FC236}">
                <a16:creationId id="{DEA140E4-96E1-4F7D-90FC-74B32EFA2F60}"/>
              </a:ext>
            </a:extLst>
          </p:cNvPr>
          <p:cNvSpPr>
            <a:spLocks noGrp="1"/>
          </p:cNvSpPr>
          <p:nvPr/>
        </p:nvSpPr>
        <p:spPr>
          <a:xfrm>
            <a:off x="895350" y="4838700"/>
            <a:ext cx="2247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53616B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3616B"/>
                </a:solidFill>
                <a:latin typeface="Calibri"/>
                <a:ea typeface="Calibri"/>
                <a:cs typeface="Calibri"/>
              </a:rPr>
              <a:t>focused status parsing and collector tests passed</a:t>
            </a:r>
          </a:p>
        </p:txBody>
      </p:sp>
      <p:sp>
        <p:nvSpPr>
          <p:cNvPr id="13" name="">
            <a:extLst>
              <a:ext uri="{FF2B5EF4-FFF2-40B4-BE49-F238E27FC236}">
                <a16:creationId id="{AF9D29D3-FD86-4D39-B4D0-2C3F2A9B08DA}"/>
              </a:ext>
            </a:extLst>
          </p:cNvPr>
          <p:cNvSpPr>
            <a:spLocks noGrp="1"/>
          </p:cNvSpPr>
          <p:nvPr/>
        </p:nvSpPr>
        <p:spPr>
          <a:xfrm>
            <a:off x="3924300" y="1352550"/>
            <a:ext cx="7439025" cy="4686300"/>
          </a:xfrm>
          <a:prstGeom prst="roundRect">
            <a:avLst>
              <a:gd name="adj" fmla="val 2033"/>
            </a:avLst>
          </a:prstGeom>
          <a:solidFill>
            <a:srgbClr val="F4FBFA"/>
          </a:solidFill>
          <a:ln w="9525">
            <a:solidFill>
              <a:srgbClr val="E7ECEF"/>
            </a:solidFill>
            <a:prstDash val="solid"/>
          </a:ln>
        </p:spPr>
      </p:sp>
      <p:pic>
        <p:nvPicPr>
          <p:cNvPr id="28" name=""/>
          <p:cNvPicPr>
            <a:picLocks noChangeAspect="1"/>
          </p:cNvPicPr>
          <p:nvPr/>
        </p:nvPicPr>
        <p:blipFill>
          <a:blip r:embed="Rda2347a207964550"/>
          <a:srcRect l="0" t="11" r="0" b="11"/>
          <a:stretch>
            <a:fillRect l="0" t="0" r="0" b="0"/>
          </a:stretch>
        </p:blipFill>
        <p:spPr>
          <a:xfrm>
            <a:off x="4000500" y="1428750"/>
            <a:ext cx="7286625" cy="4533900"/>
          </a:xfrm>
          <a:prstGeom prst="rect">
            <a:avLst/>
          </a:prstGeom>
        </p:spPr>
      </p:pic>
    </p:spTree>
    <p:extLst>
      <p:ext uri="{BB962C8B-B14F-4D97-AF65-F5344CB8AC3E}">
        <p14:creationId val="1478660035"/>
      </p:ext>
    </p:extLst>
  </p:cSld>
</p:sld>
</file>

<file path=ppt/slides/slide10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" name="slide-title">
            <a:extLst>
              <a:ext uri="{FF2B5EF4-FFF2-40B4-BE49-F238E27FC236}">
                <a16:creationId id="{CD647D39-041C-41DE-9AC6-A3A1414E76DB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933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2850" b="1">
                <a:solidFill>
                  <a:srgbClr val="213E50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213E50"/>
                </a:solidFill>
                <a:latin typeface="Calibri"/>
                <a:ea typeface="Calibri"/>
                <a:cs typeface="Calibri"/>
              </a:rPr>
              <a:t>Next: reconcile, predict, coach</a:t>
            </a:r>
          </a:p>
        </p:txBody>
      </p:sp>
      <p:sp>
        <p:nvSpPr>
          <p:cNvPr id="2" name="">
            <a:extLst>
              <a:ext uri="{FF2B5EF4-FFF2-40B4-BE49-F238E27FC236}">
                <a16:creationId id="{2CE37331-6D2F-4402-B3F0-7BF1AB43DB19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0"/>
          </a:xfrm>
          <a:prstGeom prst="line">
            <a:avLst/>
          </a:prstGeom>
          <a:noFill/>
          <a:ln w="19050">
            <a:solidFill>
              <a:srgbClr val="19C8BD"/>
            </a:solidFill>
            <a:prstDash val="solid"/>
          </a:ln>
        </p:spPr>
      </p:sp>
      <p:sp>
        <p:nvSpPr>
          <p:cNvPr id="3" name="footer">
            <a:extLst>
              <a:ext uri="{FF2B5EF4-FFF2-40B4-BE49-F238E27FC236}">
                <a16:creationId id="{B3AD9D37-79FB-4C82-AF14-B5499EAC05C2}"/>
              </a:ext>
            </a:extLst>
          </p:cNvPr>
          <p:cNvSpPr>
            <a:spLocks noGrp="1"/>
          </p:cNvSpPr>
          <p:nvPr/>
        </p:nvSpPr>
        <p:spPr>
          <a:xfrm>
            <a:off x="609600" y="63246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7A8790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7A8790"/>
                </a:solidFill>
                <a:latin typeface="Calibri"/>
                <a:ea typeface="Calibri"/>
                <a:cs typeface="Calibri"/>
              </a:rPr>
              <a:t>ProgramManager demo | 2026-07-01</a:t>
            </a:r>
          </a:p>
        </p:txBody>
      </p:sp>
      <p:sp>
        <p:nvSpPr>
          <p:cNvPr id="4" name="">
            <a:extLst>
              <a:ext uri="{FF2B5EF4-FFF2-40B4-BE49-F238E27FC236}">
                <a16:creationId id="{7B067110-FFE2-4CBF-ABDE-795BDAAD6D1E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885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950" b="1">
                <a:solidFill>
                  <a:srgbClr val="213E50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13E50"/>
                </a:solidFill>
                <a:latin typeface="Calibri"/>
                <a:ea typeface="Calibri"/>
                <a:cs typeface="Calibri"/>
              </a:rPr>
              <a:t>The next phase is about making the rollups harder to fool and more useful before delivery risk becomes urgent.</a:t>
            </a:r>
          </a:p>
        </p:txBody>
      </p:sp>
      <p:sp>
        <p:nvSpPr>
          <p:cNvPr id="5" name="">
            <a:extLst>
              <a:ext uri="{FF2B5EF4-FFF2-40B4-BE49-F238E27FC236}">
                <a16:creationId id="{9934FB7D-D904-44BD-8070-644970DE94AA}"/>
              </a:ext>
            </a:extLst>
          </p:cNvPr>
          <p:cNvSpPr>
            <a:spLocks noGrp="1"/>
          </p:cNvSpPr>
          <p:nvPr/>
        </p:nvSpPr>
        <p:spPr>
          <a:xfrm>
            <a:off x="685800" y="2457450"/>
            <a:ext cx="3257550" cy="2952750"/>
          </a:xfrm>
          <a:prstGeom prst="roundRect">
            <a:avLst>
              <a:gd name="adj" fmla="val 2581"/>
            </a:avLst>
          </a:prstGeom>
          <a:solidFill>
            <a:srgbClr val="F4FBFA"/>
          </a:solidFill>
          <a:ln w="9525">
            <a:solidFill>
              <a:srgbClr val="E7ECEF"/>
            </a:solidFill>
            <a:prstDash val="solid"/>
          </a:ln>
        </p:spPr>
      </p:sp>
      <p:sp>
        <p:nvSpPr>
          <p:cNvPr id="6" name="">
            <a:extLst>
              <a:ext uri="{FF2B5EF4-FFF2-40B4-BE49-F238E27FC236}">
                <a16:creationId id="{4CD7CF99-0754-4E06-B858-5C87FDA7DA42}"/>
              </a:ext>
            </a:extLst>
          </p:cNvPr>
          <p:cNvSpPr>
            <a:spLocks noGrp="1"/>
          </p:cNvSpPr>
          <p:nvPr/>
        </p:nvSpPr>
        <p:spPr>
          <a:xfrm>
            <a:off x="895350" y="2647950"/>
            <a:ext cx="2838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725" b="1">
                <a:solidFill>
                  <a:srgbClr val="00AEB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0AEB8"/>
                </a:solidFill>
                <a:latin typeface="Calibri"/>
                <a:ea typeface="Calibri"/>
                <a:cs typeface="Calibri"/>
              </a:rPr>
              <a:t>Reconcile</a:t>
            </a:r>
          </a:p>
        </p:txBody>
      </p:sp>
      <p:sp>
        <p:nvSpPr>
          <p:cNvPr id="7" name="">
            <a:extLst>
              <a:ext uri="{FF2B5EF4-FFF2-40B4-BE49-F238E27FC236}">
                <a16:creationId id="{A82DC938-B636-438C-BFA3-0996AC3D9360}"/>
              </a:ext>
            </a:extLst>
          </p:cNvPr>
          <p:cNvSpPr>
            <a:spLocks noGrp="1"/>
          </p:cNvSpPr>
          <p:nvPr/>
        </p:nvSpPr>
        <p:spPr>
          <a:xfrm>
            <a:off x="895350" y="3143250"/>
            <a:ext cx="19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19C8B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C8BD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8" name="">
            <a:extLst>
              <a:ext uri="{FF2B5EF4-FFF2-40B4-BE49-F238E27FC236}">
                <a16:creationId id="{BFD197B0-C041-4A6F-AC26-BDD0C343DEE3}"/>
              </a:ext>
            </a:extLst>
          </p:cNvPr>
          <p:cNvSpPr>
            <a:spLocks noGrp="1"/>
          </p:cNvSpPr>
          <p:nvPr/>
        </p:nvSpPr>
        <p:spPr>
          <a:xfrm>
            <a:off x="1162050" y="3124200"/>
            <a:ext cx="2571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361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16B"/>
                </a:solidFill>
                <a:latin typeface="Calibri"/>
                <a:ea typeface="Calibri"/>
                <a:cs typeface="Calibri"/>
              </a:rPr>
              <a:t>Compare stated status with Jira, Git, PR, and CI facts.</a:t>
            </a:r>
          </a:p>
        </p:txBody>
      </p:sp>
      <p:sp>
        <p:nvSpPr>
          <p:cNvPr id="9" name="">
            <a:extLst>
              <a:ext uri="{FF2B5EF4-FFF2-40B4-BE49-F238E27FC236}">
                <a16:creationId id="{1F8D7152-18EF-418C-9EC8-18C59EFDE390}"/>
              </a:ext>
            </a:extLst>
          </p:cNvPr>
          <p:cNvSpPr>
            <a:spLocks noGrp="1"/>
          </p:cNvSpPr>
          <p:nvPr/>
        </p:nvSpPr>
        <p:spPr>
          <a:xfrm>
            <a:off x="895350" y="3619500"/>
            <a:ext cx="19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19C8B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C8BD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10" name="">
            <a:extLst>
              <a:ext uri="{FF2B5EF4-FFF2-40B4-BE49-F238E27FC236}">
                <a16:creationId id="{FE200670-FFE4-4224-BED0-8FD5F3F66B3C}"/>
              </a:ext>
            </a:extLst>
          </p:cNvPr>
          <p:cNvSpPr>
            <a:spLocks noGrp="1"/>
          </p:cNvSpPr>
          <p:nvPr/>
        </p:nvSpPr>
        <p:spPr>
          <a:xfrm>
            <a:off x="1162050" y="3600450"/>
            <a:ext cx="2571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361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16B"/>
                </a:solidFill>
                <a:latin typeface="Calibri"/>
                <a:ea typeface="Calibri"/>
                <a:cs typeface="Calibri"/>
              </a:rPr>
              <a:t>Expose richer confidence scores and drift indicators.</a:t>
            </a:r>
          </a:p>
        </p:txBody>
      </p:sp>
      <p:sp>
        <p:nvSpPr>
          <p:cNvPr id="11" name="">
            <a:extLst>
              <a:ext uri="{FF2B5EF4-FFF2-40B4-BE49-F238E27FC236}">
                <a16:creationId id="{96730D5E-1A90-4AA7-8B88-56278580C1F0}"/>
              </a:ext>
            </a:extLst>
          </p:cNvPr>
          <p:cNvSpPr>
            <a:spLocks noGrp="1"/>
          </p:cNvSpPr>
          <p:nvPr/>
        </p:nvSpPr>
        <p:spPr>
          <a:xfrm>
            <a:off x="895350" y="4095750"/>
            <a:ext cx="19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19C8B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C8BD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12" name="">
            <a:extLst>
              <a:ext uri="{FF2B5EF4-FFF2-40B4-BE49-F238E27FC236}">
                <a16:creationId id="{A740A4B0-F88D-4F7A-A471-B61DF4DDA195}"/>
              </a:ext>
            </a:extLst>
          </p:cNvPr>
          <p:cNvSpPr>
            <a:spLocks noGrp="1"/>
          </p:cNvSpPr>
          <p:nvPr/>
        </p:nvSpPr>
        <p:spPr>
          <a:xfrm>
            <a:off x="1162050" y="4076700"/>
            <a:ext cx="2571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361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16B"/>
                </a:solidFill>
                <a:latin typeface="Calibri"/>
                <a:ea typeface="Calibri"/>
                <a:cs typeface="Calibri"/>
              </a:rPr>
              <a:t>Add approved Jira write-back with audit and reversibility.</a:t>
            </a:r>
          </a:p>
        </p:txBody>
      </p:sp>
      <p:sp>
        <p:nvSpPr>
          <p:cNvPr id="13" name="">
            <a:extLst>
              <a:ext uri="{FF2B5EF4-FFF2-40B4-BE49-F238E27FC236}">
                <a16:creationId id="{A80951D8-DED2-49DB-AFB4-595B696DD427}"/>
              </a:ext>
            </a:extLst>
          </p:cNvPr>
          <p:cNvSpPr>
            <a:spLocks noGrp="1"/>
          </p:cNvSpPr>
          <p:nvPr/>
        </p:nvSpPr>
        <p:spPr>
          <a:xfrm>
            <a:off x="4467225" y="2457450"/>
            <a:ext cx="3257550" cy="2952750"/>
          </a:xfrm>
          <a:prstGeom prst="roundRect">
            <a:avLst>
              <a:gd name="adj" fmla="val 2581"/>
            </a:avLst>
          </a:prstGeom>
          <a:solidFill>
            <a:srgbClr val="F4FBFA"/>
          </a:solidFill>
          <a:ln w="9525">
            <a:solidFill>
              <a:srgbClr val="E7ECEF"/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a16:creationId id="{42ECCE58-88D7-4EB9-85C2-4B11F13F37CC}"/>
              </a:ext>
            </a:extLst>
          </p:cNvPr>
          <p:cNvSpPr>
            <a:spLocks noGrp="1"/>
          </p:cNvSpPr>
          <p:nvPr/>
        </p:nvSpPr>
        <p:spPr>
          <a:xfrm>
            <a:off x="4676775" y="2647950"/>
            <a:ext cx="2838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725" b="1">
                <a:solidFill>
                  <a:srgbClr val="00AEB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0AEB8"/>
                </a:solidFill>
                <a:latin typeface="Calibri"/>
                <a:ea typeface="Calibri"/>
                <a:cs typeface="Calibri"/>
              </a:rPr>
              <a:t>Predict</a:t>
            </a:r>
          </a:p>
        </p:txBody>
      </p:sp>
      <p:sp>
        <p:nvSpPr>
          <p:cNvPr id="15" name="">
            <a:extLst>
              <a:ext uri="{FF2B5EF4-FFF2-40B4-BE49-F238E27FC236}">
                <a16:creationId id="{882B0E56-1E62-423B-9A54-AA830FDCBBE1}"/>
              </a:ext>
            </a:extLst>
          </p:cNvPr>
          <p:cNvSpPr>
            <a:spLocks noGrp="1"/>
          </p:cNvSpPr>
          <p:nvPr/>
        </p:nvSpPr>
        <p:spPr>
          <a:xfrm>
            <a:off x="4676775" y="3143250"/>
            <a:ext cx="19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19C8B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C8BD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16" name="">
            <a:extLst>
              <a:ext uri="{FF2B5EF4-FFF2-40B4-BE49-F238E27FC236}">
                <a16:creationId id="{86566B43-3ED2-4B81-9830-29BA2F64E0AD}"/>
              </a:ext>
            </a:extLst>
          </p:cNvPr>
          <p:cNvSpPr>
            <a:spLocks noGrp="1"/>
          </p:cNvSpPr>
          <p:nvPr/>
        </p:nvSpPr>
        <p:spPr>
          <a:xfrm>
            <a:off x="4943475" y="3124200"/>
            <a:ext cx="2571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361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16B"/>
                </a:solidFill>
                <a:latin typeface="Calibri"/>
                <a:ea typeface="Calibri"/>
                <a:cs typeface="Calibri"/>
              </a:rPr>
              <a:t>Detect repeated blockers and stale work.</a:t>
            </a:r>
          </a:p>
        </p:txBody>
      </p:sp>
      <p:sp>
        <p:nvSpPr>
          <p:cNvPr id="17" name="">
            <a:extLst>
              <a:ext uri="{FF2B5EF4-FFF2-40B4-BE49-F238E27FC236}">
                <a16:creationId id="{76476E61-7BA3-4B47-A34F-35F95B6386D6}"/>
              </a:ext>
            </a:extLst>
          </p:cNvPr>
          <p:cNvSpPr>
            <a:spLocks noGrp="1"/>
          </p:cNvSpPr>
          <p:nvPr/>
        </p:nvSpPr>
        <p:spPr>
          <a:xfrm>
            <a:off x="4676775" y="3619500"/>
            <a:ext cx="19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19C8B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C8BD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18" name="">
            <a:extLst>
              <a:ext uri="{FF2B5EF4-FFF2-40B4-BE49-F238E27FC236}">
                <a16:creationId id="{7E619C95-76E7-47D9-B936-CCF3A3F26052}"/>
              </a:ext>
            </a:extLst>
          </p:cNvPr>
          <p:cNvSpPr>
            <a:spLocks noGrp="1"/>
          </p:cNvSpPr>
          <p:nvPr/>
        </p:nvSpPr>
        <p:spPr>
          <a:xfrm>
            <a:off x="4943475" y="3600450"/>
            <a:ext cx="2571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361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16B"/>
                </a:solidFill>
                <a:latin typeface="Calibri"/>
                <a:ea typeface="Calibri"/>
                <a:cs typeface="Calibri"/>
              </a:rPr>
              <a:t>Forecast milestone or release slip probability.</a:t>
            </a:r>
          </a:p>
        </p:txBody>
      </p:sp>
      <p:sp>
        <p:nvSpPr>
          <p:cNvPr id="19" name="">
            <a:extLst>
              <a:ext uri="{FF2B5EF4-FFF2-40B4-BE49-F238E27FC236}">
                <a16:creationId id="{7535EDB6-2B8B-414E-AD4C-FFB08D1DC812}"/>
              </a:ext>
            </a:extLst>
          </p:cNvPr>
          <p:cNvSpPr>
            <a:spLocks noGrp="1"/>
          </p:cNvSpPr>
          <p:nvPr/>
        </p:nvSpPr>
        <p:spPr>
          <a:xfrm>
            <a:off x="4676775" y="4095750"/>
            <a:ext cx="19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19C8B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C8BD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20" name="">
            <a:extLst>
              <a:ext uri="{FF2B5EF4-FFF2-40B4-BE49-F238E27FC236}">
                <a16:creationId id="{039D6463-C18C-4752-A16D-60D1F2D56705}"/>
              </a:ext>
            </a:extLst>
          </p:cNvPr>
          <p:cNvSpPr>
            <a:spLocks noGrp="1"/>
          </p:cNvSpPr>
          <p:nvPr/>
        </p:nvSpPr>
        <p:spPr>
          <a:xfrm>
            <a:off x="4943475" y="4076700"/>
            <a:ext cx="2571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361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16B"/>
                </a:solidFill>
                <a:latin typeface="Calibri"/>
                <a:ea typeface="Calibri"/>
                <a:cs typeface="Calibri"/>
              </a:rPr>
              <a:t>Flag cross-team dependency stalls earlier.</a:t>
            </a:r>
          </a:p>
        </p:txBody>
      </p:sp>
      <p:sp>
        <p:nvSpPr>
          <p:cNvPr id="21" name="">
            <a:extLst>
              <a:ext uri="{FF2B5EF4-FFF2-40B4-BE49-F238E27FC236}">
                <a16:creationId id="{542F6E0B-F0C2-4856-9FED-CCB81C4FF1B9}"/>
              </a:ext>
            </a:extLst>
          </p:cNvPr>
          <p:cNvSpPr>
            <a:spLocks noGrp="1"/>
          </p:cNvSpPr>
          <p:nvPr/>
        </p:nvSpPr>
        <p:spPr>
          <a:xfrm>
            <a:off x="8248650" y="2457450"/>
            <a:ext cx="3257550" cy="2952750"/>
          </a:xfrm>
          <a:prstGeom prst="roundRect">
            <a:avLst>
              <a:gd name="adj" fmla="val 2581"/>
            </a:avLst>
          </a:prstGeom>
          <a:solidFill>
            <a:srgbClr val="F4FBFA"/>
          </a:solidFill>
          <a:ln w="9525">
            <a:solidFill>
              <a:srgbClr val="E7ECEF"/>
            </a:solidFill>
            <a:prstDash val="solid"/>
          </a:ln>
        </p:spPr>
      </p:sp>
      <p:sp>
        <p:nvSpPr>
          <p:cNvPr id="22" name="">
            <a:extLst>
              <a:ext uri="{FF2B5EF4-FFF2-40B4-BE49-F238E27FC236}">
                <a16:creationId id="{FFE8CE71-2032-4832-BDAF-D2E7CF039E0E}"/>
              </a:ext>
            </a:extLst>
          </p:cNvPr>
          <p:cNvSpPr>
            <a:spLocks noGrp="1"/>
          </p:cNvSpPr>
          <p:nvPr/>
        </p:nvSpPr>
        <p:spPr>
          <a:xfrm>
            <a:off x="8458200" y="2647950"/>
            <a:ext cx="2838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725" b="1">
                <a:solidFill>
                  <a:srgbClr val="00AEB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0AEB8"/>
                </a:solidFill>
                <a:latin typeface="Calibri"/>
                <a:ea typeface="Calibri"/>
                <a:cs typeface="Calibri"/>
              </a:rPr>
              <a:t>Coach</a:t>
            </a:r>
          </a:p>
        </p:txBody>
      </p:sp>
      <p:sp>
        <p:nvSpPr>
          <p:cNvPr id="23" name="">
            <a:extLst>
              <a:ext uri="{FF2B5EF4-FFF2-40B4-BE49-F238E27FC236}">
                <a16:creationId id="{574BA64B-E296-440E-9B18-71D78D33AE4D}"/>
              </a:ext>
            </a:extLst>
          </p:cNvPr>
          <p:cNvSpPr>
            <a:spLocks noGrp="1"/>
          </p:cNvSpPr>
          <p:nvPr/>
        </p:nvSpPr>
        <p:spPr>
          <a:xfrm>
            <a:off x="8458200" y="3143250"/>
            <a:ext cx="19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19C8B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C8BD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24" name="">
            <a:extLst>
              <a:ext uri="{FF2B5EF4-FFF2-40B4-BE49-F238E27FC236}">
                <a16:creationId id="{62033FCC-941F-4A7B-84C6-31D8316F607A}"/>
              </a:ext>
            </a:extLst>
          </p:cNvPr>
          <p:cNvSpPr>
            <a:spLocks noGrp="1"/>
          </p:cNvSpPr>
          <p:nvPr/>
        </p:nvSpPr>
        <p:spPr>
          <a:xfrm>
            <a:off x="8724900" y="3124200"/>
            <a:ext cx="2571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361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16B"/>
                </a:solidFill>
                <a:latin typeface="Calibri"/>
                <a:ea typeface="Calibri"/>
                <a:cs typeface="Calibri"/>
              </a:rPr>
              <a:t>Generate standup, retro, and stakeholder updates.</a:t>
            </a:r>
          </a:p>
        </p:txBody>
      </p:sp>
      <p:sp>
        <p:nvSpPr>
          <p:cNvPr id="25" name="">
            <a:extLst>
              <a:ext uri="{FF2B5EF4-FFF2-40B4-BE49-F238E27FC236}">
                <a16:creationId id="{D890F237-BA1A-4508-A5B6-329FBB52BF5A}"/>
              </a:ext>
            </a:extLst>
          </p:cNvPr>
          <p:cNvSpPr>
            <a:spLocks noGrp="1"/>
          </p:cNvSpPr>
          <p:nvPr/>
        </p:nvSpPr>
        <p:spPr>
          <a:xfrm>
            <a:off x="8458200" y="3619500"/>
            <a:ext cx="19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19C8B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C8BD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26" name="">
            <a:extLst>
              <a:ext uri="{FF2B5EF4-FFF2-40B4-BE49-F238E27FC236}">
                <a16:creationId id="{D394C1A2-1CE2-45AF-B843-9224AE56C02A}"/>
              </a:ext>
            </a:extLst>
          </p:cNvPr>
          <p:cNvSpPr>
            <a:spLocks noGrp="1"/>
          </p:cNvSpPr>
          <p:nvPr/>
        </p:nvSpPr>
        <p:spPr>
          <a:xfrm>
            <a:off x="8724900" y="3600450"/>
            <a:ext cx="2571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361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16B"/>
                </a:solidFill>
                <a:latin typeface="Calibri"/>
                <a:ea typeface="Calibri"/>
                <a:cs typeface="Calibri"/>
              </a:rPr>
              <a:t>Suggest load balancing with privacy boundaries.</a:t>
            </a:r>
          </a:p>
        </p:txBody>
      </p:sp>
      <p:sp>
        <p:nvSpPr>
          <p:cNvPr id="27" name="">
            <a:extLst>
              <a:ext uri="{FF2B5EF4-FFF2-40B4-BE49-F238E27FC236}">
                <a16:creationId id="{BB315854-BF00-49C8-B326-53884D7C56D1}"/>
              </a:ext>
            </a:extLst>
          </p:cNvPr>
          <p:cNvSpPr>
            <a:spLocks noGrp="1"/>
          </p:cNvSpPr>
          <p:nvPr/>
        </p:nvSpPr>
        <p:spPr>
          <a:xfrm>
            <a:off x="8458200" y="4095750"/>
            <a:ext cx="19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19C8B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C8BD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28" name="">
            <a:extLst>
              <a:ext uri="{FF2B5EF4-FFF2-40B4-BE49-F238E27FC236}">
                <a16:creationId id="{CFAF043B-0B2D-41FA-8BFE-19A53BD974AE}"/>
              </a:ext>
            </a:extLst>
          </p:cNvPr>
          <p:cNvSpPr>
            <a:spLocks noGrp="1"/>
          </p:cNvSpPr>
          <p:nvPr/>
        </p:nvSpPr>
        <p:spPr>
          <a:xfrm>
            <a:off x="8724900" y="4076700"/>
            <a:ext cx="2571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361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16B"/>
                </a:solidFill>
                <a:latin typeface="Calibri"/>
                <a:ea typeface="Calibri"/>
                <a:cs typeface="Calibri"/>
              </a:rPr>
              <a:t>Answer natural-language portfolio questions.</a:t>
            </a:r>
          </a:p>
        </p:txBody>
      </p:sp>
      <p:sp>
        <p:nvSpPr>
          <p:cNvPr id="29" name="">
            <a:extLst>
              <a:ext uri="{FF2B5EF4-FFF2-40B4-BE49-F238E27FC236}">
                <a16:creationId id="{9C86CA17-A588-4AE1-9988-168C243C82FF}"/>
              </a:ext>
            </a:extLst>
          </p:cNvPr>
          <p:cNvSpPr>
            <a:spLocks noGrp="1"/>
          </p:cNvSpPr>
          <p:nvPr/>
        </p:nvSpPr>
        <p:spPr>
          <a:xfrm>
            <a:off x="685800" y="5734050"/>
            <a:ext cx="952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650" b="0">
                <a:solidFill>
                  <a:srgbClr val="53616B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3616B"/>
                </a:solidFill>
                <a:latin typeface="Calibri"/>
                <a:ea typeface="Calibri"/>
                <a:cs typeface="Calibri"/>
              </a:rPr>
              <a:t>Keep the current rule: external writes must remain idempotent, logged, and reversible.</a:t>
            </a:r>
          </a:p>
        </p:txBody>
      </p:sp>
    </p:spTree>
    <p:extLst>
      <p:ext uri="{BB962C8B-B14F-4D97-AF65-F5344CB8AC3E}">
        <p14:creationId val="992991047"/>
      </p:ext>
    </p:extLst>
  </p:cSld>
</p:sld>
</file>

<file path=ppt/theme/theme1.xml><?xml version="1.0" encoding="utf-8"?>
<a:theme xmlns:a="http://schemas.openxmlformats.org/drawingml/2006/main" name="ChatGPT">
  <a:themeElements>
    <a:clrScheme name="Bright Aqua">
      <a:dk1>
        <a:srgbClr val="000000"/>
      </a:dk1>
      <a:lt1>
        <a:srgbClr val="FFFFFF"/>
      </a:lt1>
      <a:dk2>
        <a:srgbClr val="213E50"/>
      </a:dk2>
      <a:lt2>
        <a:srgbClr val="E7ECEF"/>
      </a:lt2>
      <a:accent1>
        <a:srgbClr val="19C8BD"/>
      </a:accent1>
      <a:accent2>
        <a:srgbClr val="00AEB8"/>
      </a:accent2>
      <a:accent3>
        <a:srgbClr val="F4FBFA"/>
      </a:accent3>
      <a:accent4>
        <a:srgbClr val="E7ECEF"/>
      </a:accent4>
      <a:accent5>
        <a:srgbClr val="53616B"/>
      </a:accent5>
      <a:accent6>
        <a:srgbClr val="213E50"/>
      </a:accent6>
      <a:hlink>
        <a:srgbClr val="00AEB8"/>
      </a:hlink>
      <a:folHlink>
        <a:srgbClr val="19C8B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2026-07-01T15:43:13.2780000Z</dcterms:created>
  <dcterms:modified xsi:type="dcterms:W3CDTF">2026-07-01T15:43:13.2780000Z</dcterms:modified>
</coreProperties>
</file>