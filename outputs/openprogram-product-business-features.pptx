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6dd1b95b2c4a86" /><Relationship Type="http://schemas.openxmlformats.org/officeDocument/2006/relationships/extended-properties" Target="/docProps/app.xml" Id="Rbee3eece993c4150" /><Relationship Type="http://schemas.openxmlformats.org/officeDocument/2006/relationships/officeDocument" Target="/ppt/presentation.xml" Id="R1dd3c44124ec4c79" /></Relationships>
</file>

<file path=ppt/presentation.xml><?xml version="1.0" encoding="utf-8"?>
<p:presentation xmlns:p="http://schemas.openxmlformats.org/presentationml/2006/main">
  <p:sldMasterIdLst>
    <p:sldMasterId xmlns:r="http://schemas.openxmlformats.org/officeDocument/2006/relationships" id="2147483648" r:id="R3ab20d6a3cdd4cbc"/>
  </p:sldMasterIdLst>
  <p:notesMasterIdLst>
    <p:notesMasterId xmlns:r="http://schemas.openxmlformats.org/officeDocument/2006/relationships" r:id="R5d3abef4c8034b6e"/>
  </p:notesMasterIdLst>
  <p:sldIdLst>
    <p:sldId xmlns:r="http://schemas.openxmlformats.org/officeDocument/2006/relationships" id="256" r:id="Rc7f94442a50b4b98"/>
    <p:sldId xmlns:r="http://schemas.openxmlformats.org/officeDocument/2006/relationships" id="257" r:id="Rd2733d7d43ce47ca"/>
    <p:sldId xmlns:r="http://schemas.openxmlformats.org/officeDocument/2006/relationships" id="258" r:id="Rb76bdbfc95454856"/>
    <p:sldId xmlns:r="http://schemas.openxmlformats.org/officeDocument/2006/relationships" id="259" r:id="R303a2446213a49fc"/>
    <p:sldId xmlns:r="http://schemas.openxmlformats.org/officeDocument/2006/relationships" id="260" r:id="Rbffe691385174c8c"/>
    <p:sldId xmlns:r="http://schemas.openxmlformats.org/officeDocument/2006/relationships" id="261" r:id="R8d77c4353de0416d"/>
    <p:sldId xmlns:r="http://schemas.openxmlformats.org/officeDocument/2006/relationships" id="262" r:id="Re9dfad91cbcc4017"/>
    <p:sldId xmlns:r="http://schemas.openxmlformats.org/officeDocument/2006/relationships" id="263" r:id="Rbceb51e929e3404f"/>
    <p:sldId xmlns:r="http://schemas.openxmlformats.org/officeDocument/2006/relationships" id="264" r:id="R370ab36326f1449e"/>
    <p:sldId xmlns:r="http://schemas.openxmlformats.org/officeDocument/2006/relationships" id="265" r:id="Rba2824f79921425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96f1a31bbdf41a7" /><Relationship Type="http://schemas.openxmlformats.org/officeDocument/2006/relationships/slideMaster" Target="/ppt/slideMasters/slideMaster1.xml" Id="R3ab20d6a3cdd4cbc" /><Relationship Type="http://schemas.openxmlformats.org/officeDocument/2006/relationships/notesMaster" Target="/ppt/notesMasters/notesMaster1.xml" Id="R5d3abef4c8034b6e" /><Relationship Type="http://schemas.openxmlformats.org/officeDocument/2006/relationships/presProps" Target="/ppt/presProps.xml" Id="R83de1754b8d04a91" /><Relationship Type="http://schemas.openxmlformats.org/officeDocument/2006/relationships/tableStyles" Target="/ppt/tableStyles.xml" Id="R5b116cb870654bd6" /><Relationship Type="http://schemas.openxmlformats.org/officeDocument/2006/relationships/slide" Target="/ppt/slides/slide1.xml" Id="Rc7f94442a50b4b98" /><Relationship Type="http://schemas.openxmlformats.org/officeDocument/2006/relationships/slide" Target="/ppt/slides/slide2.xml" Id="Rd2733d7d43ce47ca" /><Relationship Type="http://schemas.openxmlformats.org/officeDocument/2006/relationships/slide" Target="/ppt/slides/slide3.xml" Id="Rb76bdbfc95454856" /><Relationship Type="http://schemas.openxmlformats.org/officeDocument/2006/relationships/slide" Target="/ppt/slides/slide4.xml" Id="R303a2446213a49fc" /><Relationship Type="http://schemas.openxmlformats.org/officeDocument/2006/relationships/slide" Target="/ppt/slides/slide5.xml" Id="Rbffe691385174c8c" /><Relationship Type="http://schemas.openxmlformats.org/officeDocument/2006/relationships/slide" Target="/ppt/slides/slide6.xml" Id="R8d77c4353de0416d" /><Relationship Type="http://schemas.openxmlformats.org/officeDocument/2006/relationships/slide" Target="/ppt/slides/slide7.xml" Id="Re9dfad91cbcc4017" /><Relationship Type="http://schemas.openxmlformats.org/officeDocument/2006/relationships/slide" Target="/ppt/slides/slide8.xml" Id="Rbceb51e929e3404f" /><Relationship Type="http://schemas.openxmlformats.org/officeDocument/2006/relationships/slide" Target="/ppt/slides/slide9.xml" Id="R370ab36326f1449e" /><Relationship Type="http://schemas.openxmlformats.org/officeDocument/2006/relationships/slide" Target="/ppt/slides/slide10.xml" Id="Rba2824f7992142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86b807891146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7f70491bde40e6" /><Relationship Type="http://schemas.openxmlformats.org/officeDocument/2006/relationships/notesMaster" Target="/ppt/notesMasters/notesMaster1.xml" Id="R58d4dd9b79d543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9b9e1463654198" /><Relationship Type="http://schemas.openxmlformats.org/officeDocument/2006/relationships/notesMaster" Target="/ppt/notesMasters/notesMaster1.xml" Id="R4d828d1b0baf4f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d5e870dc264d24" /><Relationship Type="http://schemas.openxmlformats.org/officeDocument/2006/relationships/notesMaster" Target="/ppt/notesMasters/notesMaster1.xml" Id="R832a035c11b543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18b1facee843c8" /><Relationship Type="http://schemas.openxmlformats.org/officeDocument/2006/relationships/notesMaster" Target="/ppt/notesMasters/notesMaster1.xml" Id="R87f4c7f6060e45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2abfb9aa74448a" /><Relationship Type="http://schemas.openxmlformats.org/officeDocument/2006/relationships/notesMaster" Target="/ppt/notesMasters/notesMaster1.xml" Id="Ra72308a0e3f348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f539ded4924596" /><Relationship Type="http://schemas.openxmlformats.org/officeDocument/2006/relationships/notesMaster" Target="/ppt/notesMasters/notesMaster1.xml" Id="Rd33f5b27663140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f241fb087f4c3a" /><Relationship Type="http://schemas.openxmlformats.org/officeDocument/2006/relationships/notesMaster" Target="/ppt/notesMasters/notesMaster1.xml" Id="Rffc4369aae734f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6d3a0a67a643a4" /><Relationship Type="http://schemas.openxmlformats.org/officeDocument/2006/relationships/notesMaster" Target="/ppt/notesMasters/notesMaster1.xml" Id="R61fd0b0bce354c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7b925477cc84f5d" /><Relationship Type="http://schemas.openxmlformats.org/officeDocument/2006/relationships/notesMaster" Target="/ppt/notesMasters/notesMaster1.xml" Id="R0de698bf8e9f4d6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253c2c5af2a4b8b" /><Relationship Type="http://schemas.openxmlformats.org/officeDocument/2006/relationships/notesMaster" Target="/ppt/notesMasters/notesMaster1.xml" Id="R2a6932ffbbcb46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69d4e97d2747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f98dd9f9dc4e50" /><Relationship Type="http://schemas.openxmlformats.org/officeDocument/2006/relationships/slideLayout" Target="/ppt/slideLayouts/slideLayout1.xml" Id="Red55a9c611a04a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55a9c611a04a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89a783894ac470b" /><Relationship Type="http://schemas.openxmlformats.org/officeDocument/2006/relationships/image" Target="/ppt/media/image.png" Id="R3d2150727df84eec" /><Relationship Type="http://schemas.openxmlformats.org/officeDocument/2006/relationships/notesSlide" Target="/ppt/notesSlides/notesSlide1.xml" Id="Rbc22d76d0f5141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1809f83c1204b2b" /><Relationship Type="http://schemas.openxmlformats.org/officeDocument/2006/relationships/notesSlide" Target="/ppt/notesSlides/notesSlide2.xml" Id="Rbc0a2a3f020c4b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dc14bb0b7914c3a" /><Relationship Type="http://schemas.openxmlformats.org/officeDocument/2006/relationships/notesSlide" Target="/ppt/notesSlides/notesSlide3.xml" Id="Rb8dc37c6ebe241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99cd9b6d6a64cfb" /><Relationship Type="http://schemas.openxmlformats.org/officeDocument/2006/relationships/notesSlide" Target="/ppt/notesSlides/notesSlide4.xml" Id="Rab684a2a63f945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1baf26a49d74fdd" /><Relationship Type="http://schemas.openxmlformats.org/officeDocument/2006/relationships/notesSlide" Target="/ppt/notesSlides/notesSlide5.xml" Id="R7bbc0b8a7ac04fc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ba09bb9f19543da" /><Relationship Type="http://schemas.openxmlformats.org/officeDocument/2006/relationships/image" Target="/ppt/media/image2.png" Id="R8157c057af7d4397" /><Relationship Type="http://schemas.openxmlformats.org/officeDocument/2006/relationships/image" Target="/ppt/media/image3.png" Id="R74ad37868001495e" /><Relationship Type="http://schemas.openxmlformats.org/officeDocument/2006/relationships/notesSlide" Target="/ppt/notesSlides/notesSlide6.xml" Id="R19ef20e2a9a441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5f45d734c0644d0" /><Relationship Type="http://schemas.openxmlformats.org/officeDocument/2006/relationships/notesSlide" Target="/ppt/notesSlides/notesSlide7.xml" Id="Rf4f572e7629742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5fb2483df074e24" /><Relationship Type="http://schemas.openxmlformats.org/officeDocument/2006/relationships/notesSlide" Target="/ppt/notesSlides/notesSlide8.xml" Id="R891b33ae6fa34ed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59049a14f974512" /><Relationship Type="http://schemas.openxmlformats.org/officeDocument/2006/relationships/notesSlide" Target="/ppt/notesSlides/notesSlide9.xml" Id="R3db4810a89504c3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fd2e473bfb24488" /><Relationship Type="http://schemas.openxmlformats.org/officeDocument/2006/relationships/image" Target="/ppt/media/image4.png" Id="Rb0f6cd822682488a" /><Relationship Type="http://schemas.openxmlformats.org/officeDocument/2006/relationships/notesSlide" Target="/ppt/notesSlides/notesSlide10.xml" Id="R13ced6a028d74e4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0071019B-64CD-461C-8D26-6246A22937C7}"/>
              </a:ext>
            </a:extLst>
          </p:cNvPr>
          <p:cNvSpPr>
            <a:spLocks xmlns:a="http://schemas.openxmlformats.org/drawingml/2006/main" noGrp="1"/>
          </p:cNvSpPr>
          <p:nvPr/>
        </p:nvSpPr>
        <p:spPr>
          <a:xfrm xmlns:a="http://schemas.openxmlformats.org/drawingml/2006/main">
            <a:off x="390525" y="390525"/>
            <a:ext cx="2857500" cy="3048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108000"/>
              </a:lnSpc>
              <a:buNone/>
              <a:defRPr sz="1350" b="1">
                <a:solidFill>
                  <a:srgbClr val="555555"/>
                </a:solidFill>
                <a:latin typeface="Helvetica Neue"/>
                <a:ea typeface="Helvetica Neue"/>
                <a:cs typeface="Helvetica Neue"/>
              </a:defRPr>
            </a:pPr>
            <a:r>
              <a:rPr sz="1350" b="1">
                <a:solidFill>
                  <a:srgbClr val="555555"/>
                </a:solidFill>
                <a:latin typeface="Helvetica Neue"/>
                <a:ea typeface="Helvetica Neue"/>
                <a:cs typeface="Helvetica Neue"/>
              </a:rPr>
              <a:t>OPENPROGRAM</a:t>
            </a:r>
          </a:p>
        </p:txBody>
      </p:sp>
      <p:sp>
        <p:nvSpPr>
          <p:cNvPr id="2" name="cover-title">
            <a:extLst xmlns:a="http://schemas.openxmlformats.org/drawingml/2006/main">
              <a:ext uri="{FF2B5EF4-FFF2-40B4-BE49-F238E27FC236}">
                <a16:creationId xmlns:a16="http://schemas.microsoft.com/office/drawing/2014/main" id="{1A9BCEDC-D031-4F32-BB24-DC27E99DAE62}"/>
              </a:ext>
            </a:extLst>
          </p:cNvPr>
          <p:cNvSpPr>
            <a:spLocks xmlns:a="http://schemas.openxmlformats.org/drawingml/2006/main" noGrp="1"/>
          </p:cNvSpPr>
          <p:nvPr/>
        </p:nvSpPr>
        <p:spPr>
          <a:xfrm xmlns:a="http://schemas.openxmlformats.org/drawingml/2006/main">
            <a:off x="390525" y="1171575"/>
            <a:ext cx="6334125" cy="2428875"/>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96000"/>
              </a:lnSpc>
              <a:buNone/>
              <a:defRPr sz="4950" b="1">
                <a:solidFill>
                  <a:srgbClr val="000000"/>
                </a:solidFill>
                <a:latin typeface="Helvetica Neue"/>
                <a:ea typeface="Helvetica Neue"/>
                <a:cs typeface="Helvetica Neue"/>
              </a:defRPr>
            </a:pPr>
            <a:r>
              <a:rPr sz="4950" b="1">
                <a:solidFill>
                  <a:srgbClr val="000000"/>
                </a:solidFill>
                <a:latin typeface="Helvetica Neue"/>
                <a:ea typeface="Helvetica Neue"/>
                <a:cs typeface="Helvetica Neue"/>
              </a:rPr>
              <a:t>Agentic program management for live delivery status</a:t>
            </a:r>
          </a:p>
        </p:txBody>
      </p:sp>
      <p:sp>
        <p:nvSpPr>
          <p:cNvPr id="3" name="cover-subtitle">
            <a:extLst xmlns:a="http://schemas.openxmlformats.org/drawingml/2006/main">
              <a:ext uri="{FF2B5EF4-FFF2-40B4-BE49-F238E27FC236}">
                <a16:creationId xmlns:a16="http://schemas.microsoft.com/office/drawing/2014/main" id="{40033400-BE35-4934-8909-708A7EFCEB61}"/>
              </a:ext>
            </a:extLst>
          </p:cNvPr>
          <p:cNvSpPr>
            <a:spLocks xmlns:a="http://schemas.openxmlformats.org/drawingml/2006/main" noGrp="1"/>
          </p:cNvSpPr>
          <p:nvPr/>
        </p:nvSpPr>
        <p:spPr>
          <a:xfrm xmlns:a="http://schemas.openxmlformats.org/drawingml/2006/main">
            <a:off x="428625" y="4048125"/>
            <a:ext cx="6191250" cy="11430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112000"/>
              </a:lnSpc>
              <a:buNone/>
              <a:defRPr sz="1875">
                <a:solidFill>
                  <a:srgbClr val="222222"/>
                </a:solidFill>
                <a:latin typeface="Helvetica Neue"/>
                <a:ea typeface="Helvetica Neue"/>
                <a:cs typeface="Helvetica Neue"/>
              </a:defRPr>
            </a:pPr>
            <a:r>
              <a:rPr sz="1875">
                <a:solidFill>
                  <a:srgbClr val="222222"/>
                </a:solidFill>
                <a:latin typeface="Helvetica Neue"/>
                <a:ea typeface="Helvetica Neue"/>
                <a:cs typeface="Helvetica Neue"/>
              </a:rPr>
              <a:t>A graph-backed operating console that collects human status, reconciles delivery signals, and gives every role a decision-ready view.</a:t>
            </a:r>
          </a:p>
        </p:txBody>
      </p:sp>
      <p:sp>
        <p:nvSpPr>
          <p:cNvPr id="4" name="cover-image-panel">
            <a:extLst xmlns:a="http://schemas.openxmlformats.org/drawingml/2006/main">
              <a:ext uri="{FF2B5EF4-FFF2-40B4-BE49-F238E27FC236}">
                <a16:creationId xmlns:a16="http://schemas.microsoft.com/office/drawing/2014/main" id="{D1E9E450-E90C-445E-9E46-AC8D6AC7AF58}"/>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footer-1">
            <a:extLst xmlns:a="http://schemas.openxmlformats.org/drawingml/2006/main">
              <a:ext uri="{FF2B5EF4-FFF2-40B4-BE49-F238E27FC236}">
                <a16:creationId xmlns:a16="http://schemas.microsoft.com/office/drawing/2014/main" id="{47213686-B414-4463-AE4D-412D3BADCB01}"/>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spcFirstLastPara="1" lIns="0" tIns="0" rIns="0" bIns="0" anchor="b">
            <a:normAutofit fontScale="100000"/>
          </a:bodyPr>
          <a:lstStyle xmlns:a="http://schemas.openxmlformats.org/drawingml/2006/main"/>
          <a:p xmlns:a="http://schemas.openxmlformats.org/drawingml/2006/main">
            <a:pPr algn="r">
              <a:lnSpc>
                <a:spcPct val="108000"/>
              </a:lnSpc>
              <a:buNone/>
              <a:defRPr sz="1125">
                <a:solidFill>
                  <a:srgbClr val="000000"/>
                </a:solidFill>
                <a:latin typeface="Helvetica Neue"/>
                <a:ea typeface="Helvetica Neue"/>
                <a:cs typeface="Helvetica Neue"/>
              </a:defRPr>
            </a:pPr>
            <a:r>
              <a:rPr sz="1125">
                <a:solidFill>
                  <a:srgbClr val="000000"/>
                </a:solidFill>
                <a:latin typeface="Helvetica Neue"/>
                <a:ea typeface="Helvetica Neue"/>
                <a:cs typeface="Helvetica Neue"/>
              </a:rPr>
              <a:t>01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d2150727df84eec"/>
          <a:stretch xmlns:a="http://schemas.openxmlformats.org/drawingml/2006/main"/>
        </p:blipFill>
        <p:spPr>
          <a:xfrm xmlns:a="http://schemas.openxmlformats.org/drawingml/2006/main">
            <a:off x="7486650" y="1527969"/>
            <a:ext cx="4457700" cy="237331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83AA5C9-CD34-4EAC-9140-7922DD973DB9}"/>
              </a:ext>
            </a:extLst>
          </p:cNvPr>
          <p:cNvSpPr>
            <a:spLocks xmlns:a="http://schemas.openxmlformats.org/drawingml/2006/main" noGrp="1"/>
          </p:cNvSpPr>
          <p:nvPr/>
        </p:nvSpPr>
        <p:spPr>
          <a:xfrm xmlns:a="http://schemas.openxmlformats.org/drawingml/2006/main">
            <a:off x="7486650" y="1524000"/>
            <a:ext cx="4457700" cy="2381250"/>
          </a:xfrm>
          <a:prstGeom xmlns:a="http://schemas.openxmlformats.org/drawingml/2006/main" prst="rect">
            <a:avLst/>
          </a:prstGeom>
          <a:noFill xmlns:a="http://schemas.openxmlformats.org/drawingml/2006/main"/>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7FA553D1-AED5-403F-90EC-24EB309EEE21}"/>
              </a:ext>
            </a:extLst>
          </p:cNvPr>
          <p:cNvSpPr>
            <a:spLocks xmlns:a="http://schemas.openxmlformats.org/drawingml/2006/main" noGrp="1"/>
          </p:cNvSpPr>
          <p:nvPr/>
        </p:nvSpPr>
        <p:spPr>
          <a:xfrm xmlns:a="http://schemas.openxmlformats.org/drawingml/2006/main">
            <a:off x="8048625" y="4343400"/>
            <a:ext cx="3333750" cy="3619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Operational delivery console</a:t>
            </a:r>
          </a:p>
        </p:txBody>
      </p:sp>
    </p:spTree>
    <p:extLst>
      <p:ext uri="{BB962C8B-B14F-4D97-AF65-F5344CB8AC3E}">
        <p14:creationId xmlns:p14="http://schemas.microsoft.com/office/powerpoint/2010/main" val="14686891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itle">
            <a:extLst xmlns:a="http://schemas.openxmlformats.org/drawingml/2006/main">
              <a:ext uri="{FF2B5EF4-FFF2-40B4-BE49-F238E27FC236}">
                <a16:creationId xmlns:a16="http://schemas.microsoft.com/office/drawing/2014/main" id="{22A12580-6D2D-4D98-A915-393D09D754AA}"/>
              </a:ext>
            </a:extLst>
          </p:cNvPr>
          <p:cNvSpPr>
            <a:spLocks xmlns:a="http://schemas.openxmlformats.org/drawingml/2006/main" noGrp="1"/>
          </p:cNvSpPr>
          <p:nvPr/>
        </p:nvSpPr>
        <p:spPr>
          <a:xfrm xmlns:a="http://schemas.openxmlformats.org/drawingml/2006/main">
            <a:off x="390525" y="342900"/>
            <a:ext cx="9525000" cy="1047750"/>
          </a:xfrm>
          <a:prstGeom xmlns:a="http://schemas.openxmlformats.org/drawingml/2006/main" prst="rect">
            <a:avLst/>
          </a:prstGeom>
        </p:spPr>
        <p:txBody>
          <a:bodyPr xmlns:a="http://schemas.openxmlformats.org/drawingml/2006/main" spcFirstLastPara="1" lIns="0" tIns="0" rIns="0" bIns="0" anchor="t">
            <a:normAutofit fontScale="96303"/>
          </a:bodyPr>
          <a:lstStyle xmlns:a="http://schemas.openxmlformats.org/drawingml/2006/main"/>
          <a:p xmlns:a="http://schemas.openxmlformats.org/drawingml/2006/main">
            <a:pPr>
              <a:lnSpc>
                <a:spcPct val="108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Software status still depends on manual chasing</a:t>
            </a:r>
          </a:p>
        </p:txBody>
      </p:sp>
      <p:sp>
        <p:nvSpPr>
          <p:cNvPr id="2" name="body">
            <a:extLst xmlns:a="http://schemas.openxmlformats.org/drawingml/2006/main">
              <a:ext uri="{FF2B5EF4-FFF2-40B4-BE49-F238E27FC236}">
                <a16:creationId xmlns:a16="http://schemas.microsoft.com/office/drawing/2014/main" id="{12D5CBD3-8929-4CA6-A4AD-D1BFED7AA66B}"/>
              </a:ext>
            </a:extLst>
          </p:cNvPr>
          <p:cNvSpPr>
            <a:spLocks xmlns:a="http://schemas.openxmlformats.org/drawingml/2006/main" noGrp="1"/>
          </p:cNvSpPr>
          <p:nvPr/>
        </p:nvSpPr>
        <p:spPr>
          <a:xfrm xmlns:a="http://schemas.openxmlformats.org/drawingml/2006/main">
            <a:off x="390525" y="1695450"/>
            <a:ext cx="5524500" cy="17145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112000"/>
              </a:lnSpc>
              <a:buNone/>
              <a:defRPr sz="1950">
                <a:solidFill>
                  <a:srgbClr val="222222"/>
                </a:solidFill>
                <a:latin typeface="Helvetica Neue"/>
                <a:ea typeface="Helvetica Neue"/>
                <a:cs typeface="Helvetica Neue"/>
              </a:defRPr>
            </a:pPr>
            <a:r>
              <a:rPr sz="1950">
                <a:solidFill>
                  <a:srgbClr val="222222"/>
                </a:solidFill>
                <a:latin typeface="Helvetica Neue"/>
                <a:ea typeface="Helvetica Neue"/>
                <a:cs typeface="Helvetica Neue"/>
              </a:rPr>
              <a:t>Teams already leave signals across chat, Jira, Git, calendars, and CI. The business problem is that those signals are fragmented, human summaries arrive late, and silence often looks healthier than it is.</a:t>
            </a:r>
          </a:p>
        </p:txBody>
      </p:sp>
      <p:sp>
        <p:nvSpPr>
          <p:cNvPr id="3" name="sq1">
            <a:extLst xmlns:a="http://schemas.openxmlformats.org/drawingml/2006/main">
              <a:ext uri="{FF2B5EF4-FFF2-40B4-BE49-F238E27FC236}">
                <a16:creationId xmlns:a16="http://schemas.microsoft.com/office/drawing/2014/main" id="{BE6AA33C-FF22-4C8A-995F-FEDCFC179014}"/>
              </a:ext>
            </a:extLst>
          </p:cNvPr>
          <p:cNvSpPr>
            <a:spLocks xmlns:a="http://schemas.openxmlformats.org/drawingml/2006/main" noGrp="1"/>
          </p:cNvSpPr>
          <p:nvPr/>
        </p:nvSpPr>
        <p:spPr>
          <a:xfrm xmlns:a="http://schemas.openxmlformats.org/drawingml/2006/main">
            <a:off x="6496050" y="2057400"/>
            <a:ext cx="209550" cy="2095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4" name="point1">
            <a:extLst xmlns:a="http://schemas.openxmlformats.org/drawingml/2006/main">
              <a:ext uri="{FF2B5EF4-FFF2-40B4-BE49-F238E27FC236}">
                <a16:creationId xmlns:a16="http://schemas.microsoft.com/office/drawing/2014/main" id="{91B2A9EA-B716-4498-AD50-791C7D2D122E}"/>
              </a:ext>
            </a:extLst>
          </p:cNvPr>
          <p:cNvSpPr>
            <a:spLocks xmlns:a="http://schemas.openxmlformats.org/drawingml/2006/main" noGrp="1"/>
          </p:cNvSpPr>
          <p:nvPr/>
        </p:nvSpPr>
        <p:spPr>
          <a:xfrm xmlns:a="http://schemas.openxmlformats.org/drawingml/2006/main">
            <a:off x="6896100" y="1952625"/>
            <a:ext cx="4495800" cy="952500"/>
          </a:xfrm>
          <a:prstGeom xmlns:a="http://schemas.openxmlformats.org/drawingml/2006/main" prst="rect">
            <a:avLst/>
          </a:prstGeom>
        </p:spPr>
        <p:txBody>
          <a:bodyPr xmlns:a="http://schemas.openxmlformats.org/drawingml/2006/main" spcFirstLastPara="1" lIns="0" tIns="0" rIns="0" bIns="0" anchor="t">
            <a:normAutofit fontScale="93334"/>
          </a:bodyPr>
          <a:lstStyle xmlns:a="http://schemas.openxmlformats.org/drawingml/2006/main"/>
          <a:p xmlns:a="http://schemas.openxmlformats.org/drawingml/2006/main">
            <a:pPr>
              <a:lnSpc>
                <a:spcPct val="108000"/>
              </a:lnSpc>
              <a:buNone/>
              <a:defRPr sz="1800">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Status reporting burns coordination time</a:t>
            </a:r>
          </a:p>
          <a:p xmlns:a="http://schemas.openxmlformats.org/drawingml/2006/main">
            <a:pPr>
              <a:lnSpc>
                <a:spcPct val="108000"/>
              </a:lnSpc>
              <a:buNone/>
              <a:defRPr sz="1800">
                <a:solidFill>
                  <a:srgbClr val="000000"/>
                </a:solidFill>
                <a:latin typeface="Helvetica Neue"/>
                <a:ea typeface="Helvetica Neue"/>
                <a:cs typeface="Helvetica Neue"/>
              </a:defRPr>
            </a:pPr>
            <a:r>
              <a:rPr sz="1575">
                <a:solidFill>
                  <a:srgbClr val="222222"/>
                </a:solidFill>
                <a:latin typeface="Helvetica Neue"/>
                <a:ea typeface="Helvetica Neue"/>
                <a:cs typeface="Helvetica Neue"/>
              </a:rPr>
              <a:t>Scrum masters and managers spend energy collecting updates instead of unblocking delivery.</a:t>
            </a:r>
          </a:p>
        </p:txBody>
      </p:sp>
      <p:sp>
        <p:nvSpPr>
          <p:cNvPr id="5" name="sq2">
            <a:extLst xmlns:a="http://schemas.openxmlformats.org/drawingml/2006/main">
              <a:ext uri="{FF2B5EF4-FFF2-40B4-BE49-F238E27FC236}">
                <a16:creationId xmlns:a16="http://schemas.microsoft.com/office/drawing/2014/main" id="{047AB56F-0F65-4DE5-B665-2159F06EA655}"/>
              </a:ext>
            </a:extLst>
          </p:cNvPr>
          <p:cNvSpPr>
            <a:spLocks xmlns:a="http://schemas.openxmlformats.org/drawingml/2006/main" noGrp="1"/>
          </p:cNvSpPr>
          <p:nvPr/>
        </p:nvSpPr>
        <p:spPr>
          <a:xfrm xmlns:a="http://schemas.openxmlformats.org/drawingml/2006/main">
            <a:off x="6496050" y="3467100"/>
            <a:ext cx="209550" cy="209550"/>
          </a:xfrm>
          <a:prstGeom xmlns:a="http://schemas.openxmlformats.org/drawingml/2006/main" prst="rect">
            <a:avLst/>
          </a:prstGeom>
          <a:solidFill xmlns:a="http://schemas.openxmlformats.org/drawingml/2006/main">
            <a:srgbClr val="D88A16"/>
          </a:solidFill>
          <a:ln xmlns:a="http://schemas.openxmlformats.org/drawingml/2006/main" w="0">
            <a:noFill/>
            <a:prstDash val="solid"/>
          </a:ln>
        </p:spPr>
      </p:sp>
      <p:sp>
        <p:nvSpPr>
          <p:cNvPr id="6" name="point2">
            <a:extLst xmlns:a="http://schemas.openxmlformats.org/drawingml/2006/main">
              <a:ext uri="{FF2B5EF4-FFF2-40B4-BE49-F238E27FC236}">
                <a16:creationId xmlns:a16="http://schemas.microsoft.com/office/drawing/2014/main" id="{88A77F5F-1B80-422E-81D4-680667D8BFBC}"/>
              </a:ext>
            </a:extLst>
          </p:cNvPr>
          <p:cNvSpPr>
            <a:spLocks xmlns:a="http://schemas.openxmlformats.org/drawingml/2006/main" noGrp="1"/>
          </p:cNvSpPr>
          <p:nvPr/>
        </p:nvSpPr>
        <p:spPr>
          <a:xfrm xmlns:a="http://schemas.openxmlformats.org/drawingml/2006/main">
            <a:off x="6896100" y="3362325"/>
            <a:ext cx="4495800" cy="9525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108000"/>
              </a:lnSpc>
              <a:buNone/>
              <a:defRPr sz="1800">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Late information hides delivery risk</a:t>
            </a:r>
          </a:p>
          <a:p xmlns:a="http://schemas.openxmlformats.org/drawingml/2006/main">
            <a:pPr>
              <a:lnSpc>
                <a:spcPct val="108000"/>
              </a:lnSpc>
              <a:buNone/>
              <a:defRPr sz="1800">
                <a:solidFill>
                  <a:srgbClr val="000000"/>
                </a:solidFill>
                <a:latin typeface="Helvetica Neue"/>
                <a:ea typeface="Helvetica Neue"/>
                <a:cs typeface="Helvetica Neue"/>
              </a:defRPr>
            </a:pPr>
            <a:r>
              <a:rPr sz="1575">
                <a:solidFill>
                  <a:srgbClr val="222222"/>
                </a:solidFill>
                <a:latin typeface="Helvetica Neue"/>
                <a:ea typeface="Helvetica Neue"/>
                <a:cs typeface="Helvetica Neue"/>
              </a:rPr>
              <a:t>Blockers, stale tasks, and mismatched progress can stay invisible until the next review.</a:t>
            </a:r>
          </a:p>
        </p:txBody>
      </p:sp>
      <p:sp>
        <p:nvSpPr>
          <p:cNvPr id="7" name="sq3">
            <a:extLst xmlns:a="http://schemas.openxmlformats.org/drawingml/2006/main">
              <a:ext uri="{FF2B5EF4-FFF2-40B4-BE49-F238E27FC236}">
                <a16:creationId xmlns:a16="http://schemas.microsoft.com/office/drawing/2014/main" id="{5FA0ECA5-8345-4F8B-B3F6-80BC13EA05AB}"/>
              </a:ext>
            </a:extLst>
          </p:cNvPr>
          <p:cNvSpPr>
            <a:spLocks xmlns:a="http://schemas.openxmlformats.org/drawingml/2006/main" noGrp="1"/>
          </p:cNvSpPr>
          <p:nvPr/>
        </p:nvSpPr>
        <p:spPr>
          <a:xfrm xmlns:a="http://schemas.openxmlformats.org/drawingml/2006/main">
            <a:off x="6496050" y="4876800"/>
            <a:ext cx="209550" cy="209550"/>
          </a:xfrm>
          <a:prstGeom xmlns:a="http://schemas.openxmlformats.org/drawingml/2006/main" prst="rect">
            <a:avLst/>
          </a:prstGeom>
          <a:solidFill xmlns:a="http://schemas.openxmlformats.org/drawingml/2006/main">
            <a:srgbClr val="CF3F3F"/>
          </a:solidFill>
          <a:ln xmlns:a="http://schemas.openxmlformats.org/drawingml/2006/main" w="0">
            <a:noFill/>
            <a:prstDash val="solid"/>
          </a:ln>
        </p:spPr>
      </p:sp>
      <p:sp>
        <p:nvSpPr>
          <p:cNvPr id="8" name="point3">
            <a:extLst xmlns:a="http://schemas.openxmlformats.org/drawingml/2006/main">
              <a:ext uri="{FF2B5EF4-FFF2-40B4-BE49-F238E27FC236}">
                <a16:creationId xmlns:a16="http://schemas.microsoft.com/office/drawing/2014/main" id="{C6AC4BB7-9418-40A0-BDF3-82D50929AF5B}"/>
              </a:ext>
            </a:extLst>
          </p:cNvPr>
          <p:cNvSpPr>
            <a:spLocks xmlns:a="http://schemas.openxmlformats.org/drawingml/2006/main" noGrp="1"/>
          </p:cNvSpPr>
          <p:nvPr/>
        </p:nvSpPr>
        <p:spPr>
          <a:xfrm xmlns:a="http://schemas.openxmlformats.org/drawingml/2006/main">
            <a:off x="6896100" y="4772025"/>
            <a:ext cx="4495800" cy="9525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108000"/>
              </a:lnSpc>
              <a:buNone/>
              <a:defRPr sz="1800">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Rollups are hard to trust</a:t>
            </a:r>
          </a:p>
          <a:p xmlns:a="http://schemas.openxmlformats.org/drawingml/2006/main">
            <a:pPr>
              <a:lnSpc>
                <a:spcPct val="108000"/>
              </a:lnSpc>
              <a:buNone/>
              <a:defRPr sz="1800">
                <a:solidFill>
                  <a:srgbClr val="000000"/>
                </a:solidFill>
                <a:latin typeface="Helvetica Neue"/>
                <a:ea typeface="Helvetica Neue"/>
                <a:cs typeface="Helvetica Neue"/>
              </a:defRPr>
            </a:pPr>
            <a:r>
              <a:rPr sz="1575">
                <a:solidFill>
                  <a:srgbClr val="222222"/>
                </a:solidFill>
                <a:latin typeface="Helvetica Neue"/>
                <a:ea typeface="Helvetica Neue"/>
                <a:cs typeface="Helvetica Neue"/>
              </a:rPr>
              <a:t>A green portfolio signal is weak if it cannot trace back to source tasks, developers, and facts.</a:t>
            </a:r>
          </a:p>
        </p:txBody>
      </p:sp>
      <p:sp>
        <p:nvSpPr>
          <p:cNvPr id="9" name="footer-2">
            <a:extLst xmlns:a="http://schemas.openxmlformats.org/drawingml/2006/main">
              <a:ext uri="{FF2B5EF4-FFF2-40B4-BE49-F238E27FC236}">
                <a16:creationId xmlns:a16="http://schemas.microsoft.com/office/drawing/2014/main" id="{70618A6D-B854-4607-BADA-3C81F580E856}"/>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spcFirstLastPara="1" lIns="0" tIns="0" rIns="0" bIns="0" anchor="b">
            <a:normAutofit fontScale="100000"/>
          </a:bodyPr>
          <a:lstStyle xmlns:a="http://schemas.openxmlformats.org/drawingml/2006/main"/>
          <a:p xmlns:a="http://schemas.openxmlformats.org/drawingml/2006/main">
            <a:pPr algn="r">
              <a:lnSpc>
                <a:spcPct val="108000"/>
              </a:lnSpc>
              <a:buNone/>
              <a:defRPr sz="1125">
                <a:solidFill>
                  <a:srgbClr val="000000"/>
                </a:solidFill>
                <a:latin typeface="Helvetica Neue"/>
                <a:ea typeface="Helvetica Neue"/>
                <a:cs typeface="Helvetica Neue"/>
              </a:defRPr>
            </a:pPr>
            <a:r>
              <a:rPr sz="1125">
                <a:solidFill>
                  <a:srgbClr val="000000"/>
                </a:solidFill>
                <a:latin typeface="Helvetica Neue"/>
                <a:ea typeface="Helvetica Neue"/>
                <a:cs typeface="Helvetica Neue"/>
              </a:rPr>
              <a:t>02</a:t>
            </a:r>
          </a:p>
        </p:txBody>
      </p:sp>
    </p:spTree>
    <p:extLst>
      <p:ext uri="{BB962C8B-B14F-4D97-AF65-F5344CB8AC3E}">
        <p14:creationId xmlns:p14="http://schemas.microsoft.com/office/powerpoint/2010/main" val="10876447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itle">
            <a:extLst xmlns:a="http://schemas.openxmlformats.org/drawingml/2006/main">
              <a:ext uri="{FF2B5EF4-FFF2-40B4-BE49-F238E27FC236}">
                <a16:creationId xmlns:a16="http://schemas.microsoft.com/office/drawing/2014/main" id="{1D2F6F97-3441-4489-AFEC-855B8A3A782B}"/>
              </a:ext>
            </a:extLst>
          </p:cNvPr>
          <p:cNvSpPr>
            <a:spLocks xmlns:a="http://schemas.openxmlformats.org/drawingml/2006/main" noGrp="1"/>
          </p:cNvSpPr>
          <p:nvPr/>
        </p:nvSpPr>
        <p:spPr>
          <a:xfrm xmlns:a="http://schemas.openxmlformats.org/drawingml/2006/main">
            <a:off x="390525" y="342900"/>
            <a:ext cx="8953500" cy="1066800"/>
          </a:xfrm>
          <a:prstGeom xmlns:a="http://schemas.openxmlformats.org/drawingml/2006/main" prst="rect">
            <a:avLst/>
          </a:prstGeom>
        </p:spPr>
        <p:txBody>
          <a:bodyPr xmlns:a="http://schemas.openxmlformats.org/drawingml/2006/main" spcFirstLastPara="1" lIns="0" tIns="0" rIns="0" bIns="0" anchor="t">
            <a:normAutofit fontScale="93934"/>
          </a:bodyPr>
          <a:lstStyle xmlns:a="http://schemas.openxmlformats.org/drawingml/2006/main"/>
          <a:p xmlns:a="http://schemas.openxmlformats.org/drawingml/2006/main">
            <a:pPr>
              <a:lnSpc>
                <a:spcPct val="108000"/>
              </a:lnSpc>
              <a:buNone/>
              <a:defRPr sz="3450" b="1">
                <a:solidFill>
                  <a:srgbClr val="000000"/>
                </a:solidFill>
                <a:latin typeface="Helvetica Neue"/>
                <a:ea typeface="Helvetica Neue"/>
                <a:cs typeface="Helvetica Neue"/>
              </a:defRPr>
            </a:pPr>
            <a:r>
              <a:rPr sz="3450" b="1">
                <a:solidFill>
                  <a:srgbClr val="000000"/>
                </a:solidFill>
                <a:latin typeface="Helvetica Neue"/>
                <a:ea typeface="Helvetica Neue"/>
                <a:cs typeface="Helvetica Neue"/>
              </a:rPr>
              <a:t>OpenProgram turns status into a continuous operating loop</a:t>
            </a:r>
          </a:p>
        </p:txBody>
      </p:sp>
      <p:sp>
        <p:nvSpPr>
          <p:cNvPr id="2" name="intro">
            <a:extLst xmlns:a="http://schemas.openxmlformats.org/drawingml/2006/main">
              <a:ext uri="{FF2B5EF4-FFF2-40B4-BE49-F238E27FC236}">
                <a16:creationId xmlns:a16="http://schemas.microsoft.com/office/drawing/2014/main" id="{99FBBC3D-F0B4-424C-AD6C-9CBCED98860D}"/>
              </a:ext>
            </a:extLst>
          </p:cNvPr>
          <p:cNvSpPr>
            <a:spLocks xmlns:a="http://schemas.openxmlformats.org/drawingml/2006/main" noGrp="1"/>
          </p:cNvSpPr>
          <p:nvPr/>
        </p:nvSpPr>
        <p:spPr>
          <a:xfrm xmlns:a="http://schemas.openxmlformats.org/drawingml/2006/main">
            <a:off x="390525" y="1495425"/>
            <a:ext cx="7239000" cy="6858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108000"/>
              </a:lnSpc>
              <a:buNone/>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The product does not wait for a dashboard refresh or a meeting. It asks, parses, records, rolls up, and exposes the next action.</a:t>
            </a:r>
          </a:p>
        </p:txBody>
      </p:sp>
      <p:sp>
        <p:nvSpPr>
          <p:cNvPr id="3" name="band">
            <a:extLst xmlns:a="http://schemas.openxmlformats.org/drawingml/2006/main">
              <a:ext uri="{FF2B5EF4-FFF2-40B4-BE49-F238E27FC236}">
                <a16:creationId xmlns:a16="http://schemas.microsoft.com/office/drawing/2014/main" id="{BC273C15-8712-4904-9D53-DC6B5795528D}"/>
              </a:ext>
            </a:extLst>
          </p:cNvPr>
          <p:cNvSpPr>
            <a:spLocks xmlns:a="http://schemas.openxmlformats.org/drawingml/2006/main" noGrp="1"/>
          </p:cNvSpPr>
          <p:nvPr/>
        </p:nvSpPr>
        <p:spPr>
          <a:xfrm xmlns:a="http://schemas.openxmlformats.org/drawingml/2006/main">
            <a:off x="0" y="5381625"/>
            <a:ext cx="12192000" cy="14859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4" name="footer-3">
            <a:extLst xmlns:a="http://schemas.openxmlformats.org/drawingml/2006/main">
              <a:ext uri="{FF2B5EF4-FFF2-40B4-BE49-F238E27FC236}">
                <a16:creationId xmlns:a16="http://schemas.microsoft.com/office/drawing/2014/main" id="{D9F6C6DE-D16E-4A4B-96B3-EB1AC4F5999A}"/>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spcFirstLastPara="1" lIns="0" tIns="0" rIns="0" bIns="0" anchor="b">
            <a:normAutofit fontScale="100000"/>
          </a:bodyPr>
          <a:lstStyle xmlns:a="http://schemas.openxmlformats.org/drawingml/2006/main"/>
          <a:p xmlns:a="http://schemas.openxmlformats.org/drawingml/2006/main">
            <a:pPr algn="r">
              <a:lnSpc>
                <a:spcPct val="108000"/>
              </a:lnSpc>
              <a:buNone/>
              <a:defRPr sz="1125">
                <a:solidFill>
                  <a:srgbClr val="000000"/>
                </a:solidFill>
                <a:latin typeface="Helvetica Neue"/>
                <a:ea typeface="Helvetica Neue"/>
                <a:cs typeface="Helvetica Neue"/>
              </a:defRPr>
            </a:pPr>
            <a:r>
              <a:rPr sz="1125">
                <a:solidFill>
                  <a:srgbClr val="000000"/>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47D9342A-5A18-4024-8759-0507A39B09B2}"/>
              </a:ext>
            </a:extLst>
          </p:cNvPr>
          <p:cNvSpPr>
            <a:spLocks xmlns:a="http://schemas.openxmlformats.org/drawingml/2006/main" noGrp="1"/>
          </p:cNvSpPr>
          <p:nvPr/>
        </p:nvSpPr>
        <p:spPr>
          <a:xfrm xmlns:a="http://schemas.openxmlformats.org/drawingml/2006/main">
            <a:off x="400050" y="2686050"/>
            <a:ext cx="1885950" cy="1714500"/>
          </a:xfrm>
          <a:prstGeom xmlns:a="http://schemas.openxmlformats.org/drawingml/2006/main" prst="rect">
            <a:avLst/>
          </a:prstGeom>
          <a:solidFill xmlns:a="http://schemas.openxmlformats.org/drawingml/2006/main">
            <a:srgbClr val="EAF1FF"/>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97D63AFB-985D-4864-85E9-F9EEC239130C}"/>
              </a:ext>
            </a:extLst>
          </p:cNvPr>
          <p:cNvSpPr>
            <a:spLocks xmlns:a="http://schemas.openxmlformats.org/drawingml/2006/main" noGrp="1"/>
          </p:cNvSpPr>
          <p:nvPr/>
        </p:nvSpPr>
        <p:spPr>
          <a:xfrm xmlns:a="http://schemas.openxmlformats.org/drawingml/2006/main">
            <a:off x="571500" y="290512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75" b="1">
                <a:solidFill>
                  <a:srgbClr val="000000"/>
                </a:solidFill>
                <a:latin typeface="Helvetica Neue"/>
                <a:ea typeface="Helvetica Neue"/>
                <a:cs typeface="Helvetica Neue"/>
              </a:defRPr>
            </a:pPr>
            <a:r>
              <a:rPr sz="2175" b="1">
                <a:solidFill>
                  <a:srgbClr val="000000"/>
                </a:solidFill>
                <a:latin typeface="Helvetica Neue"/>
                <a:ea typeface="Helvetica Neue"/>
                <a:cs typeface="Helvetica Neue"/>
              </a:rPr>
              <a:t>Ask</a:t>
            </a:r>
          </a:p>
        </p:txBody>
      </p:sp>
      <p:sp>
        <p:nvSpPr>
          <p:cNvPr id="7" name="">
            <a:extLst xmlns:a="http://schemas.openxmlformats.org/drawingml/2006/main">
              <a:ext uri="{FF2B5EF4-FFF2-40B4-BE49-F238E27FC236}">
                <a16:creationId xmlns:a16="http://schemas.microsoft.com/office/drawing/2014/main" id="{B5A65CC6-F197-4B66-B958-86D2B272A292}"/>
              </a:ext>
            </a:extLst>
          </p:cNvPr>
          <p:cNvSpPr>
            <a:spLocks xmlns:a="http://schemas.openxmlformats.org/drawingml/2006/main" noGrp="1"/>
          </p:cNvSpPr>
          <p:nvPr/>
        </p:nvSpPr>
        <p:spPr>
          <a:xfrm xmlns:a="http://schemas.openxmlformats.org/drawingml/2006/main">
            <a:off x="571500" y="3390900"/>
            <a:ext cx="1524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222222"/>
                </a:solidFill>
                <a:latin typeface="Helvetica Neue"/>
                <a:ea typeface="Helvetica Neue"/>
                <a:cs typeface="Helvetica Neue"/>
              </a:defRPr>
            </a:pPr>
            <a:r>
              <a:rPr sz="1200">
                <a:solidFill>
                  <a:srgbClr val="222222"/>
                </a:solidFill>
                <a:latin typeface="Helvetica Neue"/>
                <a:ea typeface="Helvetica Neue"/>
                <a:cs typeface="Helvetica Neue"/>
              </a:rPr>
              <a:t>Proactive chat check-ins respect preferences and context.</a:t>
            </a:r>
          </a:p>
        </p:txBody>
      </p:sp>
      <p:sp>
        <p:nvSpPr>
          <p:cNvPr id="8" name="">
            <a:extLst xmlns:a="http://schemas.openxmlformats.org/drawingml/2006/main">
              <a:ext uri="{FF2B5EF4-FFF2-40B4-BE49-F238E27FC236}">
                <a16:creationId xmlns:a16="http://schemas.microsoft.com/office/drawing/2014/main" id="{279CE31E-DA26-4833-8BEC-C32D7E91B834}"/>
              </a:ext>
            </a:extLst>
          </p:cNvPr>
          <p:cNvSpPr>
            <a:spLocks xmlns:a="http://schemas.openxmlformats.org/drawingml/2006/main" noGrp="1"/>
          </p:cNvSpPr>
          <p:nvPr/>
        </p:nvSpPr>
        <p:spPr>
          <a:xfrm xmlns:a="http://schemas.openxmlformats.org/drawingml/2006/main">
            <a:off x="2333625" y="3543300"/>
            <a:ext cx="276225" cy="0"/>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9" name="">
            <a:extLst xmlns:a="http://schemas.openxmlformats.org/drawingml/2006/main">
              <a:ext uri="{FF2B5EF4-FFF2-40B4-BE49-F238E27FC236}">
                <a16:creationId xmlns:a16="http://schemas.microsoft.com/office/drawing/2014/main" id="{F0B679D9-61D8-44E2-8700-6C47932C5EA2}"/>
              </a:ext>
            </a:extLst>
          </p:cNvPr>
          <p:cNvSpPr>
            <a:spLocks xmlns:a="http://schemas.openxmlformats.org/drawingml/2006/main" noGrp="1"/>
          </p:cNvSpPr>
          <p:nvPr/>
        </p:nvSpPr>
        <p:spPr>
          <a:xfrm xmlns:a="http://schemas.openxmlformats.org/drawingml/2006/main">
            <a:off x="2686050" y="2686050"/>
            <a:ext cx="1885950" cy="1714500"/>
          </a:xfrm>
          <a:prstGeom xmlns:a="http://schemas.openxmlformats.org/drawingml/2006/main" prst="rect">
            <a:avLst/>
          </a:prstGeom>
          <a:solidFill xmlns:a="http://schemas.openxmlformats.org/drawingml/2006/main">
            <a:srgbClr val="EAF6EF"/>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0E13C3F8-2535-4B8C-8154-10954DB1A41B}"/>
              </a:ext>
            </a:extLst>
          </p:cNvPr>
          <p:cNvSpPr>
            <a:spLocks xmlns:a="http://schemas.openxmlformats.org/drawingml/2006/main" noGrp="1"/>
          </p:cNvSpPr>
          <p:nvPr/>
        </p:nvSpPr>
        <p:spPr>
          <a:xfrm xmlns:a="http://schemas.openxmlformats.org/drawingml/2006/main">
            <a:off x="2857500" y="290512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75" b="1">
                <a:solidFill>
                  <a:srgbClr val="000000"/>
                </a:solidFill>
                <a:latin typeface="Helvetica Neue"/>
                <a:ea typeface="Helvetica Neue"/>
                <a:cs typeface="Helvetica Neue"/>
              </a:defRPr>
            </a:pPr>
            <a:r>
              <a:rPr sz="2175" b="1">
                <a:solidFill>
                  <a:srgbClr val="000000"/>
                </a:solidFill>
                <a:latin typeface="Helvetica Neue"/>
                <a:ea typeface="Helvetica Neue"/>
                <a:cs typeface="Helvetica Neue"/>
              </a:rPr>
              <a:t>Parse</a:t>
            </a:r>
          </a:p>
        </p:txBody>
      </p:sp>
      <p:sp>
        <p:nvSpPr>
          <p:cNvPr id="11" name="">
            <a:extLst xmlns:a="http://schemas.openxmlformats.org/drawingml/2006/main">
              <a:ext uri="{FF2B5EF4-FFF2-40B4-BE49-F238E27FC236}">
                <a16:creationId xmlns:a16="http://schemas.microsoft.com/office/drawing/2014/main" id="{3F0B6D4C-2CF1-4762-9802-41A89ECD7DD8}"/>
              </a:ext>
            </a:extLst>
          </p:cNvPr>
          <p:cNvSpPr>
            <a:spLocks xmlns:a="http://schemas.openxmlformats.org/drawingml/2006/main" noGrp="1"/>
          </p:cNvSpPr>
          <p:nvPr/>
        </p:nvSpPr>
        <p:spPr>
          <a:xfrm xmlns:a="http://schemas.openxmlformats.org/drawingml/2006/main">
            <a:off x="2857500" y="3390900"/>
            <a:ext cx="1524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222222"/>
                </a:solidFill>
                <a:latin typeface="Helvetica Neue"/>
                <a:ea typeface="Helvetica Neue"/>
                <a:cs typeface="Helvetica Neue"/>
              </a:defRPr>
            </a:pPr>
            <a:r>
              <a:rPr sz="1200">
                <a:solidFill>
                  <a:srgbClr val="222222"/>
                </a:solidFill>
                <a:latin typeface="Helvetica Neue"/>
                <a:ea typeface="Helvetica Neue"/>
                <a:cs typeface="Helvetica Neue"/>
              </a:rPr>
              <a:t>Free text becomes progress, blockers, ETA, and mood signals.</a:t>
            </a:r>
          </a:p>
        </p:txBody>
      </p:sp>
      <p:sp>
        <p:nvSpPr>
          <p:cNvPr id="12" name="">
            <a:extLst xmlns:a="http://schemas.openxmlformats.org/drawingml/2006/main">
              <a:ext uri="{FF2B5EF4-FFF2-40B4-BE49-F238E27FC236}">
                <a16:creationId xmlns:a16="http://schemas.microsoft.com/office/drawing/2014/main" id="{A62D9D04-2AE6-4F04-B4AE-8F4E1604F67D}"/>
              </a:ext>
            </a:extLst>
          </p:cNvPr>
          <p:cNvSpPr>
            <a:spLocks xmlns:a="http://schemas.openxmlformats.org/drawingml/2006/main" noGrp="1"/>
          </p:cNvSpPr>
          <p:nvPr/>
        </p:nvSpPr>
        <p:spPr>
          <a:xfrm xmlns:a="http://schemas.openxmlformats.org/drawingml/2006/main">
            <a:off x="4619625" y="3543300"/>
            <a:ext cx="276225" cy="0"/>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13" name="">
            <a:extLst xmlns:a="http://schemas.openxmlformats.org/drawingml/2006/main">
              <a:ext uri="{FF2B5EF4-FFF2-40B4-BE49-F238E27FC236}">
                <a16:creationId xmlns:a16="http://schemas.microsoft.com/office/drawing/2014/main" id="{82475AFC-DE07-4C8C-B2FF-7AFEF3589B4C}"/>
              </a:ext>
            </a:extLst>
          </p:cNvPr>
          <p:cNvSpPr>
            <a:spLocks xmlns:a="http://schemas.openxmlformats.org/drawingml/2006/main" noGrp="1"/>
          </p:cNvSpPr>
          <p:nvPr/>
        </p:nvSpPr>
        <p:spPr>
          <a:xfrm xmlns:a="http://schemas.openxmlformats.org/drawingml/2006/main">
            <a:off x="4972050" y="2686050"/>
            <a:ext cx="1885950" cy="17145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D93E10FA-C613-46C6-91B6-D7FAC5340965}"/>
              </a:ext>
            </a:extLst>
          </p:cNvPr>
          <p:cNvSpPr>
            <a:spLocks xmlns:a="http://schemas.openxmlformats.org/drawingml/2006/main" noGrp="1"/>
          </p:cNvSpPr>
          <p:nvPr/>
        </p:nvSpPr>
        <p:spPr>
          <a:xfrm xmlns:a="http://schemas.openxmlformats.org/drawingml/2006/main">
            <a:off x="5143500" y="290512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75" b="1">
                <a:solidFill>
                  <a:srgbClr val="000000"/>
                </a:solidFill>
                <a:latin typeface="Helvetica Neue"/>
                <a:ea typeface="Helvetica Neue"/>
                <a:cs typeface="Helvetica Neue"/>
              </a:defRPr>
            </a:pPr>
            <a:r>
              <a:rPr sz="2175" b="1">
                <a:solidFill>
                  <a:srgbClr val="000000"/>
                </a:solidFill>
                <a:latin typeface="Helvetica Neue"/>
                <a:ea typeface="Helvetica Neue"/>
                <a:cs typeface="Helvetica Neue"/>
              </a:rPr>
              <a:t>Record</a:t>
            </a:r>
          </a:p>
        </p:txBody>
      </p:sp>
      <p:sp>
        <p:nvSpPr>
          <p:cNvPr id="15" name="">
            <a:extLst xmlns:a="http://schemas.openxmlformats.org/drawingml/2006/main">
              <a:ext uri="{FF2B5EF4-FFF2-40B4-BE49-F238E27FC236}">
                <a16:creationId xmlns:a16="http://schemas.microsoft.com/office/drawing/2014/main" id="{70A4A124-DF89-4310-A30D-99071F3DED60}"/>
              </a:ext>
            </a:extLst>
          </p:cNvPr>
          <p:cNvSpPr>
            <a:spLocks xmlns:a="http://schemas.openxmlformats.org/drawingml/2006/main" noGrp="1"/>
          </p:cNvSpPr>
          <p:nvPr/>
        </p:nvSpPr>
        <p:spPr>
          <a:xfrm xmlns:a="http://schemas.openxmlformats.org/drawingml/2006/main">
            <a:off x="5143500" y="3390900"/>
            <a:ext cx="1524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222222"/>
                </a:solidFill>
                <a:latin typeface="Helvetica Neue"/>
                <a:ea typeface="Helvetica Neue"/>
                <a:cs typeface="Helvetica Neue"/>
              </a:defRPr>
            </a:pPr>
            <a:r>
              <a:rPr sz="1200">
                <a:solidFill>
                  <a:srgbClr val="222222"/>
                </a:solidFill>
                <a:latin typeface="Helvetica Neue"/>
                <a:ea typeface="Helvetica Neue"/>
                <a:cs typeface="Helvetica Neue"/>
              </a:rPr>
              <a:t>Graph facts and conversation turns stay source-linked.</a:t>
            </a:r>
          </a:p>
        </p:txBody>
      </p:sp>
      <p:sp>
        <p:nvSpPr>
          <p:cNvPr id="16" name="">
            <a:extLst xmlns:a="http://schemas.openxmlformats.org/drawingml/2006/main">
              <a:ext uri="{FF2B5EF4-FFF2-40B4-BE49-F238E27FC236}">
                <a16:creationId xmlns:a16="http://schemas.microsoft.com/office/drawing/2014/main" id="{A8227B6E-B95A-4506-AE31-D8F72423A802}"/>
              </a:ext>
            </a:extLst>
          </p:cNvPr>
          <p:cNvSpPr>
            <a:spLocks xmlns:a="http://schemas.openxmlformats.org/drawingml/2006/main" noGrp="1"/>
          </p:cNvSpPr>
          <p:nvPr/>
        </p:nvSpPr>
        <p:spPr>
          <a:xfrm xmlns:a="http://schemas.openxmlformats.org/drawingml/2006/main">
            <a:off x="6905625" y="3543300"/>
            <a:ext cx="276225" cy="0"/>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17" name="">
            <a:extLst xmlns:a="http://schemas.openxmlformats.org/drawingml/2006/main">
              <a:ext uri="{FF2B5EF4-FFF2-40B4-BE49-F238E27FC236}">
                <a16:creationId xmlns:a16="http://schemas.microsoft.com/office/drawing/2014/main" id="{9FF9BFF6-C394-4C07-A798-ADA6E41951BE}"/>
              </a:ext>
            </a:extLst>
          </p:cNvPr>
          <p:cNvSpPr>
            <a:spLocks xmlns:a="http://schemas.openxmlformats.org/drawingml/2006/main" noGrp="1"/>
          </p:cNvSpPr>
          <p:nvPr/>
        </p:nvSpPr>
        <p:spPr>
          <a:xfrm xmlns:a="http://schemas.openxmlformats.org/drawingml/2006/main">
            <a:off x="7258050" y="2686050"/>
            <a:ext cx="1885950" cy="1714500"/>
          </a:xfrm>
          <a:prstGeom xmlns:a="http://schemas.openxmlformats.org/drawingml/2006/main" prst="rect">
            <a:avLst/>
          </a:prstGeom>
          <a:solidFill xmlns:a="http://schemas.openxmlformats.org/drawingml/2006/main">
            <a:srgbClr val="FFF4DE"/>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7B030350-24CD-4D40-9468-173C46273E4A}"/>
              </a:ext>
            </a:extLst>
          </p:cNvPr>
          <p:cNvSpPr>
            <a:spLocks xmlns:a="http://schemas.openxmlformats.org/drawingml/2006/main" noGrp="1"/>
          </p:cNvSpPr>
          <p:nvPr/>
        </p:nvSpPr>
        <p:spPr>
          <a:xfrm xmlns:a="http://schemas.openxmlformats.org/drawingml/2006/main">
            <a:off x="7429500" y="290512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75" b="1">
                <a:solidFill>
                  <a:srgbClr val="000000"/>
                </a:solidFill>
                <a:latin typeface="Helvetica Neue"/>
                <a:ea typeface="Helvetica Neue"/>
                <a:cs typeface="Helvetica Neue"/>
              </a:defRPr>
            </a:pPr>
            <a:r>
              <a:rPr sz="2175" b="1">
                <a:solidFill>
                  <a:srgbClr val="000000"/>
                </a:solidFill>
                <a:latin typeface="Helvetica Neue"/>
                <a:ea typeface="Helvetica Neue"/>
                <a:cs typeface="Helvetica Neue"/>
              </a:rPr>
              <a:t>Roll up</a:t>
            </a:r>
          </a:p>
        </p:txBody>
      </p:sp>
      <p:sp>
        <p:nvSpPr>
          <p:cNvPr id="19" name="">
            <a:extLst xmlns:a="http://schemas.openxmlformats.org/drawingml/2006/main">
              <a:ext uri="{FF2B5EF4-FFF2-40B4-BE49-F238E27FC236}">
                <a16:creationId xmlns:a16="http://schemas.microsoft.com/office/drawing/2014/main" id="{7C5D6C26-7ACE-45E2-90B3-A065FBD9BFDE}"/>
              </a:ext>
            </a:extLst>
          </p:cNvPr>
          <p:cNvSpPr>
            <a:spLocks xmlns:a="http://schemas.openxmlformats.org/drawingml/2006/main" noGrp="1"/>
          </p:cNvSpPr>
          <p:nvPr/>
        </p:nvSpPr>
        <p:spPr>
          <a:xfrm xmlns:a="http://schemas.openxmlformats.org/drawingml/2006/main">
            <a:off x="7429500" y="3390900"/>
            <a:ext cx="1524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222222"/>
                </a:solidFill>
                <a:latin typeface="Helvetica Neue"/>
                <a:ea typeface="Helvetica Neue"/>
                <a:cs typeface="Helvetica Neue"/>
              </a:defRPr>
            </a:pPr>
            <a:r>
              <a:rPr sz="1200">
                <a:solidFill>
                  <a:srgbClr val="222222"/>
                </a:solidFill>
                <a:latin typeface="Helvetica Neue"/>
                <a:ea typeface="Helvetica Neue"/>
                <a:cs typeface="Helvetica Neue"/>
              </a:rPr>
              <a:t>RAG status propagates from dev to pod, project, program.</a:t>
            </a:r>
          </a:p>
        </p:txBody>
      </p:sp>
      <p:sp>
        <p:nvSpPr>
          <p:cNvPr id="20" name="">
            <a:extLst xmlns:a="http://schemas.openxmlformats.org/drawingml/2006/main">
              <a:ext uri="{FF2B5EF4-FFF2-40B4-BE49-F238E27FC236}">
                <a16:creationId xmlns:a16="http://schemas.microsoft.com/office/drawing/2014/main" id="{D67183DD-C3F0-4511-8CAE-9115D9E8B9F5}"/>
              </a:ext>
            </a:extLst>
          </p:cNvPr>
          <p:cNvSpPr>
            <a:spLocks xmlns:a="http://schemas.openxmlformats.org/drawingml/2006/main" noGrp="1"/>
          </p:cNvSpPr>
          <p:nvPr/>
        </p:nvSpPr>
        <p:spPr>
          <a:xfrm xmlns:a="http://schemas.openxmlformats.org/drawingml/2006/main">
            <a:off x="9191625" y="3543300"/>
            <a:ext cx="276225" cy="0"/>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21" name="">
            <a:extLst xmlns:a="http://schemas.openxmlformats.org/drawingml/2006/main">
              <a:ext uri="{FF2B5EF4-FFF2-40B4-BE49-F238E27FC236}">
                <a16:creationId xmlns:a16="http://schemas.microsoft.com/office/drawing/2014/main" id="{C8FB438A-6D6A-4E95-8EDE-29FC76CFACB8}"/>
              </a:ext>
            </a:extLst>
          </p:cNvPr>
          <p:cNvSpPr>
            <a:spLocks xmlns:a="http://schemas.openxmlformats.org/drawingml/2006/main" noGrp="1"/>
          </p:cNvSpPr>
          <p:nvPr/>
        </p:nvSpPr>
        <p:spPr>
          <a:xfrm xmlns:a="http://schemas.openxmlformats.org/drawingml/2006/main">
            <a:off x="9544050" y="2686050"/>
            <a:ext cx="1885950" cy="1714500"/>
          </a:xfrm>
          <a:prstGeom xmlns:a="http://schemas.openxmlformats.org/drawingml/2006/main" prst="rect">
            <a:avLst/>
          </a:prstGeom>
          <a:solidFill xmlns:a="http://schemas.openxmlformats.org/drawingml/2006/main">
            <a:srgbClr val="FDEAEA"/>
          </a:solidFill>
          <a:ln xmlns:a="http://schemas.openxmlformats.org/drawingml/2006/main" w="9525">
            <a:solidFill>
              <a:srgbClr val="B8BCC4"/>
            </a:solidFill>
            <a:prstDash val="solid"/>
          </a:ln>
        </p:spPr>
      </p:sp>
      <p:sp>
        <p:nvSpPr>
          <p:cNvPr id="22" name="">
            <a:extLst xmlns:a="http://schemas.openxmlformats.org/drawingml/2006/main">
              <a:ext uri="{FF2B5EF4-FFF2-40B4-BE49-F238E27FC236}">
                <a16:creationId xmlns:a16="http://schemas.microsoft.com/office/drawing/2014/main" id="{E2F08DE8-A74F-499F-AB06-E759016A76C2}"/>
              </a:ext>
            </a:extLst>
          </p:cNvPr>
          <p:cNvSpPr>
            <a:spLocks xmlns:a="http://schemas.openxmlformats.org/drawingml/2006/main" noGrp="1"/>
          </p:cNvSpPr>
          <p:nvPr/>
        </p:nvSpPr>
        <p:spPr>
          <a:xfrm xmlns:a="http://schemas.openxmlformats.org/drawingml/2006/main">
            <a:off x="9715500" y="290512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75" b="1">
                <a:solidFill>
                  <a:srgbClr val="000000"/>
                </a:solidFill>
                <a:latin typeface="Helvetica Neue"/>
                <a:ea typeface="Helvetica Neue"/>
                <a:cs typeface="Helvetica Neue"/>
              </a:defRPr>
            </a:pPr>
            <a:r>
              <a:rPr sz="2175" b="1">
                <a:solidFill>
                  <a:srgbClr val="000000"/>
                </a:solidFill>
                <a:latin typeface="Helvetica Neue"/>
                <a:ea typeface="Helvetica Neue"/>
                <a:cs typeface="Helvetica Neue"/>
              </a:rPr>
              <a:t>Act</a:t>
            </a:r>
          </a:p>
        </p:txBody>
      </p:sp>
      <p:sp>
        <p:nvSpPr>
          <p:cNvPr id="23" name="">
            <a:extLst xmlns:a="http://schemas.openxmlformats.org/drawingml/2006/main">
              <a:ext uri="{FF2B5EF4-FFF2-40B4-BE49-F238E27FC236}">
                <a16:creationId xmlns:a16="http://schemas.microsoft.com/office/drawing/2014/main" id="{D53A1178-4CCE-4393-A44D-4C8E9A4EEB5F}"/>
              </a:ext>
            </a:extLst>
          </p:cNvPr>
          <p:cNvSpPr>
            <a:spLocks xmlns:a="http://schemas.openxmlformats.org/drawingml/2006/main" noGrp="1"/>
          </p:cNvSpPr>
          <p:nvPr/>
        </p:nvSpPr>
        <p:spPr>
          <a:xfrm xmlns:a="http://schemas.openxmlformats.org/drawingml/2006/main">
            <a:off x="9715500" y="3390900"/>
            <a:ext cx="1524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222222"/>
                </a:solidFill>
                <a:latin typeface="Helvetica Neue"/>
                <a:ea typeface="Helvetica Neue"/>
                <a:cs typeface="Helvetica Neue"/>
              </a:defRPr>
            </a:pPr>
            <a:r>
              <a:rPr sz="1200">
                <a:solidFill>
                  <a:srgbClr val="222222"/>
                </a:solidFill>
                <a:latin typeface="Helvetica Neue"/>
                <a:ea typeface="Helvetica Neue"/>
                <a:cs typeface="Helvetica Neue"/>
              </a:rPr>
              <a:t>Dashboards, nudges, and workflow dispatch focus attention.</a:t>
            </a:r>
          </a:p>
        </p:txBody>
      </p:sp>
      <p:sp>
        <p:nvSpPr>
          <p:cNvPr id="24" name="">
            <a:extLst xmlns:a="http://schemas.openxmlformats.org/drawingml/2006/main">
              <a:ext uri="{FF2B5EF4-FFF2-40B4-BE49-F238E27FC236}">
                <a16:creationId xmlns:a16="http://schemas.microsoft.com/office/drawing/2014/main" id="{F68FB319-BB97-42C1-BCBB-45E5761121E1}"/>
              </a:ext>
            </a:extLst>
          </p:cNvPr>
          <p:cNvSpPr>
            <a:spLocks xmlns:a="http://schemas.openxmlformats.org/drawingml/2006/main" noGrp="1"/>
          </p:cNvSpPr>
          <p:nvPr/>
        </p:nvSpPr>
        <p:spPr>
          <a:xfrm xmlns:a="http://schemas.openxmlformats.org/drawingml/2006/main">
            <a:off x="819150" y="5734050"/>
            <a:ext cx="1019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Business result: less manual chasing, no false green from silence, and status that can be traced back to evidence.</a:t>
            </a:r>
          </a:p>
        </p:txBody>
      </p:sp>
    </p:spTree>
    <p:extLst>
      <p:ext uri="{BB962C8B-B14F-4D97-AF65-F5344CB8AC3E}">
        <p14:creationId xmlns:p14="http://schemas.microsoft.com/office/powerpoint/2010/main" val="1354878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itle">
            <a:extLst xmlns:a="http://schemas.openxmlformats.org/drawingml/2006/main">
              <a:ext uri="{FF2B5EF4-FFF2-40B4-BE49-F238E27FC236}">
                <a16:creationId xmlns:a16="http://schemas.microsoft.com/office/drawing/2014/main" id="{863CBE71-607E-4CC4-BAEB-A8ED73B5C3B2}"/>
              </a:ext>
            </a:extLst>
          </p:cNvPr>
          <p:cNvSpPr>
            <a:spLocks xmlns:a="http://schemas.openxmlformats.org/drawingml/2006/main" noGrp="1"/>
          </p:cNvSpPr>
          <p:nvPr/>
        </p:nvSpPr>
        <p:spPr>
          <a:xfrm xmlns:a="http://schemas.openxmlformats.org/drawingml/2006/main">
            <a:off x="390525" y="342900"/>
            <a:ext cx="6286500" cy="781050"/>
          </a:xfrm>
          <a:prstGeom xmlns:a="http://schemas.openxmlformats.org/drawingml/2006/main" prst="rect">
            <a:avLst/>
          </a:prstGeom>
        </p:spPr>
        <p:txBody>
          <a:bodyPr xmlns:a="http://schemas.openxmlformats.org/drawingml/2006/main" spcFirstLastPara="1" lIns="0" tIns="0" rIns="0" bIns="0" anchor="t">
            <a:normAutofit fontScale="88136"/>
          </a:bodyPr>
          <a:lstStyle xmlns:a="http://schemas.openxmlformats.org/drawingml/2006/main"/>
          <a:p xmlns:a="http://schemas.openxmlformats.org/drawingml/2006/main">
            <a:pPr>
              <a:lnSpc>
                <a:spcPct val="108000"/>
              </a:lnSpc>
              <a:buNone/>
              <a:defRPr sz="3450" b="1">
                <a:solidFill>
                  <a:srgbClr val="000000"/>
                </a:solidFill>
                <a:latin typeface="Helvetica Neue"/>
                <a:ea typeface="Helvetica Neue"/>
                <a:cs typeface="Helvetica Neue"/>
              </a:defRPr>
            </a:pPr>
            <a:r>
              <a:rPr sz="3450" b="1">
                <a:solidFill>
                  <a:srgbClr val="000000"/>
                </a:solidFill>
                <a:latin typeface="Helvetica Neue"/>
                <a:ea typeface="Helvetica Neue"/>
                <a:cs typeface="Helvetica Neue"/>
              </a:rPr>
              <a:t>Four feature pillars anchor OpenProgram</a:t>
            </a:r>
          </a:p>
        </p:txBody>
      </p:sp>
      <p:sp>
        <p:nvSpPr>
          <p:cNvPr id="2" name="subtitle">
            <a:extLst xmlns:a="http://schemas.openxmlformats.org/drawingml/2006/main">
              <a:ext uri="{FF2B5EF4-FFF2-40B4-BE49-F238E27FC236}">
                <a16:creationId xmlns:a16="http://schemas.microsoft.com/office/drawing/2014/main" id="{6BA435A8-99FC-4C86-AE0C-FF6C0E847F7E}"/>
              </a:ext>
            </a:extLst>
          </p:cNvPr>
          <p:cNvSpPr>
            <a:spLocks xmlns:a="http://schemas.openxmlformats.org/drawingml/2006/main" noGrp="1"/>
          </p:cNvSpPr>
          <p:nvPr/>
        </p:nvSpPr>
        <p:spPr>
          <a:xfrm xmlns:a="http://schemas.openxmlformats.org/drawingml/2006/main">
            <a:off x="6934200" y="400050"/>
            <a:ext cx="4857750" cy="9906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108000"/>
              </a:lnSpc>
              <a:buNone/>
              <a:defRPr sz="1725">
                <a:solidFill>
                  <a:srgbClr val="222222"/>
                </a:solidFill>
                <a:latin typeface="Helvetica Neue"/>
                <a:ea typeface="Helvetica Neue"/>
                <a:cs typeface="Helvetica Neue"/>
              </a:defRPr>
            </a:pPr>
            <a:r>
              <a:rPr sz="1725">
                <a:solidFill>
                  <a:srgbClr val="222222"/>
                </a:solidFill>
                <a:latin typeface="Helvetica Neue"/>
                <a:ea typeface="Helvetica Neue"/>
                <a:cs typeface="Helvetica Neue"/>
              </a:rPr>
              <a:t>Each pillar maps to a business question: what is true, who needs to answer, how health is derived, and who needs to act.</a:t>
            </a:r>
          </a:p>
        </p:txBody>
      </p:sp>
      <p:sp>
        <p:nvSpPr>
          <p:cNvPr id="3" name="panel1">
            <a:extLst xmlns:a="http://schemas.openxmlformats.org/drawingml/2006/main">
              <a:ext uri="{FF2B5EF4-FFF2-40B4-BE49-F238E27FC236}">
                <a16:creationId xmlns:a16="http://schemas.microsoft.com/office/drawing/2014/main" id="{781265EA-903F-4C48-8A2A-70F5F0330D2D}"/>
              </a:ext>
            </a:extLst>
          </p:cNvPr>
          <p:cNvSpPr>
            <a:spLocks xmlns:a="http://schemas.openxmlformats.org/drawingml/2006/main" noGrp="1"/>
          </p:cNvSpPr>
          <p:nvPr/>
        </p:nvSpPr>
        <p:spPr>
          <a:xfrm xmlns:a="http://schemas.openxmlformats.org/drawingml/2006/main">
            <a:off x="390525" y="2028825"/>
            <a:ext cx="2581275" cy="26574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4" name="panel2">
            <a:extLst xmlns:a="http://schemas.openxmlformats.org/drawingml/2006/main">
              <a:ext uri="{FF2B5EF4-FFF2-40B4-BE49-F238E27FC236}">
                <a16:creationId xmlns:a16="http://schemas.microsoft.com/office/drawing/2014/main" id="{08A5321B-80D3-4004-A67D-60141A055F27}"/>
              </a:ext>
            </a:extLst>
          </p:cNvPr>
          <p:cNvSpPr>
            <a:spLocks xmlns:a="http://schemas.openxmlformats.org/drawingml/2006/main" noGrp="1"/>
          </p:cNvSpPr>
          <p:nvPr/>
        </p:nvSpPr>
        <p:spPr>
          <a:xfrm xmlns:a="http://schemas.openxmlformats.org/drawingml/2006/main">
            <a:off x="3343275" y="2028825"/>
            <a:ext cx="2581275" cy="26574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panel3">
            <a:extLst xmlns:a="http://schemas.openxmlformats.org/drawingml/2006/main">
              <a:ext uri="{FF2B5EF4-FFF2-40B4-BE49-F238E27FC236}">
                <a16:creationId xmlns:a16="http://schemas.microsoft.com/office/drawing/2014/main" id="{872AA34A-6E2C-4D4D-8F39-2535D4A1A53F}"/>
              </a:ext>
            </a:extLst>
          </p:cNvPr>
          <p:cNvSpPr>
            <a:spLocks xmlns:a="http://schemas.openxmlformats.org/drawingml/2006/main" noGrp="1"/>
          </p:cNvSpPr>
          <p:nvPr/>
        </p:nvSpPr>
        <p:spPr>
          <a:xfrm xmlns:a="http://schemas.openxmlformats.org/drawingml/2006/main">
            <a:off x="6267450" y="2028825"/>
            <a:ext cx="2581275" cy="26574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panel4">
            <a:extLst xmlns:a="http://schemas.openxmlformats.org/drawingml/2006/main">
              <a:ext uri="{FF2B5EF4-FFF2-40B4-BE49-F238E27FC236}">
                <a16:creationId xmlns:a16="http://schemas.microsoft.com/office/drawing/2014/main" id="{7F62F2AF-A651-4F63-9732-0BB5C981ACA7}"/>
              </a:ext>
            </a:extLst>
          </p:cNvPr>
          <p:cNvSpPr>
            <a:spLocks xmlns:a="http://schemas.openxmlformats.org/drawingml/2006/main" noGrp="1"/>
          </p:cNvSpPr>
          <p:nvPr/>
        </p:nvSpPr>
        <p:spPr>
          <a:xfrm xmlns:a="http://schemas.openxmlformats.org/drawingml/2006/main">
            <a:off x="9220200" y="2028825"/>
            <a:ext cx="2581275" cy="26574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p1h">
            <a:extLst xmlns:a="http://schemas.openxmlformats.org/drawingml/2006/main">
              <a:ext uri="{FF2B5EF4-FFF2-40B4-BE49-F238E27FC236}">
                <a16:creationId xmlns:a16="http://schemas.microsoft.com/office/drawing/2014/main" id="{159BACA2-5F09-479E-B337-C0B2696C9652}"/>
              </a:ext>
            </a:extLst>
          </p:cNvPr>
          <p:cNvSpPr>
            <a:spLocks xmlns:a="http://schemas.openxmlformats.org/drawingml/2006/main" noGrp="1"/>
          </p:cNvSpPr>
          <p:nvPr/>
        </p:nvSpPr>
        <p:spPr>
          <a:xfrm xmlns:a="http://schemas.openxmlformats.org/drawingml/2006/main">
            <a:off x="628650" y="2266950"/>
            <a:ext cx="2133600" cy="7239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108000"/>
              </a:lnSpc>
              <a:buNone/>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Graph of Truth</a:t>
            </a:r>
          </a:p>
        </p:txBody>
      </p:sp>
      <p:sp>
        <p:nvSpPr>
          <p:cNvPr id="8" name="p1b">
            <a:extLst xmlns:a="http://schemas.openxmlformats.org/drawingml/2006/main">
              <a:ext uri="{FF2B5EF4-FFF2-40B4-BE49-F238E27FC236}">
                <a16:creationId xmlns:a16="http://schemas.microsoft.com/office/drawing/2014/main" id="{E74E34AC-F749-4E67-9FB4-546369E23AC7}"/>
              </a:ext>
            </a:extLst>
          </p:cNvPr>
          <p:cNvSpPr>
            <a:spLocks xmlns:a="http://schemas.openxmlformats.org/drawingml/2006/main" noGrp="1"/>
          </p:cNvSpPr>
          <p:nvPr/>
        </p:nvSpPr>
        <p:spPr>
          <a:xfrm xmlns:a="http://schemas.openxmlformats.org/drawingml/2006/main">
            <a:off x="695325" y="3467100"/>
            <a:ext cx="2066925" cy="819150"/>
          </a:xfrm>
          <a:prstGeom xmlns:a="http://schemas.openxmlformats.org/drawingml/2006/main" prst="rect">
            <a:avLst/>
          </a:prstGeom>
        </p:spPr>
        <p:txBody>
          <a:bodyPr xmlns:a="http://schemas.openxmlformats.org/drawingml/2006/main" spcFirstLastPara="1" lIns="0" tIns="0" rIns="0" bIns="0" anchor="t">
            <a:normAutofit fontScale="82948"/>
          </a:bodyPr>
          <a:lstStyle xmlns:a="http://schemas.openxmlformats.org/drawingml/2006/main"/>
          <a:p xmlns:a="http://schemas.openxmlformats.org/drawingml/2006/main">
            <a:pPr>
              <a:lnSpc>
                <a:spcPct val="108000"/>
              </a:lnSpc>
              <a:buNone/>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Programs, projects, pods, developers, tasks, workstreams, repos, sprints, and source facts.</a:t>
            </a:r>
          </a:p>
        </p:txBody>
      </p:sp>
      <p:sp>
        <p:nvSpPr>
          <p:cNvPr id="9" name="p2h">
            <a:extLst xmlns:a="http://schemas.openxmlformats.org/drawingml/2006/main">
              <a:ext uri="{FF2B5EF4-FFF2-40B4-BE49-F238E27FC236}">
                <a16:creationId xmlns:a16="http://schemas.microsoft.com/office/drawing/2014/main" id="{7128D20C-222C-4638-8E62-E892FAD999F2}"/>
              </a:ext>
            </a:extLst>
          </p:cNvPr>
          <p:cNvSpPr>
            <a:spLocks xmlns:a="http://schemas.openxmlformats.org/drawingml/2006/main" noGrp="1"/>
          </p:cNvSpPr>
          <p:nvPr/>
        </p:nvSpPr>
        <p:spPr>
          <a:xfrm xmlns:a="http://schemas.openxmlformats.org/drawingml/2006/main">
            <a:off x="3581400" y="2266950"/>
            <a:ext cx="2133600" cy="7239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108000"/>
              </a:lnSpc>
              <a:buNone/>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Status Collector</a:t>
            </a:r>
          </a:p>
        </p:txBody>
      </p:sp>
      <p:sp>
        <p:nvSpPr>
          <p:cNvPr id="10" name="p2b">
            <a:extLst xmlns:a="http://schemas.openxmlformats.org/drawingml/2006/main">
              <a:ext uri="{FF2B5EF4-FFF2-40B4-BE49-F238E27FC236}">
                <a16:creationId xmlns:a16="http://schemas.microsoft.com/office/drawing/2014/main" id="{2FB3B2F7-5D49-4EA3-B42F-30E6DA8D79B1}"/>
              </a:ext>
            </a:extLst>
          </p:cNvPr>
          <p:cNvSpPr>
            <a:spLocks xmlns:a="http://schemas.openxmlformats.org/drawingml/2006/main" noGrp="1"/>
          </p:cNvSpPr>
          <p:nvPr/>
        </p:nvSpPr>
        <p:spPr>
          <a:xfrm xmlns:a="http://schemas.openxmlformats.org/drawingml/2006/main">
            <a:off x="3648075" y="3467100"/>
            <a:ext cx="2066925" cy="876300"/>
          </a:xfrm>
          <a:prstGeom xmlns:a="http://schemas.openxmlformats.org/drawingml/2006/main" prst="rect">
            <a:avLst/>
          </a:prstGeom>
        </p:spPr>
        <p:txBody>
          <a:bodyPr xmlns:a="http://schemas.openxmlformats.org/drawingml/2006/main" spcFirstLastPara="1" lIns="0" tIns="0" rIns="0" bIns="0" anchor="t">
            <a:normAutofit fontScale="88735"/>
          </a:bodyPr>
          <a:lstStyle xmlns:a="http://schemas.openxmlformats.org/drawingml/2006/main"/>
          <a:p xmlns:a="http://schemas.openxmlformats.org/drawingml/2006/main">
            <a:pPr>
              <a:lnSpc>
                <a:spcPct val="108000"/>
              </a:lnSpc>
              <a:buNone/>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Proactive chat check-ins, reply parsing, clarification, duplicates, nudges, and non-response handling.</a:t>
            </a:r>
          </a:p>
        </p:txBody>
      </p:sp>
      <p:sp>
        <p:nvSpPr>
          <p:cNvPr id="11" name="p3h">
            <a:extLst xmlns:a="http://schemas.openxmlformats.org/drawingml/2006/main">
              <a:ext uri="{FF2B5EF4-FFF2-40B4-BE49-F238E27FC236}">
                <a16:creationId xmlns:a16="http://schemas.microsoft.com/office/drawing/2014/main" id="{5B00975C-461E-4736-A766-2FCFD74CC0F6}"/>
              </a:ext>
            </a:extLst>
          </p:cNvPr>
          <p:cNvSpPr>
            <a:spLocks xmlns:a="http://schemas.openxmlformats.org/drawingml/2006/main" noGrp="1"/>
          </p:cNvSpPr>
          <p:nvPr/>
        </p:nvSpPr>
        <p:spPr>
          <a:xfrm xmlns:a="http://schemas.openxmlformats.org/drawingml/2006/main">
            <a:off x="6505575" y="2266950"/>
            <a:ext cx="2133600" cy="723900"/>
          </a:xfrm>
          <a:prstGeom xmlns:a="http://schemas.openxmlformats.org/drawingml/2006/main" prst="rect">
            <a:avLst/>
          </a:prstGeom>
        </p:spPr>
        <p:txBody>
          <a:bodyPr xmlns:a="http://schemas.openxmlformats.org/drawingml/2006/main" spcFirstLastPara="1" lIns="0" tIns="0" rIns="0" bIns="0" anchor="t">
            <a:normAutofit fontScale="97737"/>
          </a:bodyPr>
          <a:lstStyle xmlns:a="http://schemas.openxmlformats.org/drawingml/2006/main"/>
          <a:p xmlns:a="http://schemas.openxmlformats.org/drawingml/2006/main">
            <a:pPr>
              <a:lnSpc>
                <a:spcPct val="108000"/>
              </a:lnSpc>
              <a:buNone/>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Explainable Rollups</a:t>
            </a:r>
          </a:p>
        </p:txBody>
      </p:sp>
      <p:sp>
        <p:nvSpPr>
          <p:cNvPr id="12" name="p3b">
            <a:extLst xmlns:a="http://schemas.openxmlformats.org/drawingml/2006/main">
              <a:ext uri="{FF2B5EF4-FFF2-40B4-BE49-F238E27FC236}">
                <a16:creationId xmlns:a16="http://schemas.microsoft.com/office/drawing/2014/main" id="{C85B6D09-8276-48E5-ADE0-E09478032988}"/>
              </a:ext>
            </a:extLst>
          </p:cNvPr>
          <p:cNvSpPr>
            <a:spLocks xmlns:a="http://schemas.openxmlformats.org/drawingml/2006/main" noGrp="1"/>
          </p:cNvSpPr>
          <p:nvPr/>
        </p:nvSpPr>
        <p:spPr>
          <a:xfrm xmlns:a="http://schemas.openxmlformats.org/drawingml/2006/main">
            <a:off x="6572250" y="3467100"/>
            <a:ext cx="2066925" cy="819150"/>
          </a:xfrm>
          <a:prstGeom xmlns:a="http://schemas.openxmlformats.org/drawingml/2006/main" prst="rect">
            <a:avLst/>
          </a:prstGeom>
        </p:spPr>
        <p:txBody>
          <a:bodyPr xmlns:a="http://schemas.openxmlformats.org/drawingml/2006/main" spcFirstLastPara="1" lIns="0" tIns="0" rIns="0" bIns="0" anchor="t">
            <a:normAutofit fontScale="82948"/>
          </a:bodyPr>
          <a:lstStyle xmlns:a="http://schemas.openxmlformats.org/drawingml/2006/main"/>
          <a:p xmlns:a="http://schemas.openxmlformats.org/drawingml/2006/main">
            <a:pPr>
              <a:lnSpc>
                <a:spcPct val="108000"/>
              </a:lnSpc>
              <a:buNone/>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RAG health escalates blockers, avoids stale green, and stores factors for drill-down.</a:t>
            </a:r>
          </a:p>
        </p:txBody>
      </p:sp>
      <p:sp>
        <p:nvSpPr>
          <p:cNvPr id="13" name="p4h">
            <a:extLst xmlns:a="http://schemas.openxmlformats.org/drawingml/2006/main">
              <a:ext uri="{FF2B5EF4-FFF2-40B4-BE49-F238E27FC236}">
                <a16:creationId xmlns:a16="http://schemas.microsoft.com/office/drawing/2014/main" id="{7EF710A6-CC64-4A7D-9758-4EC887A3B056}"/>
              </a:ext>
            </a:extLst>
          </p:cNvPr>
          <p:cNvSpPr>
            <a:spLocks xmlns:a="http://schemas.openxmlformats.org/drawingml/2006/main" noGrp="1"/>
          </p:cNvSpPr>
          <p:nvPr/>
        </p:nvSpPr>
        <p:spPr>
          <a:xfrm xmlns:a="http://schemas.openxmlformats.org/drawingml/2006/main">
            <a:off x="9458325" y="2266950"/>
            <a:ext cx="2133600" cy="7239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108000"/>
              </a:lnSpc>
              <a:buNone/>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Persona Views</a:t>
            </a:r>
          </a:p>
        </p:txBody>
      </p:sp>
      <p:sp>
        <p:nvSpPr>
          <p:cNvPr id="14" name="p4b">
            <a:extLst xmlns:a="http://schemas.openxmlformats.org/drawingml/2006/main">
              <a:ext uri="{FF2B5EF4-FFF2-40B4-BE49-F238E27FC236}">
                <a16:creationId xmlns:a16="http://schemas.microsoft.com/office/drawing/2014/main" id="{23F6EB03-6A22-4B23-9137-3BFAE2D88F55}"/>
              </a:ext>
            </a:extLst>
          </p:cNvPr>
          <p:cNvSpPr>
            <a:spLocks xmlns:a="http://schemas.openxmlformats.org/drawingml/2006/main" noGrp="1"/>
          </p:cNvSpPr>
          <p:nvPr/>
        </p:nvSpPr>
        <p:spPr>
          <a:xfrm xmlns:a="http://schemas.openxmlformats.org/drawingml/2006/main">
            <a:off x="9525000" y="3467100"/>
            <a:ext cx="2066925" cy="819150"/>
          </a:xfrm>
          <a:prstGeom xmlns:a="http://schemas.openxmlformats.org/drawingml/2006/main" prst="rect">
            <a:avLst/>
          </a:prstGeom>
        </p:spPr>
        <p:txBody>
          <a:bodyPr xmlns:a="http://schemas.openxmlformats.org/drawingml/2006/main" spcFirstLastPara="1" lIns="0" tIns="0" rIns="0" bIns="0" anchor="t">
            <a:normAutofit fontScale="82948"/>
          </a:bodyPr>
          <a:lstStyle xmlns:a="http://schemas.openxmlformats.org/drawingml/2006/main"/>
          <a:p xmlns:a="http://schemas.openxmlformats.org/drawingml/2006/main">
            <a:pPr>
              <a:lnSpc>
                <a:spcPct val="108000"/>
              </a:lnSpc>
              <a:buNone/>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Developer focus, team blockers, project progress, portfolio heatmaps, flow, and admin config.</a:t>
            </a:r>
          </a:p>
        </p:txBody>
      </p:sp>
      <p:sp>
        <p:nvSpPr>
          <p:cNvPr id="15" name="bottom-band">
            <a:extLst xmlns:a="http://schemas.openxmlformats.org/drawingml/2006/main">
              <a:ext uri="{FF2B5EF4-FFF2-40B4-BE49-F238E27FC236}">
                <a16:creationId xmlns:a16="http://schemas.microsoft.com/office/drawing/2014/main" id="{FBD7D509-E494-471C-B265-AC4A29E49014}"/>
              </a:ext>
            </a:extLst>
          </p:cNvPr>
          <p:cNvSpPr>
            <a:spLocks xmlns:a="http://schemas.openxmlformats.org/drawingml/2006/main" noGrp="1"/>
          </p:cNvSpPr>
          <p:nvPr/>
        </p:nvSpPr>
        <p:spPr>
          <a:xfrm xmlns:a="http://schemas.openxmlformats.org/drawingml/2006/main">
            <a:off x="0" y="5381625"/>
            <a:ext cx="12192000" cy="14859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6" name="bottom-copy">
            <a:extLst xmlns:a="http://schemas.openxmlformats.org/drawingml/2006/main">
              <a:ext uri="{FF2B5EF4-FFF2-40B4-BE49-F238E27FC236}">
                <a16:creationId xmlns:a16="http://schemas.microsoft.com/office/drawing/2014/main" id="{50764638-3232-4830-88B7-849745555976}"/>
              </a:ext>
            </a:extLst>
          </p:cNvPr>
          <p:cNvSpPr>
            <a:spLocks xmlns:a="http://schemas.openxmlformats.org/drawingml/2006/main" noGrp="1"/>
          </p:cNvSpPr>
          <p:nvPr/>
        </p:nvSpPr>
        <p:spPr>
          <a:xfrm xmlns:a="http://schemas.openxmlformats.org/drawingml/2006/main">
            <a:off x="1333500" y="5810250"/>
            <a:ext cx="9525000" cy="533400"/>
          </a:xfrm>
          <a:prstGeom xmlns:a="http://schemas.openxmlformats.org/drawingml/2006/main" prst="rect">
            <a:avLst/>
          </a:prstGeom>
        </p:spPr>
        <p:txBody>
          <a:bodyPr xmlns:a="http://schemas.openxmlformats.org/drawingml/2006/main" spcFirstLastPara="1" lIns="0" tIns="0" rIns="0" bIns="0" anchor="t">
            <a:normAutofit fontScale="79738"/>
          </a:bodyPr>
          <a:lstStyle xmlns:a="http://schemas.openxmlformats.org/drawingml/2006/main"/>
          <a:p xmlns:a="http://schemas.openxmlformats.org/drawingml/2006/main">
            <a:pPr algn="ctr">
              <a:lnSpc>
                <a:spcPct val="108000"/>
              </a:lnSpc>
              <a:buNone/>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A single product loop supports both everyday team operations and executive portfolio review.</a:t>
            </a:r>
          </a:p>
        </p:txBody>
      </p:sp>
      <p:sp>
        <p:nvSpPr>
          <p:cNvPr id="17" name="footer-4">
            <a:extLst xmlns:a="http://schemas.openxmlformats.org/drawingml/2006/main">
              <a:ext uri="{FF2B5EF4-FFF2-40B4-BE49-F238E27FC236}">
                <a16:creationId xmlns:a16="http://schemas.microsoft.com/office/drawing/2014/main" id="{17420D80-8D01-4EDC-858D-113444FD2C73}"/>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spcFirstLastPara="1" lIns="0" tIns="0" rIns="0" bIns="0" anchor="b">
            <a:normAutofit fontScale="100000"/>
          </a:bodyPr>
          <a:lstStyle xmlns:a="http://schemas.openxmlformats.org/drawingml/2006/main"/>
          <a:p xmlns:a="http://schemas.openxmlformats.org/drawingml/2006/main">
            <a:pPr algn="r">
              <a:lnSpc>
                <a:spcPct val="108000"/>
              </a:lnSpc>
              <a:buNone/>
              <a:defRPr sz="1125">
                <a:solidFill>
                  <a:srgbClr val="000000"/>
                </a:solidFill>
                <a:latin typeface="Helvetica Neue"/>
                <a:ea typeface="Helvetica Neue"/>
                <a:cs typeface="Helvetica Neue"/>
              </a:defRPr>
            </a:pPr>
            <a:r>
              <a:rPr sz="1125">
                <a:solidFill>
                  <a:srgbClr val="000000"/>
                </a:solidFill>
                <a:latin typeface="Helvetica Neue"/>
                <a:ea typeface="Helvetica Neue"/>
                <a:cs typeface="Helvetica Neue"/>
              </a:rPr>
              <a:t>04</a:t>
            </a:r>
          </a:p>
        </p:txBody>
      </p:sp>
    </p:spTree>
    <p:extLst>
      <p:ext uri="{BB962C8B-B14F-4D97-AF65-F5344CB8AC3E}">
        <p14:creationId xmlns:p14="http://schemas.microsoft.com/office/powerpoint/2010/main" val="17451190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itle">
            <a:extLst xmlns:a="http://schemas.openxmlformats.org/drawingml/2006/main">
              <a:ext uri="{FF2B5EF4-FFF2-40B4-BE49-F238E27FC236}">
                <a16:creationId xmlns:a16="http://schemas.microsoft.com/office/drawing/2014/main" id="{FE040F21-9B79-41F0-A749-A976664EB34B}"/>
              </a:ext>
            </a:extLst>
          </p:cNvPr>
          <p:cNvSpPr>
            <a:spLocks xmlns:a="http://schemas.openxmlformats.org/drawingml/2006/main" noGrp="1"/>
          </p:cNvSpPr>
          <p:nvPr/>
        </p:nvSpPr>
        <p:spPr>
          <a:xfrm xmlns:a="http://schemas.openxmlformats.org/drawingml/2006/main">
            <a:off x="390525" y="342900"/>
            <a:ext cx="8096250" cy="914400"/>
          </a:xfrm>
          <a:prstGeom xmlns:a="http://schemas.openxmlformats.org/drawingml/2006/main" prst="rect">
            <a:avLst/>
          </a:prstGeom>
        </p:spPr>
        <p:txBody>
          <a:bodyPr xmlns:a="http://schemas.openxmlformats.org/drawingml/2006/main" spcFirstLastPara="1" lIns="0" tIns="0" rIns="0" bIns="0" anchor="t">
            <a:normAutofit fontScale="85705"/>
          </a:bodyPr>
          <a:lstStyle xmlns:a="http://schemas.openxmlformats.org/drawingml/2006/main"/>
          <a:p xmlns:a="http://schemas.openxmlformats.org/drawingml/2006/main">
            <a:pPr>
              <a:lnSpc>
                <a:spcPct val="108000"/>
              </a:lnSpc>
              <a:buNone/>
              <a:defRPr sz="3375" b="1">
                <a:solidFill>
                  <a:srgbClr val="000000"/>
                </a:solidFill>
                <a:latin typeface="Helvetica Neue"/>
                <a:ea typeface="Helvetica Neue"/>
                <a:cs typeface="Helvetica Neue"/>
              </a:defRPr>
            </a:pPr>
            <a:r>
              <a:rPr sz="3375" b="1">
                <a:solidFill>
                  <a:srgbClr val="000000"/>
                </a:solidFill>
                <a:latin typeface="Helvetica Neue"/>
                <a:ea typeface="Helvetica Neue"/>
                <a:cs typeface="Helvetica Neue"/>
              </a:rPr>
              <a:t>Every role gets the view that matches its decision</a:t>
            </a:r>
          </a:p>
        </p:txBody>
      </p:sp>
      <p:sp>
        <p:nvSpPr>
          <p:cNvPr id="2" name="body">
            <a:extLst xmlns:a="http://schemas.openxmlformats.org/drawingml/2006/main">
              <a:ext uri="{FF2B5EF4-FFF2-40B4-BE49-F238E27FC236}">
                <a16:creationId xmlns:a16="http://schemas.microsoft.com/office/drawing/2014/main" id="{B41CB26F-DEC0-4E09-B932-9A9C8327D735}"/>
              </a:ext>
            </a:extLst>
          </p:cNvPr>
          <p:cNvSpPr>
            <a:spLocks xmlns:a="http://schemas.openxmlformats.org/drawingml/2006/main" noGrp="1"/>
          </p:cNvSpPr>
          <p:nvPr/>
        </p:nvSpPr>
        <p:spPr>
          <a:xfrm xmlns:a="http://schemas.openxmlformats.org/drawingml/2006/main">
            <a:off x="390525" y="1447800"/>
            <a:ext cx="10096500" cy="6667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108000"/>
              </a:lnSpc>
              <a:buNone/>
              <a:defRPr sz="1725">
                <a:solidFill>
                  <a:srgbClr val="222222"/>
                </a:solidFill>
                <a:latin typeface="Helvetica Neue"/>
                <a:ea typeface="Helvetica Neue"/>
                <a:cs typeface="Helvetica Neue"/>
              </a:defRPr>
            </a:pPr>
            <a:r>
              <a:rPr sz="1725">
                <a:solidFill>
                  <a:srgbClr val="222222"/>
                </a:solidFill>
                <a:latin typeface="Helvetica Neue"/>
                <a:ea typeface="Helvetica Neue"/>
                <a:cs typeface="Helvetica Neue"/>
              </a:rPr>
              <a:t>OpenProgram is not one generic dashboard. It reuses the same delivery graph and presents different decision surfaces for developers, team leads, product, management, executives, and admins.</a:t>
            </a:r>
          </a:p>
        </p:txBody>
      </p:sp>
      <p:sp>
        <p:nvSpPr>
          <p:cNvPr id="3" name="footer-5">
            <a:extLst xmlns:a="http://schemas.openxmlformats.org/drawingml/2006/main">
              <a:ext uri="{FF2B5EF4-FFF2-40B4-BE49-F238E27FC236}">
                <a16:creationId xmlns:a16="http://schemas.microsoft.com/office/drawing/2014/main" id="{489D504C-6765-4281-BED4-0530EFDAE697}"/>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spcFirstLastPara="1" lIns="0" tIns="0" rIns="0" bIns="0" anchor="b">
            <a:normAutofit fontScale="100000"/>
          </a:bodyPr>
          <a:lstStyle xmlns:a="http://schemas.openxmlformats.org/drawingml/2006/main"/>
          <a:p xmlns:a="http://schemas.openxmlformats.org/drawingml/2006/main">
            <a:pPr algn="r">
              <a:lnSpc>
                <a:spcPct val="108000"/>
              </a:lnSpc>
              <a:buNone/>
              <a:defRPr sz="1125">
                <a:solidFill>
                  <a:srgbClr val="000000"/>
                </a:solidFill>
                <a:latin typeface="Helvetica Neue"/>
                <a:ea typeface="Helvetica Neue"/>
                <a:cs typeface="Helvetica Neue"/>
              </a:defRPr>
            </a:pPr>
            <a:r>
              <a:rPr sz="1125">
                <a:solidFill>
                  <a:srgbClr val="000000"/>
                </a:solidFill>
                <a:latin typeface="Helvetica Neue"/>
                <a:ea typeface="Helvetica Neue"/>
                <a:cs typeface="Helvetica Neue"/>
              </a:rPr>
              <a:t>05</a:t>
            </a:r>
          </a:p>
        </p:txBody>
      </p:sp>
      <p:graphicFrame>
        <p:nvGraphicFramePr>
          <p:cNvPr id="8" name=""/>
          <p:cNvGraphicFramePr/>
          <p:nvPr/>
        </p:nvGraphicFramePr>
        <p:xfrm>
          <a:off xmlns:a="http://schemas.openxmlformats.org/drawingml/2006/main" x="390525" y="2438400"/>
          <a:ext xmlns:a="http://schemas.openxmlformats.org/drawingml/2006/main" cx="11410950" cy="3257550"/>
        </p:xfrm>
        <a:graphic xmlns:a="http://schemas.openxmlformats.org/drawingml/2006/main">
          <a:graphicData uri="http://schemas.openxmlformats.org/drawingml/2006/table">
            <a:tbl>
              <a:tblPr firstRow="1" bandRow="1"/>
              <a:tblGrid>
                <a:gridCol w="1809750"/>
                <a:gridCol w="4114800"/>
                <a:gridCol w="5486400"/>
              </a:tblGrid>
              <a:tr h="465364">
                <a:tc>
                  <a:txBody>
                    <a:bodyPr/>
                    <a:lstStyle/>
                    <a:p>
                      <a:r>
                        <a:rPr sz="1275" b="1">
                          <a:solidFill>
                            <a:srgbClr val="FFFFFF"/>
                          </a:solidFill>
                        </a:rPr>
                        <a:t>Persona</a:t>
                      </a:r>
                    </a:p>
                  </a:txBody>
                  <a:tcPr marL="91440" marR="91440" marT="45720" marB="45720">
                    <a:solidFill>
                      <a:srgbClr val="000000"/>
                    </a:solidFill>
                  </a:tcPr>
                </a:tc>
                <a:tc>
                  <a:txBody>
                    <a:bodyPr/>
                    <a:lstStyle/>
                    <a:p>
                      <a:r>
                        <a:rPr sz="1275" b="1">
                          <a:solidFill>
                            <a:srgbClr val="FFFFFF"/>
                          </a:solidFill>
                        </a:rPr>
                        <a:t>Decision owned</a:t>
                      </a:r>
                    </a:p>
                  </a:txBody>
                  <a:tcPr marL="91440" marR="91440" marT="45720" marB="45720">
                    <a:solidFill>
                      <a:srgbClr val="000000"/>
                    </a:solidFill>
                  </a:tcPr>
                </a:tc>
                <a:tc>
                  <a:txBody>
                    <a:bodyPr/>
                    <a:lstStyle/>
                    <a:p>
                      <a:r>
                        <a:rPr sz="1275" b="1">
                          <a:solidFill>
                            <a:srgbClr val="FFFFFF"/>
                          </a:solidFill>
                        </a:rPr>
                        <a:t>OpenProgram surface</a:t>
                      </a:r>
                    </a:p>
                  </a:txBody>
                  <a:tcPr marL="91440" marR="91440" marT="45720" marB="45720">
                    <a:solidFill>
                      <a:srgbClr val="000000"/>
                    </a:solidFill>
                  </a:tcPr>
                </a:tc>
              </a:tr>
              <a:tr h="465364">
                <a:tc>
                  <a:txBody>
                    <a:bodyPr/>
                    <a:lstStyle/>
                    <a:p>
                      <a:r>
                        <a:rPr sz="1200" b="1"/>
                        <a:t>Developer</a:t>
                      </a:r>
                    </a:p>
                  </a:txBody>
                  <a:tcPr marL="91440" marR="91440" marT="45720" marB="45720"/>
                </a:tc>
                <a:tc>
                  <a:txBody>
                    <a:bodyPr/>
                    <a:lstStyle/>
                    <a:p>
                      <a:r>
                        <a:rPr sz="1200"/>
                        <a:t>What needs focus today?</a:t>
                      </a:r>
                    </a:p>
                  </a:txBody>
                  <a:tcPr marL="91440" marR="91440" marT="45720" marB="45720"/>
                </a:tc>
                <a:tc>
                  <a:txBody>
                    <a:bodyPr/>
                    <a:lstStyle/>
                    <a:p>
                      <a:r>
                        <a:rPr sz="1200"/>
                        <a:t>Focus items, blockers, assigned tasks, check-in preference</a:t>
                      </a:r>
                    </a:p>
                  </a:txBody>
                  <a:tcPr marL="91440" marR="91440" marT="45720" marB="45720"/>
                </a:tc>
              </a:tr>
              <a:tr h="465364">
                <a:tc>
                  <a:txBody>
                    <a:bodyPr/>
                    <a:lstStyle/>
                    <a:p>
                      <a:r>
                        <a:rPr sz="1200" b="1"/>
                        <a:t>Scrum Master</a:t>
                      </a:r>
                    </a:p>
                  </a:txBody>
                  <a:tcPr marL="91440" marR="91440" marT="45720" marB="45720"/>
                </a:tc>
                <a:tc>
                  <a:txBody>
                    <a:bodyPr/>
                    <a:lstStyle/>
                    <a:p>
                      <a:r>
                        <a:rPr sz="1200"/>
                        <a:t>Who is blocked or missing?</a:t>
                      </a:r>
                    </a:p>
                  </a:txBody>
                  <a:tcPr marL="91440" marR="91440" marT="45720" marB="45720"/>
                </a:tc>
                <a:tc>
                  <a:txBody>
                    <a:bodyPr/>
                    <a:lstStyle/>
                    <a:p>
                      <a:r>
                        <a:rPr sz="1200"/>
                        <a:t>Pod blockers, check-in completeness, stale signals</a:t>
                      </a:r>
                    </a:p>
                  </a:txBody>
                  <a:tcPr marL="91440" marR="91440" marT="45720" marB="45720"/>
                </a:tc>
              </a:tr>
              <a:tr h="465364">
                <a:tc>
                  <a:txBody>
                    <a:bodyPr/>
                    <a:lstStyle/>
                    <a:p>
                      <a:r>
                        <a:rPr sz="1200" b="1"/>
                        <a:t>Product Owner</a:t>
                      </a:r>
                    </a:p>
                  </a:txBody>
                  <a:tcPr marL="91440" marR="91440" marT="45720" marB="45720"/>
                </a:tc>
                <a:tc>
                  <a:txBody>
                    <a:bodyPr/>
                    <a:lstStyle/>
                    <a:p>
                      <a:r>
                        <a:rPr sz="1200"/>
                        <a:t>What will ship and what is at risk?</a:t>
                      </a:r>
                    </a:p>
                  </a:txBody>
                  <a:tcPr marL="91440" marR="91440" marT="45720" marB="45720"/>
                </a:tc>
                <a:tc>
                  <a:txBody>
                    <a:bodyPr/>
                    <a:lstStyle/>
                    <a:p>
                      <a:r>
                        <a:rPr sz="1200"/>
                        <a:t>Project progress, task mix, source confidence</a:t>
                      </a:r>
                    </a:p>
                  </a:txBody>
                  <a:tcPr marL="91440" marR="91440" marT="45720" marB="45720"/>
                </a:tc>
              </a:tr>
              <a:tr h="465364">
                <a:tc>
                  <a:txBody>
                    <a:bodyPr/>
                    <a:lstStyle/>
                    <a:p>
                      <a:r>
                        <a:rPr sz="1200" b="1"/>
                        <a:t>Manager</a:t>
                      </a:r>
                    </a:p>
                  </a:txBody>
                  <a:tcPr marL="91440" marR="91440" marT="45720" marB="45720"/>
                </a:tc>
                <a:tc>
                  <a:txBody>
                    <a:bodyPr/>
                    <a:lstStyle/>
                    <a:p>
                      <a:r>
                        <a:rPr sz="1200"/>
                        <a:t>Where should leadership intervene?</a:t>
                      </a:r>
                    </a:p>
                  </a:txBody>
                  <a:tcPr marL="91440" marR="91440" marT="45720" marB="45720"/>
                </a:tc>
                <a:tc>
                  <a:txBody>
                    <a:bodyPr/>
                    <a:lstStyle/>
                    <a:p>
                      <a:r>
                        <a:rPr sz="1200"/>
                        <a:t>Program tree, portfolio heatmap, flow metrics</a:t>
                      </a:r>
                    </a:p>
                  </a:txBody>
                  <a:tcPr marL="91440" marR="91440" marT="45720" marB="45720"/>
                </a:tc>
              </a:tr>
              <a:tr h="465364">
                <a:tc>
                  <a:txBody>
                    <a:bodyPr/>
                    <a:lstStyle/>
                    <a:p>
                      <a:r>
                        <a:rPr sz="1200" b="1"/>
                        <a:t>Executive</a:t>
                      </a:r>
                    </a:p>
                  </a:txBody>
                  <a:tcPr marL="91440" marR="91440" marT="45720" marB="45720"/>
                </a:tc>
                <a:tc>
                  <a:txBody>
                    <a:bodyPr/>
                    <a:lstStyle/>
                    <a:p>
                      <a:r>
                        <a:rPr sz="1200"/>
                        <a:t>Which programs need attention?</a:t>
                      </a:r>
                    </a:p>
                  </a:txBody>
                  <a:tcPr marL="91440" marR="91440" marT="45720" marB="45720"/>
                </a:tc>
                <a:tc>
                  <a:txBody>
                    <a:bodyPr/>
                    <a:lstStyle/>
                    <a:p>
                      <a:r>
                        <a:rPr sz="1200"/>
                        <a:t>Portfolio health without raw developer-message exposure</a:t>
                      </a:r>
                    </a:p>
                  </a:txBody>
                  <a:tcPr marL="91440" marR="91440" marT="45720" marB="45720"/>
                </a:tc>
              </a:tr>
              <a:tr h="465364">
                <a:tc>
                  <a:txBody>
                    <a:bodyPr/>
                    <a:lstStyle/>
                    <a:p>
                      <a:r>
                        <a:rPr sz="1200" b="1"/>
                        <a:t>Admin</a:t>
                      </a:r>
                    </a:p>
                  </a:txBody>
                  <a:tcPr marL="91440" marR="91440" marT="45720" marB="45720"/>
                </a:tc>
                <a:tc>
                  <a:txBody>
                    <a:bodyPr/>
                    <a:lstStyle/>
                    <a:p>
                      <a:r>
                        <a:rPr sz="1200"/>
                        <a:t>How is the operating model configured?</a:t>
                      </a:r>
                    </a:p>
                  </a:txBody>
                  <a:tcPr marL="91440" marR="91440" marT="45720" marB="45720"/>
                </a:tc>
                <a:tc>
                  <a:txBody>
                    <a:bodyPr/>
                    <a:lstStyle/>
                    <a:p>
                      <a:r>
                        <a:rPr sz="1200"/>
                        <a:t>Hierarchy, directory, assignments, check-in timing, dispatch</a:t>
                      </a:r>
                    </a:p>
                  </a:txBody>
                  <a:tcPr marL="91440" marR="91440" marT="45720" marB="45720"/>
                </a:tc>
              </a:tr>
            </a:tbl>
          </a:graphicData>
        </a:graphic>
      </p:graphicFrame>
    </p:spTree>
    <p:extLst>
      <p:ext uri="{BB962C8B-B14F-4D97-AF65-F5344CB8AC3E}">
        <p14:creationId xmlns:p14="http://schemas.microsoft.com/office/powerpoint/2010/main" val="85661354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itle">
            <a:extLst xmlns:a="http://schemas.openxmlformats.org/drawingml/2006/main">
              <a:ext uri="{FF2B5EF4-FFF2-40B4-BE49-F238E27FC236}">
                <a16:creationId xmlns:a16="http://schemas.microsoft.com/office/drawing/2014/main" id="{BD85B195-7AC0-47B9-B545-9CDCFE3E9CE0}"/>
              </a:ext>
            </a:extLst>
          </p:cNvPr>
          <p:cNvSpPr>
            <a:spLocks xmlns:a="http://schemas.openxmlformats.org/drawingml/2006/main" noGrp="1"/>
          </p:cNvSpPr>
          <p:nvPr/>
        </p:nvSpPr>
        <p:spPr>
          <a:xfrm xmlns:a="http://schemas.openxmlformats.org/drawingml/2006/main">
            <a:off x="390525" y="342900"/>
            <a:ext cx="8382000" cy="914400"/>
          </a:xfrm>
          <a:prstGeom xmlns:a="http://schemas.openxmlformats.org/drawingml/2006/main" prst="rect">
            <a:avLst/>
          </a:prstGeom>
        </p:spPr>
        <p:txBody>
          <a:bodyPr xmlns:a="http://schemas.openxmlformats.org/drawingml/2006/main" spcFirstLastPara="1" lIns="0" tIns="0" rIns="0" bIns="0" anchor="t">
            <a:normAutofit fontScale="82304"/>
          </a:bodyPr>
          <a:lstStyle xmlns:a="http://schemas.openxmlformats.org/drawingml/2006/main"/>
          <a:p xmlns:a="http://schemas.openxmlformats.org/drawingml/2006/main">
            <a:pPr>
              <a:lnSpc>
                <a:spcPct val="108000"/>
              </a:lnSpc>
              <a:buNone/>
              <a:defRPr sz="3375" b="1">
                <a:solidFill>
                  <a:srgbClr val="000000"/>
                </a:solidFill>
                <a:latin typeface="Helvetica Neue"/>
                <a:ea typeface="Helvetica Neue"/>
                <a:cs typeface="Helvetica Neue"/>
              </a:defRPr>
            </a:pPr>
            <a:r>
              <a:rPr sz="3375" b="1">
                <a:solidFill>
                  <a:srgbClr val="000000"/>
                </a:solidFill>
                <a:latin typeface="Helvetica Neue"/>
                <a:ea typeface="Helvetica Neue"/>
                <a:cs typeface="Helvetica Neue"/>
              </a:rPr>
              <a:t>The current product already shows the operating loop</a:t>
            </a:r>
          </a:p>
        </p:txBody>
      </p:sp>
      <p:sp>
        <p:nvSpPr>
          <p:cNvPr id="2" name="body">
            <a:extLst xmlns:a="http://schemas.openxmlformats.org/drawingml/2006/main">
              <a:ext uri="{FF2B5EF4-FFF2-40B4-BE49-F238E27FC236}">
                <a16:creationId xmlns:a16="http://schemas.microsoft.com/office/drawing/2014/main" id="{98691F8D-377D-4A02-A8AE-D69E44D09121}"/>
              </a:ext>
            </a:extLst>
          </p:cNvPr>
          <p:cNvSpPr>
            <a:spLocks xmlns:a="http://schemas.openxmlformats.org/drawingml/2006/main" noGrp="1"/>
          </p:cNvSpPr>
          <p:nvPr/>
        </p:nvSpPr>
        <p:spPr>
          <a:xfrm xmlns:a="http://schemas.openxmlformats.org/drawingml/2006/main">
            <a:off x="390525" y="1276350"/>
            <a:ext cx="10668000" cy="6096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108000"/>
              </a:lnSpc>
              <a:buNone/>
              <a:defRPr sz="1650">
                <a:solidFill>
                  <a:srgbClr val="222222"/>
                </a:solidFill>
                <a:latin typeface="Helvetica Neue"/>
                <a:ea typeface="Helvetica Neue"/>
                <a:cs typeface="Helvetica Neue"/>
              </a:defRPr>
            </a:pPr>
            <a:r>
              <a:rPr sz="1650">
                <a:solidFill>
                  <a:srgbClr val="222222"/>
                </a:solidFill>
                <a:latin typeface="Helvetica Neue"/>
                <a:ea typeface="Helvetica Neue"/>
                <a:cs typeface="Helvetica Neue"/>
              </a:rPr>
              <a:t>The UI includes role-based navigation, persona dashboards, runtime configuration, and a local Slack-shaped simulator that proves the check-in path without live credentials.</a:t>
            </a:r>
          </a:p>
        </p:txBody>
      </p:sp>
      <p:sp>
        <p:nvSpPr>
          <p:cNvPr id="3" name="image-left-bg">
            <a:extLst xmlns:a="http://schemas.openxmlformats.org/drawingml/2006/main">
              <a:ext uri="{FF2B5EF4-FFF2-40B4-BE49-F238E27FC236}">
                <a16:creationId xmlns:a16="http://schemas.microsoft.com/office/drawing/2014/main" id="{B197D0D4-F1EE-4EA7-A8F5-423474EB5E6F}"/>
              </a:ext>
            </a:extLst>
          </p:cNvPr>
          <p:cNvSpPr>
            <a:spLocks xmlns:a="http://schemas.openxmlformats.org/drawingml/2006/main" noGrp="1"/>
          </p:cNvSpPr>
          <p:nvPr/>
        </p:nvSpPr>
        <p:spPr>
          <a:xfrm xmlns:a="http://schemas.openxmlformats.org/drawingml/2006/main">
            <a:off x="390525" y="2209800"/>
            <a:ext cx="5476875" cy="30670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4" name="image-right-bg">
            <a:extLst xmlns:a="http://schemas.openxmlformats.org/drawingml/2006/main">
              <a:ext uri="{FF2B5EF4-FFF2-40B4-BE49-F238E27FC236}">
                <a16:creationId xmlns:a16="http://schemas.microsoft.com/office/drawing/2014/main" id="{0BD05753-6F7F-4091-B6E1-CB7FB2B84C98}"/>
              </a:ext>
            </a:extLst>
          </p:cNvPr>
          <p:cNvSpPr>
            <a:spLocks xmlns:a="http://schemas.openxmlformats.org/drawingml/2006/main" noGrp="1"/>
          </p:cNvSpPr>
          <p:nvPr/>
        </p:nvSpPr>
        <p:spPr>
          <a:xfrm xmlns:a="http://schemas.openxmlformats.org/drawingml/2006/main">
            <a:off x="6324600" y="2209800"/>
            <a:ext cx="5476875" cy="30670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footer-6">
            <a:extLst xmlns:a="http://schemas.openxmlformats.org/drawingml/2006/main">
              <a:ext uri="{FF2B5EF4-FFF2-40B4-BE49-F238E27FC236}">
                <a16:creationId xmlns:a16="http://schemas.microsoft.com/office/drawing/2014/main" id="{E9623E46-1B2E-46D3-9BE6-23676C21FF5E}"/>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spcFirstLastPara="1" lIns="0" tIns="0" rIns="0" bIns="0" anchor="b">
            <a:normAutofit fontScale="100000"/>
          </a:bodyPr>
          <a:lstStyle xmlns:a="http://schemas.openxmlformats.org/drawingml/2006/main"/>
          <a:p xmlns:a="http://schemas.openxmlformats.org/drawingml/2006/main">
            <a:pPr algn="r">
              <a:lnSpc>
                <a:spcPct val="108000"/>
              </a:lnSpc>
              <a:buNone/>
              <a:defRPr sz="1125">
                <a:solidFill>
                  <a:srgbClr val="000000"/>
                </a:solidFill>
                <a:latin typeface="Helvetica Neue"/>
                <a:ea typeface="Helvetica Neue"/>
                <a:cs typeface="Helvetica Neue"/>
              </a:defRPr>
            </a:pPr>
            <a:r>
              <a:rPr sz="1125">
                <a:solidFill>
                  <a:srgbClr val="000000"/>
                </a:solidFill>
                <a:latin typeface="Helvetica Neue"/>
                <a:ea typeface="Helvetica Neue"/>
                <a:cs typeface="Helvetica Neue"/>
              </a:rPr>
              <a:t>06</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157c057af7d4397"/>
          <a:srcRect xmlns:a="http://schemas.openxmlformats.org/drawingml/2006/main" l="0" t="169" r="0" b="169"/>
          <a:stretch xmlns:a="http://schemas.openxmlformats.org/drawingml/2006/main">
            <a:fillRect l="0" t="0" r="0" b="0"/>
          </a:stretch>
        </p:blipFill>
        <p:spPr>
          <a:xfrm xmlns:a="http://schemas.openxmlformats.org/drawingml/2006/main">
            <a:off x="561975" y="2362200"/>
            <a:ext cx="5133975" cy="272415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4ad37868001495e"/>
          <a:srcRect xmlns:a="http://schemas.openxmlformats.org/drawingml/2006/main" l="0" t="7371" r="0" b="7371"/>
          <a:stretch xmlns:a="http://schemas.openxmlformats.org/drawingml/2006/main">
            <a:fillRect l="0" t="0" r="0" b="0"/>
          </a:stretch>
        </p:blipFill>
        <p:spPr>
          <a:xfrm xmlns:a="http://schemas.openxmlformats.org/drawingml/2006/main">
            <a:off x="6496050" y="2362200"/>
            <a:ext cx="5133975" cy="27241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6F8C111-33D2-4E93-A637-8A5F5124A95C}"/>
              </a:ext>
            </a:extLst>
          </p:cNvPr>
          <p:cNvSpPr>
            <a:spLocks xmlns:a="http://schemas.openxmlformats.org/drawingml/2006/main" noGrp="1"/>
          </p:cNvSpPr>
          <p:nvPr/>
        </p:nvSpPr>
        <p:spPr>
          <a:xfrm xmlns:a="http://schemas.openxmlformats.org/drawingml/2006/main">
            <a:off x="561975" y="2362200"/>
            <a:ext cx="5133975" cy="2724150"/>
          </a:xfrm>
          <a:prstGeom xmlns:a="http://schemas.openxmlformats.org/drawingml/2006/main" prst="rect">
            <a:avLst/>
          </a:prstGeom>
          <a:noFill xmlns:a="http://schemas.openxmlformats.org/drawingml/2006/main"/>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D488519A-C2A3-4ACF-ABDB-975F0B286377}"/>
              </a:ext>
            </a:extLst>
          </p:cNvPr>
          <p:cNvSpPr>
            <a:spLocks xmlns:a="http://schemas.openxmlformats.org/drawingml/2006/main" noGrp="1"/>
          </p:cNvSpPr>
          <p:nvPr/>
        </p:nvSpPr>
        <p:spPr>
          <a:xfrm xmlns:a="http://schemas.openxmlformats.org/drawingml/2006/main">
            <a:off x="6496050" y="2362200"/>
            <a:ext cx="5133975" cy="2724150"/>
          </a:xfrm>
          <a:prstGeom xmlns:a="http://schemas.openxmlformats.org/drawingml/2006/main" prst="rect">
            <a:avLst/>
          </a:prstGeom>
          <a:noFill xmlns:a="http://schemas.openxmlformats.org/drawingml/2006/main"/>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291AAA46-4025-4B25-9F3F-DE2849C6FA89}"/>
              </a:ext>
            </a:extLst>
          </p:cNvPr>
          <p:cNvSpPr>
            <a:spLocks xmlns:a="http://schemas.openxmlformats.org/drawingml/2006/main" noGrp="1"/>
          </p:cNvSpPr>
          <p:nvPr/>
        </p:nvSpPr>
        <p:spPr>
          <a:xfrm xmlns:a="http://schemas.openxmlformats.org/drawingml/2006/main">
            <a:off x="1438275" y="5448300"/>
            <a:ext cx="3381375" cy="3429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Role-focused delivery dashboard</a:t>
            </a:r>
          </a:p>
        </p:txBody>
      </p:sp>
      <p:sp>
        <p:nvSpPr>
          <p:cNvPr id="11" name="">
            <a:extLst xmlns:a="http://schemas.openxmlformats.org/drawingml/2006/main">
              <a:ext uri="{FF2B5EF4-FFF2-40B4-BE49-F238E27FC236}">
                <a16:creationId xmlns:a16="http://schemas.microsoft.com/office/drawing/2014/main" id="{321A8FC2-1798-45C5-A60D-78CC82CB7C20}"/>
              </a:ext>
            </a:extLst>
          </p:cNvPr>
          <p:cNvSpPr>
            <a:spLocks xmlns:a="http://schemas.openxmlformats.org/drawingml/2006/main" noGrp="1"/>
          </p:cNvSpPr>
          <p:nvPr/>
        </p:nvSpPr>
        <p:spPr>
          <a:xfrm xmlns:a="http://schemas.openxmlformats.org/drawingml/2006/main">
            <a:off x="7362825" y="5448300"/>
            <a:ext cx="3381375" cy="3429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Chat check-in loop under test</a:t>
            </a:r>
          </a:p>
        </p:txBody>
      </p:sp>
    </p:spTree>
    <p:extLst>
      <p:ext uri="{BB962C8B-B14F-4D97-AF65-F5344CB8AC3E}">
        <p14:creationId xmlns:p14="http://schemas.microsoft.com/office/powerpoint/2010/main" val="21128799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itle">
            <a:extLst xmlns:a="http://schemas.openxmlformats.org/drawingml/2006/main">
              <a:ext uri="{FF2B5EF4-FFF2-40B4-BE49-F238E27FC236}">
                <a16:creationId xmlns:a16="http://schemas.microsoft.com/office/drawing/2014/main" id="{9AE9A08B-31BC-47C8-AF8C-2814A76A427F}"/>
              </a:ext>
            </a:extLst>
          </p:cNvPr>
          <p:cNvSpPr>
            <a:spLocks xmlns:a="http://schemas.openxmlformats.org/drawingml/2006/main" noGrp="1"/>
          </p:cNvSpPr>
          <p:nvPr/>
        </p:nvSpPr>
        <p:spPr>
          <a:xfrm xmlns:a="http://schemas.openxmlformats.org/drawingml/2006/main">
            <a:off x="390525" y="342900"/>
            <a:ext cx="7905750" cy="914400"/>
          </a:xfrm>
          <a:prstGeom xmlns:a="http://schemas.openxmlformats.org/drawingml/2006/main" prst="rect">
            <a:avLst/>
          </a:prstGeom>
        </p:spPr>
        <p:txBody>
          <a:bodyPr xmlns:a="http://schemas.openxmlformats.org/drawingml/2006/main" spcFirstLastPara="1" lIns="0" tIns="0" rIns="0" bIns="0" anchor="t">
            <a:normAutofit fontScale="85097"/>
          </a:bodyPr>
          <a:lstStyle xmlns:a="http://schemas.openxmlformats.org/drawingml/2006/main"/>
          <a:p xmlns:a="http://schemas.openxmlformats.org/drawingml/2006/main">
            <a:pPr>
              <a:lnSpc>
                <a:spcPct val="108000"/>
              </a:lnSpc>
              <a:buNone/>
              <a:defRPr sz="3375" b="1">
                <a:solidFill>
                  <a:srgbClr val="000000"/>
                </a:solidFill>
                <a:latin typeface="Helvetica Neue"/>
                <a:ea typeface="Helvetica Neue"/>
                <a:cs typeface="Helvetica Neue"/>
              </a:defRPr>
            </a:pPr>
            <a:r>
              <a:rPr sz="3375" b="1">
                <a:solidFill>
                  <a:srgbClr val="000000"/>
                </a:solidFill>
                <a:latin typeface="Helvetica Neue"/>
                <a:ea typeface="Helvetica Neue"/>
                <a:cs typeface="Helvetica Neue"/>
              </a:rPr>
              <a:t>Provider-neutral architecture is the product moat</a:t>
            </a:r>
          </a:p>
        </p:txBody>
      </p:sp>
      <p:sp>
        <p:nvSpPr>
          <p:cNvPr id="2" name="body">
            <a:extLst xmlns:a="http://schemas.openxmlformats.org/drawingml/2006/main">
              <a:ext uri="{FF2B5EF4-FFF2-40B4-BE49-F238E27FC236}">
                <a16:creationId xmlns:a16="http://schemas.microsoft.com/office/drawing/2014/main" id="{BD2917CE-CE10-4D85-B6F0-FA4B04E7C671}"/>
              </a:ext>
            </a:extLst>
          </p:cNvPr>
          <p:cNvSpPr>
            <a:spLocks xmlns:a="http://schemas.openxmlformats.org/drawingml/2006/main" noGrp="1"/>
          </p:cNvSpPr>
          <p:nvPr/>
        </p:nvSpPr>
        <p:spPr>
          <a:xfrm xmlns:a="http://schemas.openxmlformats.org/drawingml/2006/main">
            <a:off x="390525" y="1381125"/>
            <a:ext cx="10668000" cy="6858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108000"/>
              </a:lnSpc>
              <a:buNone/>
              <a:defRPr sz="1650">
                <a:solidFill>
                  <a:srgbClr val="222222"/>
                </a:solidFill>
                <a:latin typeface="Helvetica Neue"/>
                <a:ea typeface="Helvetica Neue"/>
                <a:cs typeface="Helvetica Neue"/>
              </a:defRPr>
            </a:pPr>
            <a:r>
              <a:rPr sz="1650">
                <a:solidFill>
                  <a:srgbClr val="222222"/>
                </a:solidFill>
                <a:latin typeface="Helvetica Neue"/>
                <a:ea typeface="Helvetica Neue"/>
                <a:cs typeface="Helvetica Neue"/>
              </a:rPr>
              <a:t>OpenProgram keeps vendor details at the edge. The core works through capability ports, so chat, issue tracking, VCS, calendar, workflow, LLM, and persistence providers can change without rewriting the business logic.</a:t>
            </a:r>
          </a:p>
        </p:txBody>
      </p:sp>
      <p:sp>
        <p:nvSpPr>
          <p:cNvPr id="3" name="left-panel">
            <a:extLst xmlns:a="http://schemas.openxmlformats.org/drawingml/2006/main">
              <a:ext uri="{FF2B5EF4-FFF2-40B4-BE49-F238E27FC236}">
                <a16:creationId xmlns:a16="http://schemas.microsoft.com/office/drawing/2014/main" id="{DB8CA876-464A-41AA-BD26-F5DA834A46B4}"/>
              </a:ext>
            </a:extLst>
          </p:cNvPr>
          <p:cNvSpPr>
            <a:spLocks xmlns:a="http://schemas.openxmlformats.org/drawingml/2006/main" noGrp="1"/>
          </p:cNvSpPr>
          <p:nvPr/>
        </p:nvSpPr>
        <p:spPr>
          <a:xfrm xmlns:a="http://schemas.openxmlformats.org/drawingml/2006/main">
            <a:off x="390525" y="2724150"/>
            <a:ext cx="3276600" cy="23431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4" name="mid-panel">
            <a:extLst xmlns:a="http://schemas.openxmlformats.org/drawingml/2006/main">
              <a:ext uri="{FF2B5EF4-FFF2-40B4-BE49-F238E27FC236}">
                <a16:creationId xmlns:a16="http://schemas.microsoft.com/office/drawing/2014/main" id="{D8BF15AD-E760-4F11-A0E9-06CF1E5CB6AA}"/>
              </a:ext>
            </a:extLst>
          </p:cNvPr>
          <p:cNvSpPr>
            <a:spLocks xmlns:a="http://schemas.openxmlformats.org/drawingml/2006/main" noGrp="1"/>
          </p:cNvSpPr>
          <p:nvPr/>
        </p:nvSpPr>
        <p:spPr>
          <a:xfrm xmlns:a="http://schemas.openxmlformats.org/drawingml/2006/main">
            <a:off x="4457700" y="2724150"/>
            <a:ext cx="3276600" cy="2343150"/>
          </a:xfrm>
          <a:prstGeom xmlns:a="http://schemas.openxmlformats.org/drawingml/2006/main" prst="rect">
            <a:avLst/>
          </a:prstGeom>
          <a:solidFill xmlns:a="http://schemas.openxmlformats.org/drawingml/2006/main">
            <a:srgbClr val="EAF1FF"/>
          </a:solidFill>
          <a:ln xmlns:a="http://schemas.openxmlformats.org/drawingml/2006/main" w="0">
            <a:noFill/>
            <a:prstDash val="solid"/>
          </a:ln>
        </p:spPr>
      </p:sp>
      <p:sp>
        <p:nvSpPr>
          <p:cNvPr id="5" name="right-panel">
            <a:extLst xmlns:a="http://schemas.openxmlformats.org/drawingml/2006/main">
              <a:ext uri="{FF2B5EF4-FFF2-40B4-BE49-F238E27FC236}">
                <a16:creationId xmlns:a16="http://schemas.microsoft.com/office/drawing/2014/main" id="{432516F9-1D97-4CBF-965C-7392ED41E119}"/>
              </a:ext>
            </a:extLst>
          </p:cNvPr>
          <p:cNvSpPr>
            <a:spLocks xmlns:a="http://schemas.openxmlformats.org/drawingml/2006/main" noGrp="1"/>
          </p:cNvSpPr>
          <p:nvPr/>
        </p:nvSpPr>
        <p:spPr>
          <a:xfrm xmlns:a="http://schemas.openxmlformats.org/drawingml/2006/main">
            <a:off x="8524875" y="2724150"/>
            <a:ext cx="3276600" cy="23431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left-title">
            <a:extLst xmlns:a="http://schemas.openxmlformats.org/drawingml/2006/main">
              <a:ext uri="{FF2B5EF4-FFF2-40B4-BE49-F238E27FC236}">
                <a16:creationId xmlns:a16="http://schemas.microsoft.com/office/drawing/2014/main" id="{406F9DBB-5C91-4568-9C0A-BA3961312026}"/>
              </a:ext>
            </a:extLst>
          </p:cNvPr>
          <p:cNvSpPr>
            <a:spLocks xmlns:a="http://schemas.openxmlformats.org/drawingml/2006/main" noGrp="1"/>
          </p:cNvSpPr>
          <p:nvPr/>
        </p:nvSpPr>
        <p:spPr>
          <a:xfrm xmlns:a="http://schemas.openxmlformats.org/drawingml/2006/main">
            <a:off x="676275" y="2990850"/>
            <a:ext cx="2705100" cy="4191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108000"/>
              </a:lnSpc>
              <a:buNone/>
              <a:defRPr sz="2175" b="1">
                <a:solidFill>
                  <a:srgbClr val="000000"/>
                </a:solidFill>
                <a:latin typeface="Helvetica Neue"/>
                <a:ea typeface="Helvetica Neue"/>
                <a:cs typeface="Helvetica Neue"/>
              </a:defRPr>
            </a:pPr>
            <a:r>
              <a:rPr sz="2175" b="1">
                <a:solidFill>
                  <a:srgbClr val="000000"/>
                </a:solidFill>
                <a:latin typeface="Helvetica Neue"/>
                <a:ea typeface="Helvetica Neue"/>
                <a:cs typeface="Helvetica Neue"/>
              </a:rPr>
              <a:t>External systems</a:t>
            </a:r>
          </a:p>
        </p:txBody>
      </p:sp>
      <p:sp>
        <p:nvSpPr>
          <p:cNvPr id="7" name="left-body">
            <a:extLst xmlns:a="http://schemas.openxmlformats.org/drawingml/2006/main">
              <a:ext uri="{FF2B5EF4-FFF2-40B4-BE49-F238E27FC236}">
                <a16:creationId xmlns:a16="http://schemas.microsoft.com/office/drawing/2014/main" id="{62C8EC17-00C1-4793-82F5-DBFBAB124EDB}"/>
              </a:ext>
            </a:extLst>
          </p:cNvPr>
          <p:cNvSpPr>
            <a:spLocks xmlns:a="http://schemas.openxmlformats.org/drawingml/2006/main" noGrp="1"/>
          </p:cNvSpPr>
          <p:nvPr/>
        </p:nvSpPr>
        <p:spPr>
          <a:xfrm xmlns:a="http://schemas.openxmlformats.org/drawingml/2006/main">
            <a:off x="704850" y="3581400"/>
            <a:ext cx="2619375" cy="11049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108000"/>
              </a:lnSpc>
              <a:buNone/>
              <a:defRPr sz="1575">
                <a:solidFill>
                  <a:srgbClr val="222222"/>
                </a:solidFill>
                <a:latin typeface="Helvetica Neue"/>
                <a:ea typeface="Helvetica Neue"/>
                <a:cs typeface="Helvetica Neue"/>
              </a:defRPr>
            </a:pPr>
            <a:r>
              <a:rPr sz="1575">
                <a:solidFill>
                  <a:srgbClr val="222222"/>
                </a:solidFill>
                <a:latin typeface="Helvetica Neue"/>
                <a:ea typeface="Helvetica Neue"/>
                <a:cs typeface="Helvetica Neue"/>
              </a:rPr>
              <a:t>Slack or Teams</a:t>
            </a:r>
          </a:p>
          <a:p xmlns:a="http://schemas.openxmlformats.org/drawingml/2006/main">
            <a:pPr>
              <a:lnSpc>
                <a:spcPct val="108000"/>
              </a:lnSpc>
              <a:buNone/>
              <a:defRPr sz="1575">
                <a:solidFill>
                  <a:srgbClr val="222222"/>
                </a:solidFill>
                <a:latin typeface="Helvetica Neue"/>
                <a:ea typeface="Helvetica Neue"/>
                <a:cs typeface="Helvetica Neue"/>
              </a:defRPr>
            </a:pPr>
            <a:r>
              <a:rPr sz="1575">
                <a:solidFill>
                  <a:srgbClr val="222222"/>
                </a:solidFill>
                <a:latin typeface="Helvetica Neue"/>
                <a:ea typeface="Helvetica Neue"/>
                <a:cs typeface="Helvetica Neue"/>
              </a:rPr>
              <a:t>Jira</a:t>
            </a:r>
          </a:p>
          <a:p xmlns:a="http://schemas.openxmlformats.org/drawingml/2006/main">
            <a:pPr>
              <a:lnSpc>
                <a:spcPct val="108000"/>
              </a:lnSpc>
              <a:buNone/>
              <a:defRPr sz="1575">
                <a:solidFill>
                  <a:srgbClr val="222222"/>
                </a:solidFill>
                <a:latin typeface="Helvetica Neue"/>
                <a:ea typeface="Helvetica Neue"/>
                <a:cs typeface="Helvetica Neue"/>
              </a:defRPr>
            </a:pPr>
            <a:r>
              <a:rPr sz="1575">
                <a:solidFill>
                  <a:srgbClr val="222222"/>
                </a:solidFill>
                <a:latin typeface="Helvetica Neue"/>
                <a:ea typeface="Helvetica Neue"/>
                <a:cs typeface="Helvetica Neue"/>
              </a:rPr>
              <a:t>GitHub or GitLab</a:t>
            </a:r>
          </a:p>
          <a:p xmlns:a="http://schemas.openxmlformats.org/drawingml/2006/main">
            <a:pPr>
              <a:lnSpc>
                <a:spcPct val="108000"/>
              </a:lnSpc>
              <a:buNone/>
              <a:defRPr sz="1575">
                <a:solidFill>
                  <a:srgbClr val="222222"/>
                </a:solidFill>
                <a:latin typeface="Helvetica Neue"/>
                <a:ea typeface="Helvetica Neue"/>
                <a:cs typeface="Helvetica Neue"/>
              </a:defRPr>
            </a:pPr>
            <a:r>
              <a:rPr sz="1575">
                <a:solidFill>
                  <a:srgbClr val="222222"/>
                </a:solidFill>
                <a:latin typeface="Helvetica Neue"/>
                <a:ea typeface="Helvetica Neue"/>
                <a:cs typeface="Helvetica Neue"/>
              </a:rPr>
              <a:t>Google or Microsoft calendar</a:t>
            </a:r>
          </a:p>
        </p:txBody>
      </p:sp>
      <p:sp>
        <p:nvSpPr>
          <p:cNvPr id="8" name="mid-title">
            <a:extLst xmlns:a="http://schemas.openxmlformats.org/drawingml/2006/main">
              <a:ext uri="{FF2B5EF4-FFF2-40B4-BE49-F238E27FC236}">
                <a16:creationId xmlns:a16="http://schemas.microsoft.com/office/drawing/2014/main" id="{1FD61EFF-B1F3-4FC3-8EBF-0B9EB8E410FA}"/>
              </a:ext>
            </a:extLst>
          </p:cNvPr>
          <p:cNvSpPr>
            <a:spLocks xmlns:a="http://schemas.openxmlformats.org/drawingml/2006/main" noGrp="1"/>
          </p:cNvSpPr>
          <p:nvPr/>
        </p:nvSpPr>
        <p:spPr>
          <a:xfrm xmlns:a="http://schemas.openxmlformats.org/drawingml/2006/main">
            <a:off x="4743450" y="2990850"/>
            <a:ext cx="2705100" cy="4191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108000"/>
              </a:lnSpc>
              <a:buNone/>
              <a:defRPr sz="2175" b="1">
                <a:solidFill>
                  <a:srgbClr val="000000"/>
                </a:solidFill>
                <a:latin typeface="Helvetica Neue"/>
                <a:ea typeface="Helvetica Neue"/>
                <a:cs typeface="Helvetica Neue"/>
              </a:defRPr>
            </a:pPr>
            <a:r>
              <a:rPr sz="2175" b="1">
                <a:solidFill>
                  <a:srgbClr val="000000"/>
                </a:solidFill>
                <a:latin typeface="Helvetica Neue"/>
                <a:ea typeface="Helvetica Neue"/>
                <a:cs typeface="Helvetica Neue"/>
              </a:rPr>
              <a:t>Capability ports</a:t>
            </a:r>
          </a:p>
        </p:txBody>
      </p:sp>
      <p:sp>
        <p:nvSpPr>
          <p:cNvPr id="9" name="mid-body">
            <a:extLst xmlns:a="http://schemas.openxmlformats.org/drawingml/2006/main">
              <a:ext uri="{FF2B5EF4-FFF2-40B4-BE49-F238E27FC236}">
                <a16:creationId xmlns:a16="http://schemas.microsoft.com/office/drawing/2014/main" id="{D70C9629-7443-48B3-9318-E8479E3A7CE2}"/>
              </a:ext>
            </a:extLst>
          </p:cNvPr>
          <p:cNvSpPr>
            <a:spLocks xmlns:a="http://schemas.openxmlformats.org/drawingml/2006/main" noGrp="1"/>
          </p:cNvSpPr>
          <p:nvPr/>
        </p:nvSpPr>
        <p:spPr>
          <a:xfrm xmlns:a="http://schemas.openxmlformats.org/drawingml/2006/main">
            <a:off x="4772025" y="3581400"/>
            <a:ext cx="2619375" cy="1190625"/>
          </a:xfrm>
          <a:prstGeom xmlns:a="http://schemas.openxmlformats.org/drawingml/2006/main" prst="rect">
            <a:avLst/>
          </a:prstGeom>
        </p:spPr>
        <p:txBody>
          <a:bodyPr xmlns:a="http://schemas.openxmlformats.org/drawingml/2006/main" spcFirstLastPara="1" lIns="0" tIns="0" rIns="0" bIns="0" anchor="t">
            <a:normAutofit fontScale="91858"/>
          </a:bodyPr>
          <a:lstStyle xmlns:a="http://schemas.openxmlformats.org/drawingml/2006/main"/>
          <a:p xmlns:a="http://schemas.openxmlformats.org/drawingml/2006/main">
            <a:pPr>
              <a:lnSpc>
                <a:spcPct val="108000"/>
              </a:lnSpc>
              <a:buNone/>
              <a:defRPr sz="1575">
                <a:solidFill>
                  <a:srgbClr val="222222"/>
                </a:solidFill>
                <a:latin typeface="Helvetica Neue"/>
                <a:ea typeface="Helvetica Neue"/>
                <a:cs typeface="Helvetica Neue"/>
              </a:defRPr>
            </a:pPr>
            <a:r>
              <a:rPr sz="1575">
                <a:solidFill>
                  <a:srgbClr val="222222"/>
                </a:solidFill>
                <a:latin typeface="Helvetica Neue"/>
                <a:ea typeface="Helvetica Neue"/>
                <a:cs typeface="Helvetica Neue"/>
              </a:rPr>
              <a:t>ChatProvider</a:t>
            </a:r>
          </a:p>
          <a:p xmlns:a="http://schemas.openxmlformats.org/drawingml/2006/main">
            <a:pPr>
              <a:lnSpc>
                <a:spcPct val="108000"/>
              </a:lnSpc>
              <a:buNone/>
              <a:defRPr sz="1575">
                <a:solidFill>
                  <a:srgbClr val="222222"/>
                </a:solidFill>
                <a:latin typeface="Helvetica Neue"/>
                <a:ea typeface="Helvetica Neue"/>
                <a:cs typeface="Helvetica Neue"/>
              </a:defRPr>
            </a:pPr>
            <a:r>
              <a:rPr sz="1575">
                <a:solidFill>
                  <a:srgbClr val="222222"/>
                </a:solidFill>
                <a:latin typeface="Helvetica Neue"/>
                <a:ea typeface="Helvetica Neue"/>
                <a:cs typeface="Helvetica Neue"/>
              </a:rPr>
              <a:t>IssueTracker</a:t>
            </a:r>
          </a:p>
          <a:p xmlns:a="http://schemas.openxmlformats.org/drawingml/2006/main">
            <a:pPr>
              <a:lnSpc>
                <a:spcPct val="108000"/>
              </a:lnSpc>
              <a:buNone/>
              <a:defRPr sz="1575">
                <a:solidFill>
                  <a:srgbClr val="222222"/>
                </a:solidFill>
                <a:latin typeface="Helvetica Neue"/>
                <a:ea typeface="Helvetica Neue"/>
                <a:cs typeface="Helvetica Neue"/>
              </a:defRPr>
            </a:pPr>
            <a:r>
              <a:rPr sz="1575">
                <a:solidFill>
                  <a:srgbClr val="222222"/>
                </a:solidFill>
                <a:latin typeface="Helvetica Neue"/>
                <a:ea typeface="Helvetica Neue"/>
                <a:cs typeface="Helvetica Neue"/>
              </a:rPr>
              <a:t>VcsProvider</a:t>
            </a:r>
          </a:p>
          <a:p xmlns:a="http://schemas.openxmlformats.org/drawingml/2006/main">
            <a:pPr>
              <a:lnSpc>
                <a:spcPct val="108000"/>
              </a:lnSpc>
              <a:buNone/>
              <a:defRPr sz="1575">
                <a:solidFill>
                  <a:srgbClr val="222222"/>
                </a:solidFill>
                <a:latin typeface="Helvetica Neue"/>
                <a:ea typeface="Helvetica Neue"/>
                <a:cs typeface="Helvetica Neue"/>
              </a:defRPr>
            </a:pPr>
            <a:r>
              <a:rPr sz="1575">
                <a:solidFill>
                  <a:srgbClr val="222222"/>
                </a:solidFill>
                <a:latin typeface="Helvetica Neue"/>
                <a:ea typeface="Helvetica Neue"/>
                <a:cs typeface="Helvetica Neue"/>
              </a:rPr>
              <a:t>CalendarProvider, LlmProvider, repositories</a:t>
            </a:r>
          </a:p>
        </p:txBody>
      </p:sp>
      <p:sp>
        <p:nvSpPr>
          <p:cNvPr id="10" name="right-title">
            <a:extLst xmlns:a="http://schemas.openxmlformats.org/drawingml/2006/main">
              <a:ext uri="{FF2B5EF4-FFF2-40B4-BE49-F238E27FC236}">
                <a16:creationId xmlns:a16="http://schemas.microsoft.com/office/drawing/2014/main" id="{0127100A-1346-49D2-B51F-39BBDF7559CA}"/>
              </a:ext>
            </a:extLst>
          </p:cNvPr>
          <p:cNvSpPr>
            <a:spLocks xmlns:a="http://schemas.openxmlformats.org/drawingml/2006/main" noGrp="1"/>
          </p:cNvSpPr>
          <p:nvPr/>
        </p:nvSpPr>
        <p:spPr>
          <a:xfrm xmlns:a="http://schemas.openxmlformats.org/drawingml/2006/main">
            <a:off x="8810625" y="2990850"/>
            <a:ext cx="2705100" cy="4191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108000"/>
              </a:lnSpc>
              <a:buNone/>
              <a:defRPr sz="2175" b="1">
                <a:solidFill>
                  <a:srgbClr val="000000"/>
                </a:solidFill>
                <a:latin typeface="Helvetica Neue"/>
                <a:ea typeface="Helvetica Neue"/>
                <a:cs typeface="Helvetica Neue"/>
              </a:defRPr>
            </a:pPr>
            <a:r>
              <a:rPr sz="2175" b="1">
                <a:solidFill>
                  <a:srgbClr val="000000"/>
                </a:solidFill>
                <a:latin typeface="Helvetica Neue"/>
                <a:ea typeface="Helvetica Neue"/>
                <a:cs typeface="Helvetica Neue"/>
              </a:rPr>
              <a:t>Product surfaces</a:t>
            </a:r>
          </a:p>
        </p:txBody>
      </p:sp>
      <p:sp>
        <p:nvSpPr>
          <p:cNvPr id="11" name="right-body">
            <a:extLst xmlns:a="http://schemas.openxmlformats.org/drawingml/2006/main">
              <a:ext uri="{FF2B5EF4-FFF2-40B4-BE49-F238E27FC236}">
                <a16:creationId xmlns:a16="http://schemas.microsoft.com/office/drawing/2014/main" id="{B5185D32-D36A-4329-BF5A-537FB2AB6515}"/>
              </a:ext>
            </a:extLst>
          </p:cNvPr>
          <p:cNvSpPr>
            <a:spLocks xmlns:a="http://schemas.openxmlformats.org/drawingml/2006/main" noGrp="1"/>
          </p:cNvSpPr>
          <p:nvPr/>
        </p:nvSpPr>
        <p:spPr>
          <a:xfrm xmlns:a="http://schemas.openxmlformats.org/drawingml/2006/main">
            <a:off x="8839200" y="3581400"/>
            <a:ext cx="2619375" cy="1190625"/>
          </a:xfrm>
          <a:prstGeom xmlns:a="http://schemas.openxmlformats.org/drawingml/2006/main" prst="rect">
            <a:avLst/>
          </a:prstGeom>
        </p:spPr>
        <p:txBody>
          <a:bodyPr xmlns:a="http://schemas.openxmlformats.org/drawingml/2006/main" spcFirstLastPara="1" lIns="0" tIns="0" rIns="0" bIns="0" anchor="t">
            <a:normAutofit fontScale="91858"/>
          </a:bodyPr>
          <a:lstStyle xmlns:a="http://schemas.openxmlformats.org/drawingml/2006/main"/>
          <a:p xmlns:a="http://schemas.openxmlformats.org/drawingml/2006/main">
            <a:pPr>
              <a:lnSpc>
                <a:spcPct val="108000"/>
              </a:lnSpc>
              <a:buNone/>
              <a:defRPr sz="1575">
                <a:solidFill>
                  <a:srgbClr val="222222"/>
                </a:solidFill>
                <a:latin typeface="Helvetica Neue"/>
                <a:ea typeface="Helvetica Neue"/>
                <a:cs typeface="Helvetica Neue"/>
              </a:defRPr>
            </a:pPr>
            <a:r>
              <a:rPr sz="1575">
                <a:solidFill>
                  <a:srgbClr val="222222"/>
                </a:solidFill>
                <a:latin typeface="Helvetica Neue"/>
                <a:ea typeface="Helvetica Neue"/>
                <a:cs typeface="Helvetica Neue"/>
              </a:rPr>
              <a:t>Graph of Truth</a:t>
            </a:r>
          </a:p>
          <a:p xmlns:a="http://schemas.openxmlformats.org/drawingml/2006/main">
            <a:pPr>
              <a:lnSpc>
                <a:spcPct val="108000"/>
              </a:lnSpc>
              <a:buNone/>
              <a:defRPr sz="1575">
                <a:solidFill>
                  <a:srgbClr val="222222"/>
                </a:solidFill>
                <a:latin typeface="Helvetica Neue"/>
                <a:ea typeface="Helvetica Neue"/>
                <a:cs typeface="Helvetica Neue"/>
              </a:defRPr>
            </a:pPr>
            <a:r>
              <a:rPr sz="1575">
                <a:solidFill>
                  <a:srgbClr val="222222"/>
                </a:solidFill>
                <a:latin typeface="Helvetica Neue"/>
                <a:ea typeface="Helvetica Neue"/>
                <a:cs typeface="Helvetica Neue"/>
              </a:rPr>
              <a:t>Status Collector</a:t>
            </a:r>
          </a:p>
          <a:p xmlns:a="http://schemas.openxmlformats.org/drawingml/2006/main">
            <a:pPr>
              <a:lnSpc>
                <a:spcPct val="108000"/>
              </a:lnSpc>
              <a:buNone/>
              <a:defRPr sz="1575">
                <a:solidFill>
                  <a:srgbClr val="222222"/>
                </a:solidFill>
                <a:latin typeface="Helvetica Neue"/>
                <a:ea typeface="Helvetica Neue"/>
                <a:cs typeface="Helvetica Neue"/>
              </a:defRPr>
            </a:pPr>
            <a:r>
              <a:rPr sz="1575">
                <a:solidFill>
                  <a:srgbClr val="222222"/>
                </a:solidFill>
                <a:latin typeface="Helvetica Neue"/>
                <a:ea typeface="Helvetica Neue"/>
                <a:cs typeface="Helvetica Neue"/>
              </a:rPr>
              <a:t>Rollup engine</a:t>
            </a:r>
          </a:p>
          <a:p xmlns:a="http://schemas.openxmlformats.org/drawingml/2006/main">
            <a:pPr>
              <a:lnSpc>
                <a:spcPct val="108000"/>
              </a:lnSpc>
              <a:buNone/>
              <a:defRPr sz="1575">
                <a:solidFill>
                  <a:srgbClr val="222222"/>
                </a:solidFill>
                <a:latin typeface="Helvetica Neue"/>
                <a:ea typeface="Helvetica Neue"/>
                <a:cs typeface="Helvetica Neue"/>
              </a:defRPr>
            </a:pPr>
            <a:r>
              <a:rPr sz="1575">
                <a:solidFill>
                  <a:srgbClr val="222222"/>
                </a:solidFill>
                <a:latin typeface="Helvetica Neue"/>
                <a:ea typeface="Helvetica Neue"/>
                <a:cs typeface="Helvetica Neue"/>
              </a:rPr>
              <a:t>Persona dashboards and admin workflows</a:t>
            </a:r>
          </a:p>
        </p:txBody>
      </p:sp>
      <p:sp>
        <p:nvSpPr>
          <p:cNvPr id="12" name="footer-7">
            <a:extLst xmlns:a="http://schemas.openxmlformats.org/drawingml/2006/main">
              <a:ext uri="{FF2B5EF4-FFF2-40B4-BE49-F238E27FC236}">
                <a16:creationId xmlns:a16="http://schemas.microsoft.com/office/drawing/2014/main" id="{F1B8753E-23E7-4790-9AFA-82EAD63F6A20}"/>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spcFirstLastPara="1" lIns="0" tIns="0" rIns="0" bIns="0" anchor="b">
            <a:normAutofit fontScale="100000"/>
          </a:bodyPr>
          <a:lstStyle xmlns:a="http://schemas.openxmlformats.org/drawingml/2006/main"/>
          <a:p xmlns:a="http://schemas.openxmlformats.org/drawingml/2006/main">
            <a:pPr algn="r">
              <a:lnSpc>
                <a:spcPct val="108000"/>
              </a:lnSpc>
              <a:buNone/>
              <a:defRPr sz="1125">
                <a:solidFill>
                  <a:srgbClr val="000000"/>
                </a:solidFill>
                <a:latin typeface="Helvetica Neue"/>
                <a:ea typeface="Helvetica Neue"/>
                <a:cs typeface="Helvetica Neue"/>
              </a:defRPr>
            </a:pPr>
            <a:r>
              <a:rPr sz="1125">
                <a:solidFill>
                  <a:srgbClr val="000000"/>
                </a:solidFill>
                <a:latin typeface="Helvetica Neue"/>
                <a:ea typeface="Helvetica Neue"/>
                <a:cs typeface="Helvetica Neue"/>
              </a:rPr>
              <a:t>07</a:t>
            </a:r>
          </a:p>
        </p:txBody>
      </p:sp>
      <p:sp>
        <p:nvSpPr>
          <p:cNvPr id="13" name="">
            <a:extLst xmlns:a="http://schemas.openxmlformats.org/drawingml/2006/main">
              <a:ext uri="{FF2B5EF4-FFF2-40B4-BE49-F238E27FC236}">
                <a16:creationId xmlns:a16="http://schemas.microsoft.com/office/drawing/2014/main" id="{C23958A6-377B-4898-BEFB-1593256B5231}"/>
              </a:ext>
            </a:extLst>
          </p:cNvPr>
          <p:cNvSpPr>
            <a:spLocks xmlns:a="http://schemas.openxmlformats.org/drawingml/2006/main" noGrp="1"/>
          </p:cNvSpPr>
          <p:nvPr/>
        </p:nvSpPr>
        <p:spPr>
          <a:xfrm xmlns:a="http://schemas.openxmlformats.org/drawingml/2006/main">
            <a:off x="3676650" y="3895725"/>
            <a:ext cx="762000" cy="0"/>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14" name="">
            <a:extLst xmlns:a="http://schemas.openxmlformats.org/drawingml/2006/main">
              <a:ext uri="{FF2B5EF4-FFF2-40B4-BE49-F238E27FC236}">
                <a16:creationId xmlns:a16="http://schemas.microsoft.com/office/drawing/2014/main" id="{DA34C70F-1651-4B0A-90AC-B28087693035}"/>
              </a:ext>
            </a:extLst>
          </p:cNvPr>
          <p:cNvSpPr>
            <a:spLocks xmlns:a="http://schemas.openxmlformats.org/drawingml/2006/main" noGrp="1"/>
          </p:cNvSpPr>
          <p:nvPr/>
        </p:nvSpPr>
        <p:spPr>
          <a:xfrm xmlns:a="http://schemas.openxmlformats.org/drawingml/2006/main">
            <a:off x="7743825" y="3895725"/>
            <a:ext cx="762000" cy="0"/>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15" name="">
            <a:extLst xmlns:a="http://schemas.openxmlformats.org/drawingml/2006/main">
              <a:ext uri="{FF2B5EF4-FFF2-40B4-BE49-F238E27FC236}">
                <a16:creationId xmlns:a16="http://schemas.microsoft.com/office/drawing/2014/main" id="{AF5FA138-2EDA-459D-8F55-2B6247137901}"/>
              </a:ext>
            </a:extLst>
          </p:cNvPr>
          <p:cNvSpPr>
            <a:spLocks xmlns:a="http://schemas.openxmlformats.org/drawingml/2006/main" noGrp="1"/>
          </p:cNvSpPr>
          <p:nvPr/>
        </p:nvSpPr>
        <p:spPr>
          <a:xfrm xmlns:a="http://schemas.openxmlformats.org/drawingml/2006/main">
            <a:off x="4533900" y="5467350"/>
            <a:ext cx="3143250" cy="3810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Core stays vendor-neutral</a:t>
            </a:r>
          </a:p>
        </p:txBody>
      </p:sp>
    </p:spTree>
    <p:extLst>
      <p:ext uri="{BB962C8B-B14F-4D97-AF65-F5344CB8AC3E}">
        <p14:creationId xmlns:p14="http://schemas.microsoft.com/office/powerpoint/2010/main" val="77671008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itle">
            <a:extLst xmlns:a="http://schemas.openxmlformats.org/drawingml/2006/main">
              <a:ext uri="{FF2B5EF4-FFF2-40B4-BE49-F238E27FC236}">
                <a16:creationId xmlns:a16="http://schemas.microsoft.com/office/drawing/2014/main" id="{E44BD2BA-A39A-4FC7-903F-8113B44FD2C7}"/>
              </a:ext>
            </a:extLst>
          </p:cNvPr>
          <p:cNvSpPr>
            <a:spLocks xmlns:a="http://schemas.openxmlformats.org/drawingml/2006/main" noGrp="1"/>
          </p:cNvSpPr>
          <p:nvPr/>
        </p:nvSpPr>
        <p:spPr>
          <a:xfrm xmlns:a="http://schemas.openxmlformats.org/drawingml/2006/main">
            <a:off x="390525" y="342900"/>
            <a:ext cx="5476875" cy="1028700"/>
          </a:xfrm>
          <a:prstGeom xmlns:a="http://schemas.openxmlformats.org/drawingml/2006/main" prst="rect">
            <a:avLst/>
          </a:prstGeom>
        </p:spPr>
        <p:txBody>
          <a:bodyPr xmlns:a="http://schemas.openxmlformats.org/drawingml/2006/main" spcFirstLastPara="1" lIns="0" tIns="0" rIns="0" bIns="0" anchor="t">
            <a:normAutofit fontScale="92593"/>
          </a:bodyPr>
          <a:lstStyle xmlns:a="http://schemas.openxmlformats.org/drawingml/2006/main"/>
          <a:p xmlns:a="http://schemas.openxmlformats.org/drawingml/2006/main">
            <a:pPr>
              <a:lnSpc>
                <a:spcPct val="108000"/>
              </a:lnSpc>
              <a:buNone/>
              <a:defRPr sz="3375" b="1">
                <a:solidFill>
                  <a:srgbClr val="000000"/>
                </a:solidFill>
                <a:latin typeface="Helvetica Neue"/>
                <a:ea typeface="Helvetica Neue"/>
                <a:cs typeface="Helvetica Neue"/>
              </a:defRPr>
            </a:pPr>
            <a:r>
              <a:rPr sz="3375" b="1">
                <a:solidFill>
                  <a:srgbClr val="000000"/>
                </a:solidFill>
                <a:latin typeface="Helvetica Neue"/>
                <a:ea typeface="Helvetica Neue"/>
                <a:cs typeface="Helvetica Neue"/>
              </a:rPr>
              <a:t>Current maturity: Phase 0 plus Sense</a:t>
            </a:r>
          </a:p>
        </p:txBody>
      </p:sp>
      <p:sp>
        <p:nvSpPr>
          <p:cNvPr id="2" name="body">
            <a:extLst xmlns:a="http://schemas.openxmlformats.org/drawingml/2006/main">
              <a:ext uri="{FF2B5EF4-FFF2-40B4-BE49-F238E27FC236}">
                <a16:creationId xmlns:a16="http://schemas.microsoft.com/office/drawing/2014/main" id="{016BA6BC-7E10-490A-95AA-93F2E3B229A7}"/>
              </a:ext>
            </a:extLst>
          </p:cNvPr>
          <p:cNvSpPr>
            <a:spLocks xmlns:a="http://schemas.openxmlformats.org/drawingml/2006/main" noGrp="1"/>
          </p:cNvSpPr>
          <p:nvPr/>
        </p:nvSpPr>
        <p:spPr>
          <a:xfrm xmlns:a="http://schemas.openxmlformats.org/drawingml/2006/main">
            <a:off x="6257925" y="419100"/>
            <a:ext cx="5543550" cy="1047750"/>
          </a:xfrm>
          <a:prstGeom xmlns:a="http://schemas.openxmlformats.org/drawingml/2006/main" prst="rect">
            <a:avLst/>
          </a:prstGeom>
        </p:spPr>
        <p:txBody>
          <a:bodyPr xmlns:a="http://schemas.openxmlformats.org/drawingml/2006/main" spcFirstLastPara="1" lIns="0" tIns="0" rIns="0" bIns="0" anchor="t">
            <a:normAutofit fontScale="96451"/>
          </a:bodyPr>
          <a:lstStyle xmlns:a="http://schemas.openxmlformats.org/drawingml/2006/main"/>
          <a:p xmlns:a="http://schemas.openxmlformats.org/drawingml/2006/main">
            <a:pPr>
              <a:lnSpc>
                <a:spcPct val="108000"/>
              </a:lnSpc>
              <a:buNone/>
              <a:defRPr sz="1650">
                <a:solidFill>
                  <a:srgbClr val="222222"/>
                </a:solidFill>
                <a:latin typeface="Helvetica Neue"/>
                <a:ea typeface="Helvetica Neue"/>
                <a:cs typeface="Helvetica Neue"/>
              </a:defRPr>
            </a:pPr>
            <a:r>
              <a:rPr sz="1650">
                <a:solidFill>
                  <a:srgbClr val="222222"/>
                </a:solidFill>
                <a:latin typeface="Helvetica Neue"/>
                <a:ea typeface="Helvetica Neue"/>
                <a:cs typeface="Helvetica Neue"/>
              </a:rPr>
              <a:t>The implemented center is the Phase 0 foundation and a large portion of Phase 1 Sense: runtime app shell, read-oriented integrations, check-ins, rollups, persona APIs, and admin configuration.</a:t>
            </a:r>
          </a:p>
        </p:txBody>
      </p:sp>
      <p:sp>
        <p:nvSpPr>
          <p:cNvPr id="3" name="m1">
            <a:extLst xmlns:a="http://schemas.openxmlformats.org/drawingml/2006/main">
              <a:ext uri="{FF2B5EF4-FFF2-40B4-BE49-F238E27FC236}">
                <a16:creationId xmlns:a16="http://schemas.microsoft.com/office/drawing/2014/main" id="{28887341-2C2C-4C87-933D-68079928AB53}"/>
              </a:ext>
            </a:extLst>
          </p:cNvPr>
          <p:cNvSpPr>
            <a:spLocks xmlns:a="http://schemas.openxmlformats.org/drawingml/2006/main" noGrp="1"/>
          </p:cNvSpPr>
          <p:nvPr/>
        </p:nvSpPr>
        <p:spPr>
          <a:xfrm xmlns:a="http://schemas.openxmlformats.org/drawingml/2006/main">
            <a:off x="390525" y="2028825"/>
            <a:ext cx="2581275" cy="26574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4" name="m2">
            <a:extLst xmlns:a="http://schemas.openxmlformats.org/drawingml/2006/main">
              <a:ext uri="{FF2B5EF4-FFF2-40B4-BE49-F238E27FC236}">
                <a16:creationId xmlns:a16="http://schemas.microsoft.com/office/drawing/2014/main" id="{4747FF79-29D3-4864-BFCC-AAD5565C8B83}"/>
              </a:ext>
            </a:extLst>
          </p:cNvPr>
          <p:cNvSpPr>
            <a:spLocks xmlns:a="http://schemas.openxmlformats.org/drawingml/2006/main" noGrp="1"/>
          </p:cNvSpPr>
          <p:nvPr/>
        </p:nvSpPr>
        <p:spPr>
          <a:xfrm xmlns:a="http://schemas.openxmlformats.org/drawingml/2006/main">
            <a:off x="3343275" y="2028825"/>
            <a:ext cx="2581275" cy="26574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m3">
            <a:extLst xmlns:a="http://schemas.openxmlformats.org/drawingml/2006/main">
              <a:ext uri="{FF2B5EF4-FFF2-40B4-BE49-F238E27FC236}">
                <a16:creationId xmlns:a16="http://schemas.microsoft.com/office/drawing/2014/main" id="{E782EB12-C540-4F52-85CC-22D27DBF7155}"/>
              </a:ext>
            </a:extLst>
          </p:cNvPr>
          <p:cNvSpPr>
            <a:spLocks xmlns:a="http://schemas.openxmlformats.org/drawingml/2006/main" noGrp="1"/>
          </p:cNvSpPr>
          <p:nvPr/>
        </p:nvSpPr>
        <p:spPr>
          <a:xfrm xmlns:a="http://schemas.openxmlformats.org/drawingml/2006/main">
            <a:off x="6267450" y="2028825"/>
            <a:ext cx="2581275" cy="26574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m4">
            <a:extLst xmlns:a="http://schemas.openxmlformats.org/drawingml/2006/main">
              <a:ext uri="{FF2B5EF4-FFF2-40B4-BE49-F238E27FC236}">
                <a16:creationId xmlns:a16="http://schemas.microsoft.com/office/drawing/2014/main" id="{4A6C22B7-5EB2-44C0-B3CB-BB1166FB2108}"/>
              </a:ext>
            </a:extLst>
          </p:cNvPr>
          <p:cNvSpPr>
            <a:spLocks xmlns:a="http://schemas.openxmlformats.org/drawingml/2006/main" noGrp="1"/>
          </p:cNvSpPr>
          <p:nvPr/>
        </p:nvSpPr>
        <p:spPr>
          <a:xfrm xmlns:a="http://schemas.openxmlformats.org/drawingml/2006/main">
            <a:off x="9220200" y="2028825"/>
            <a:ext cx="2581275" cy="26574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stat1">
            <a:extLst xmlns:a="http://schemas.openxmlformats.org/drawingml/2006/main">
              <a:ext uri="{FF2B5EF4-FFF2-40B4-BE49-F238E27FC236}">
                <a16:creationId xmlns:a16="http://schemas.microsoft.com/office/drawing/2014/main" id="{F31A6349-5AFF-4215-A324-C579CB11B3FA}"/>
              </a:ext>
            </a:extLst>
          </p:cNvPr>
          <p:cNvSpPr>
            <a:spLocks xmlns:a="http://schemas.openxmlformats.org/drawingml/2006/main" noGrp="1"/>
          </p:cNvSpPr>
          <p:nvPr/>
        </p:nvSpPr>
        <p:spPr>
          <a:xfrm xmlns:a="http://schemas.openxmlformats.org/drawingml/2006/main">
            <a:off x="628650" y="2238375"/>
            <a:ext cx="2133600" cy="8572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108000"/>
              </a:lnSpc>
              <a:buNone/>
              <a:defRPr sz="4650" b="1">
                <a:solidFill>
                  <a:srgbClr val="000000"/>
                </a:solidFill>
                <a:latin typeface="Helvetica Neue"/>
                <a:ea typeface="Helvetica Neue"/>
                <a:cs typeface="Helvetica Neue"/>
              </a:defRPr>
            </a:pPr>
            <a:r>
              <a:rPr sz="4650" b="1">
                <a:solidFill>
                  <a:srgbClr val="000000"/>
                </a:solidFill>
                <a:latin typeface="Helvetica Neue"/>
                <a:ea typeface="Helvetica Neue"/>
                <a:cs typeface="Helvetica Neue"/>
              </a:rPr>
              <a:t>10</a:t>
            </a:r>
          </a:p>
        </p:txBody>
      </p:sp>
      <p:sp>
        <p:nvSpPr>
          <p:cNvPr id="8" name="stat1b">
            <a:extLst xmlns:a="http://schemas.openxmlformats.org/drawingml/2006/main">
              <a:ext uri="{FF2B5EF4-FFF2-40B4-BE49-F238E27FC236}">
                <a16:creationId xmlns:a16="http://schemas.microsoft.com/office/drawing/2014/main" id="{F92F62D0-3C2F-4E95-9549-C61485570538}"/>
              </a:ext>
            </a:extLst>
          </p:cNvPr>
          <p:cNvSpPr>
            <a:spLocks xmlns:a="http://schemas.openxmlformats.org/drawingml/2006/main" noGrp="1"/>
          </p:cNvSpPr>
          <p:nvPr/>
        </p:nvSpPr>
        <p:spPr>
          <a:xfrm xmlns:a="http://schemas.openxmlformats.org/drawingml/2006/main">
            <a:off x="695325" y="3543300"/>
            <a:ext cx="2066925" cy="914400"/>
          </a:xfrm>
          <a:prstGeom xmlns:a="http://schemas.openxmlformats.org/drawingml/2006/main" prst="rect">
            <a:avLst/>
          </a:prstGeom>
        </p:spPr>
        <p:txBody>
          <a:bodyPr xmlns:a="http://schemas.openxmlformats.org/drawingml/2006/main" spcFirstLastPara="1" lIns="0" tIns="0" rIns="0" bIns="0" anchor="t">
            <a:normAutofit fontScale="87597"/>
          </a:bodyPr>
          <a:lstStyle xmlns:a="http://schemas.openxmlformats.org/drawingml/2006/main"/>
          <a:p xmlns:a="http://schemas.openxmlformats.org/drawingml/2006/main">
            <a:pPr>
              <a:lnSpc>
                <a:spcPct val="108000"/>
              </a:lnSpc>
              <a:buNone/>
              <a:defRPr sz="1425">
                <a:solidFill>
                  <a:srgbClr val="222222"/>
                </a:solidFill>
                <a:latin typeface="Helvetica Neue"/>
                <a:ea typeface="Helvetica Neue"/>
                <a:cs typeface="Helvetica Neue"/>
              </a:defRPr>
            </a:pPr>
            <a:r>
              <a:rPr sz="1425">
                <a:solidFill>
                  <a:srgbClr val="222222"/>
                </a:solidFill>
                <a:latin typeface="Helvetica Neue"/>
                <a:ea typeface="Helvetica Neue"/>
                <a:cs typeface="Helvetica Neue"/>
              </a:rPr>
              <a:t>API router modules covering health, graph, personas, config, workflows, check-ins, ask, and webhooks.</a:t>
            </a:r>
          </a:p>
        </p:txBody>
      </p:sp>
      <p:sp>
        <p:nvSpPr>
          <p:cNvPr id="9" name="stat2">
            <a:extLst xmlns:a="http://schemas.openxmlformats.org/drawingml/2006/main">
              <a:ext uri="{FF2B5EF4-FFF2-40B4-BE49-F238E27FC236}">
                <a16:creationId xmlns:a16="http://schemas.microsoft.com/office/drawing/2014/main" id="{EB54F6C7-C634-4CC4-A322-4A82E6D0215F}"/>
              </a:ext>
            </a:extLst>
          </p:cNvPr>
          <p:cNvSpPr>
            <a:spLocks xmlns:a="http://schemas.openxmlformats.org/drawingml/2006/main" noGrp="1"/>
          </p:cNvSpPr>
          <p:nvPr/>
        </p:nvSpPr>
        <p:spPr>
          <a:xfrm xmlns:a="http://schemas.openxmlformats.org/drawingml/2006/main">
            <a:off x="3581400" y="2238375"/>
            <a:ext cx="2133600" cy="8572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108000"/>
              </a:lnSpc>
              <a:buNone/>
              <a:defRPr sz="4650" b="1">
                <a:solidFill>
                  <a:srgbClr val="000000"/>
                </a:solidFill>
                <a:latin typeface="Helvetica Neue"/>
                <a:ea typeface="Helvetica Neue"/>
                <a:cs typeface="Helvetica Neue"/>
              </a:defRPr>
            </a:pPr>
            <a:r>
              <a:rPr sz="4650" b="1">
                <a:solidFill>
                  <a:srgbClr val="000000"/>
                </a:solidFill>
                <a:latin typeface="Helvetica Neue"/>
                <a:ea typeface="Helvetica Neue"/>
                <a:cs typeface="Helvetica Neue"/>
              </a:rPr>
              <a:t>10</a:t>
            </a:r>
          </a:p>
        </p:txBody>
      </p:sp>
      <p:sp>
        <p:nvSpPr>
          <p:cNvPr id="10" name="stat2b">
            <a:extLst xmlns:a="http://schemas.openxmlformats.org/drawingml/2006/main">
              <a:ext uri="{FF2B5EF4-FFF2-40B4-BE49-F238E27FC236}">
                <a16:creationId xmlns:a16="http://schemas.microsoft.com/office/drawing/2014/main" id="{286F285A-C1C4-40BF-BF05-BBFAC17D4FE2}"/>
              </a:ext>
            </a:extLst>
          </p:cNvPr>
          <p:cNvSpPr>
            <a:spLocks xmlns:a="http://schemas.openxmlformats.org/drawingml/2006/main" noGrp="1"/>
          </p:cNvSpPr>
          <p:nvPr/>
        </p:nvSpPr>
        <p:spPr>
          <a:xfrm xmlns:a="http://schemas.openxmlformats.org/drawingml/2006/main">
            <a:off x="3648075" y="3543300"/>
            <a:ext cx="2066925" cy="914400"/>
          </a:xfrm>
          <a:prstGeom xmlns:a="http://schemas.openxmlformats.org/drawingml/2006/main" prst="rect">
            <a:avLst/>
          </a:prstGeom>
        </p:spPr>
        <p:txBody>
          <a:bodyPr xmlns:a="http://schemas.openxmlformats.org/drawingml/2006/main" spcFirstLastPara="1" lIns="0" tIns="0" rIns="0" bIns="0" anchor="t">
            <a:normAutofit fontScale="77973"/>
          </a:bodyPr>
          <a:lstStyle xmlns:a="http://schemas.openxmlformats.org/drawingml/2006/main"/>
          <a:p xmlns:a="http://schemas.openxmlformats.org/drawingml/2006/main">
            <a:pPr>
              <a:lnSpc>
                <a:spcPct val="108000"/>
              </a:lnSpc>
              <a:buNone/>
              <a:defRPr sz="1425">
                <a:solidFill>
                  <a:srgbClr val="222222"/>
                </a:solidFill>
                <a:latin typeface="Helvetica Neue"/>
                <a:ea typeface="Helvetica Neue"/>
                <a:cs typeface="Helvetica Neue"/>
              </a:defRPr>
            </a:pPr>
            <a:r>
              <a:rPr sz="1425">
                <a:solidFill>
                  <a:srgbClr val="222222"/>
                </a:solidFill>
                <a:latin typeface="Helvetica Neue"/>
                <a:ea typeface="Helvetica Neue"/>
                <a:cs typeface="Helvetica Neue"/>
              </a:rPr>
              <a:t>Frontend page modules spanning dashboards, pods, projects, workstreams, flow, portfolio, admin, and mock Slack.</a:t>
            </a:r>
          </a:p>
        </p:txBody>
      </p:sp>
      <p:sp>
        <p:nvSpPr>
          <p:cNvPr id="11" name="stat3">
            <a:extLst xmlns:a="http://schemas.openxmlformats.org/drawingml/2006/main">
              <a:ext uri="{FF2B5EF4-FFF2-40B4-BE49-F238E27FC236}">
                <a16:creationId xmlns:a16="http://schemas.microsoft.com/office/drawing/2014/main" id="{2EBB3EFA-A0CA-4140-B86B-ABD9308BA864}"/>
              </a:ext>
            </a:extLst>
          </p:cNvPr>
          <p:cNvSpPr>
            <a:spLocks xmlns:a="http://schemas.openxmlformats.org/drawingml/2006/main" noGrp="1"/>
          </p:cNvSpPr>
          <p:nvPr/>
        </p:nvSpPr>
        <p:spPr>
          <a:xfrm xmlns:a="http://schemas.openxmlformats.org/drawingml/2006/main">
            <a:off x="6505575" y="2238375"/>
            <a:ext cx="2133600" cy="8572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108000"/>
              </a:lnSpc>
              <a:buNone/>
              <a:defRPr sz="4650" b="1">
                <a:solidFill>
                  <a:srgbClr val="000000"/>
                </a:solidFill>
                <a:latin typeface="Helvetica Neue"/>
                <a:ea typeface="Helvetica Neue"/>
                <a:cs typeface="Helvetica Neue"/>
              </a:defRPr>
            </a:pPr>
            <a:r>
              <a:rPr sz="4650" b="1">
                <a:solidFill>
                  <a:srgbClr val="000000"/>
                </a:solidFill>
                <a:latin typeface="Helvetica Neue"/>
                <a:ea typeface="Helvetica Neue"/>
                <a:cs typeface="Helvetica Neue"/>
              </a:rPr>
              <a:t>11</a:t>
            </a:r>
          </a:p>
        </p:txBody>
      </p:sp>
      <p:sp>
        <p:nvSpPr>
          <p:cNvPr id="12" name="stat3b">
            <a:extLst xmlns:a="http://schemas.openxmlformats.org/drawingml/2006/main">
              <a:ext uri="{FF2B5EF4-FFF2-40B4-BE49-F238E27FC236}">
                <a16:creationId xmlns:a16="http://schemas.microsoft.com/office/drawing/2014/main" id="{DD992A99-8FD5-443D-88C2-4826B240F595}"/>
              </a:ext>
            </a:extLst>
          </p:cNvPr>
          <p:cNvSpPr>
            <a:spLocks xmlns:a="http://schemas.openxmlformats.org/drawingml/2006/main" noGrp="1"/>
          </p:cNvSpPr>
          <p:nvPr/>
        </p:nvSpPr>
        <p:spPr>
          <a:xfrm xmlns:a="http://schemas.openxmlformats.org/drawingml/2006/main">
            <a:off x="6572250" y="3543300"/>
            <a:ext cx="2066925" cy="914400"/>
          </a:xfrm>
          <a:prstGeom xmlns:a="http://schemas.openxmlformats.org/drawingml/2006/main" prst="rect">
            <a:avLst/>
          </a:prstGeom>
        </p:spPr>
        <p:txBody>
          <a:bodyPr xmlns:a="http://schemas.openxmlformats.org/drawingml/2006/main" spcFirstLastPara="1" lIns="0" tIns="0" rIns="0" bIns="0" anchor="t">
            <a:normAutofit fontScale="91639"/>
          </a:bodyPr>
          <a:lstStyle xmlns:a="http://schemas.openxmlformats.org/drawingml/2006/main"/>
          <a:p xmlns:a="http://schemas.openxmlformats.org/drawingml/2006/main">
            <a:pPr>
              <a:lnSpc>
                <a:spcPct val="108000"/>
              </a:lnSpc>
              <a:buNone/>
              <a:defRPr sz="1425">
                <a:solidFill>
                  <a:srgbClr val="222222"/>
                </a:solidFill>
                <a:latin typeface="Helvetica Neue"/>
                <a:ea typeface="Helvetica Neue"/>
                <a:cs typeface="Helvetica Neue"/>
              </a:defRPr>
            </a:pPr>
            <a:r>
              <a:rPr sz="1425">
                <a:solidFill>
                  <a:srgbClr val="222222"/>
                </a:solidFill>
                <a:latin typeface="Helvetica Neue"/>
                <a:ea typeface="Helvetica Neue"/>
                <a:cs typeface="Helvetica Neue"/>
              </a:rPr>
              <a:t>BDD feature files describing product behavior from sync and status collection to UI workflows.</a:t>
            </a:r>
          </a:p>
        </p:txBody>
      </p:sp>
      <p:sp>
        <p:nvSpPr>
          <p:cNvPr id="13" name="stat4">
            <a:extLst xmlns:a="http://schemas.openxmlformats.org/drawingml/2006/main">
              <a:ext uri="{FF2B5EF4-FFF2-40B4-BE49-F238E27FC236}">
                <a16:creationId xmlns:a16="http://schemas.microsoft.com/office/drawing/2014/main" id="{355A1E36-8888-48D7-AC4C-9E9671BDDBC8}"/>
              </a:ext>
            </a:extLst>
          </p:cNvPr>
          <p:cNvSpPr>
            <a:spLocks xmlns:a="http://schemas.openxmlformats.org/drawingml/2006/main" noGrp="1"/>
          </p:cNvSpPr>
          <p:nvPr/>
        </p:nvSpPr>
        <p:spPr>
          <a:xfrm xmlns:a="http://schemas.openxmlformats.org/drawingml/2006/main">
            <a:off x="9458325" y="2238375"/>
            <a:ext cx="2133600" cy="8572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108000"/>
              </a:lnSpc>
              <a:buNone/>
              <a:defRPr sz="4650" b="1">
                <a:solidFill>
                  <a:srgbClr val="000000"/>
                </a:solidFill>
                <a:latin typeface="Helvetica Neue"/>
                <a:ea typeface="Helvetica Neue"/>
                <a:cs typeface="Helvetica Neue"/>
              </a:defRPr>
            </a:pPr>
            <a:r>
              <a:rPr sz="4650" b="1">
                <a:solidFill>
                  <a:srgbClr val="000000"/>
                </a:solidFill>
                <a:latin typeface="Helvetica Neue"/>
                <a:ea typeface="Helvetica Neue"/>
                <a:cs typeface="Helvetica Neue"/>
              </a:rPr>
              <a:t>42</a:t>
            </a:r>
          </a:p>
        </p:txBody>
      </p:sp>
      <p:sp>
        <p:nvSpPr>
          <p:cNvPr id="14" name="stat4b">
            <a:extLst xmlns:a="http://schemas.openxmlformats.org/drawingml/2006/main">
              <a:ext uri="{FF2B5EF4-FFF2-40B4-BE49-F238E27FC236}">
                <a16:creationId xmlns:a16="http://schemas.microsoft.com/office/drawing/2014/main" id="{886D760F-F46C-483E-BD0B-CBE4DEAA1476}"/>
              </a:ext>
            </a:extLst>
          </p:cNvPr>
          <p:cNvSpPr>
            <a:spLocks xmlns:a="http://schemas.openxmlformats.org/drawingml/2006/main" noGrp="1"/>
          </p:cNvSpPr>
          <p:nvPr/>
        </p:nvSpPr>
        <p:spPr>
          <a:xfrm xmlns:a="http://schemas.openxmlformats.org/drawingml/2006/main">
            <a:off x="9525000" y="3543300"/>
            <a:ext cx="2066925" cy="914400"/>
          </a:xfrm>
          <a:prstGeom xmlns:a="http://schemas.openxmlformats.org/drawingml/2006/main" prst="rect">
            <a:avLst/>
          </a:prstGeom>
        </p:spPr>
        <p:txBody>
          <a:bodyPr xmlns:a="http://schemas.openxmlformats.org/drawingml/2006/main" spcFirstLastPara="1" lIns="0" tIns="0" rIns="0" bIns="0" anchor="t">
            <a:normAutofit fontScale="90571"/>
          </a:bodyPr>
          <a:lstStyle xmlns:a="http://schemas.openxmlformats.org/drawingml/2006/main"/>
          <a:p xmlns:a="http://schemas.openxmlformats.org/drawingml/2006/main">
            <a:pPr>
              <a:lnSpc>
                <a:spcPct val="108000"/>
              </a:lnSpc>
              <a:buNone/>
              <a:defRPr sz="1425">
                <a:solidFill>
                  <a:srgbClr val="222222"/>
                </a:solidFill>
                <a:latin typeface="Helvetica Neue"/>
                <a:ea typeface="Helvetica Neue"/>
                <a:cs typeface="Helvetica Neue"/>
              </a:defRPr>
            </a:pPr>
            <a:r>
              <a:rPr sz="1425">
                <a:solidFill>
                  <a:srgbClr val="222222"/>
                </a:solidFill>
                <a:latin typeface="Helvetica Neue"/>
                <a:ea typeface="Helvetica Neue"/>
                <a:cs typeface="Helvetica Neue"/>
              </a:rPr>
              <a:t>Backend test files, with core coverage gate configured at 85 percent for domain and application code.</a:t>
            </a:r>
          </a:p>
        </p:txBody>
      </p:sp>
      <p:sp>
        <p:nvSpPr>
          <p:cNvPr id="15" name="bottom-band">
            <a:extLst xmlns:a="http://schemas.openxmlformats.org/drawingml/2006/main">
              <a:ext uri="{FF2B5EF4-FFF2-40B4-BE49-F238E27FC236}">
                <a16:creationId xmlns:a16="http://schemas.microsoft.com/office/drawing/2014/main" id="{CF92B7E3-4F71-4959-86B4-1D4A09720142}"/>
              </a:ext>
            </a:extLst>
          </p:cNvPr>
          <p:cNvSpPr>
            <a:spLocks xmlns:a="http://schemas.openxmlformats.org/drawingml/2006/main" noGrp="1"/>
          </p:cNvSpPr>
          <p:nvPr/>
        </p:nvSpPr>
        <p:spPr>
          <a:xfrm xmlns:a="http://schemas.openxmlformats.org/drawingml/2006/main">
            <a:off x="0" y="5381625"/>
            <a:ext cx="12192000" cy="14859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6" name="boundary">
            <a:extLst xmlns:a="http://schemas.openxmlformats.org/drawingml/2006/main">
              <a:ext uri="{FF2B5EF4-FFF2-40B4-BE49-F238E27FC236}">
                <a16:creationId xmlns:a16="http://schemas.microsoft.com/office/drawing/2014/main" id="{D37CE96C-DB0C-4471-9889-B601CA5B6786}"/>
              </a:ext>
            </a:extLst>
          </p:cNvPr>
          <p:cNvSpPr>
            <a:spLocks xmlns:a="http://schemas.openxmlformats.org/drawingml/2006/main" noGrp="1"/>
          </p:cNvSpPr>
          <p:nvPr/>
        </p:nvSpPr>
        <p:spPr>
          <a:xfrm xmlns:a="http://schemas.openxmlformats.org/drawingml/2006/main">
            <a:off x="838200" y="5734050"/>
            <a:ext cx="10287000" cy="6477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Current boundary: no issue-tracker, VCS, or calendar write-back; full reconciliation, prediction, people-health, and full SSO remain roadmap items.</a:t>
            </a:r>
          </a:p>
        </p:txBody>
      </p:sp>
      <p:sp>
        <p:nvSpPr>
          <p:cNvPr id="17" name="footer-8">
            <a:extLst xmlns:a="http://schemas.openxmlformats.org/drawingml/2006/main">
              <a:ext uri="{FF2B5EF4-FFF2-40B4-BE49-F238E27FC236}">
                <a16:creationId xmlns:a16="http://schemas.microsoft.com/office/drawing/2014/main" id="{1BF29499-C0B8-430E-8D27-CF563D639E24}"/>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spcFirstLastPara="1" lIns="0" tIns="0" rIns="0" bIns="0" anchor="b">
            <a:normAutofit fontScale="100000"/>
          </a:bodyPr>
          <a:lstStyle xmlns:a="http://schemas.openxmlformats.org/drawingml/2006/main"/>
          <a:p xmlns:a="http://schemas.openxmlformats.org/drawingml/2006/main">
            <a:pPr algn="r">
              <a:lnSpc>
                <a:spcPct val="108000"/>
              </a:lnSpc>
              <a:buNone/>
              <a:defRPr sz="1125">
                <a:solidFill>
                  <a:srgbClr val="000000"/>
                </a:solidFill>
                <a:latin typeface="Helvetica Neue"/>
                <a:ea typeface="Helvetica Neue"/>
                <a:cs typeface="Helvetica Neue"/>
              </a:defRPr>
            </a:pPr>
            <a:r>
              <a:rPr sz="1125">
                <a:solidFill>
                  <a:srgbClr val="000000"/>
                </a:solidFill>
                <a:latin typeface="Helvetica Neue"/>
                <a:ea typeface="Helvetica Neue"/>
                <a:cs typeface="Helvetica Neue"/>
              </a:rPr>
              <a:t>08</a:t>
            </a:r>
          </a:p>
        </p:txBody>
      </p:sp>
    </p:spTree>
    <p:extLst>
      <p:ext uri="{BB962C8B-B14F-4D97-AF65-F5344CB8AC3E}">
        <p14:creationId xmlns:p14="http://schemas.microsoft.com/office/powerpoint/2010/main" val="28312999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itle">
            <a:extLst xmlns:a="http://schemas.openxmlformats.org/drawingml/2006/main">
              <a:ext uri="{FF2B5EF4-FFF2-40B4-BE49-F238E27FC236}">
                <a16:creationId xmlns:a16="http://schemas.microsoft.com/office/drawing/2014/main" id="{CC8EF8CA-AD09-4478-97FD-E8A6F084F6EF}"/>
              </a:ext>
            </a:extLst>
          </p:cNvPr>
          <p:cNvSpPr>
            <a:spLocks xmlns:a="http://schemas.openxmlformats.org/drawingml/2006/main" noGrp="1"/>
          </p:cNvSpPr>
          <p:nvPr/>
        </p:nvSpPr>
        <p:spPr>
          <a:xfrm xmlns:a="http://schemas.openxmlformats.org/drawingml/2006/main">
            <a:off x="390525" y="342900"/>
            <a:ext cx="5334000" cy="9144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108000"/>
              </a:lnSpc>
              <a:buNone/>
              <a:defRPr sz="3450" b="1">
                <a:solidFill>
                  <a:srgbClr val="000000"/>
                </a:solidFill>
                <a:latin typeface="Helvetica Neue"/>
                <a:ea typeface="Helvetica Neue"/>
                <a:cs typeface="Helvetica Neue"/>
              </a:defRPr>
            </a:pPr>
            <a:r>
              <a:rPr sz="3450" b="1">
                <a:solidFill>
                  <a:srgbClr val="000000"/>
                </a:solidFill>
                <a:latin typeface="Helvetica Neue"/>
                <a:ea typeface="Helvetica Neue"/>
                <a:cs typeface="Helvetica Neue"/>
              </a:rPr>
              <a:t>Roadmap: Sense to Coach</a:t>
            </a:r>
          </a:p>
        </p:txBody>
      </p:sp>
      <p:sp>
        <p:nvSpPr>
          <p:cNvPr id="2" name="intro">
            <a:extLst xmlns:a="http://schemas.openxmlformats.org/drawingml/2006/main">
              <a:ext uri="{FF2B5EF4-FFF2-40B4-BE49-F238E27FC236}">
                <a16:creationId xmlns:a16="http://schemas.microsoft.com/office/drawing/2014/main" id="{07C02FBC-5B4E-4FD9-8FB4-16288ADA9FDB}"/>
              </a:ext>
            </a:extLst>
          </p:cNvPr>
          <p:cNvSpPr>
            <a:spLocks xmlns:a="http://schemas.openxmlformats.org/drawingml/2006/main" noGrp="1"/>
          </p:cNvSpPr>
          <p:nvPr/>
        </p:nvSpPr>
        <p:spPr>
          <a:xfrm xmlns:a="http://schemas.openxmlformats.org/drawingml/2006/main">
            <a:off x="390525" y="1381125"/>
            <a:ext cx="5334000" cy="8572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108000"/>
              </a:lnSpc>
              <a:buNone/>
              <a:defRPr sz="1725">
                <a:solidFill>
                  <a:srgbClr val="222222"/>
                </a:solidFill>
                <a:latin typeface="Helvetica Neue"/>
                <a:ea typeface="Helvetica Neue"/>
                <a:cs typeface="Helvetica Neue"/>
              </a:defRPr>
            </a:pPr>
            <a:r>
              <a:rPr sz="1725">
                <a:solidFill>
                  <a:srgbClr val="222222"/>
                </a:solidFill>
                <a:latin typeface="Helvetica Neue"/>
                <a:ea typeface="Helvetica Neue"/>
                <a:cs typeface="Helvetica Neue"/>
              </a:rPr>
              <a:t>The roadmap is staged so trust builds before automation writes back or predicts risk. Current work proves the source-of-truth and check-in loop first.</a:t>
            </a:r>
          </a:p>
        </p:txBody>
      </p:sp>
      <p:sp>
        <p:nvSpPr>
          <p:cNvPr id="3" name="r1">
            <a:extLst xmlns:a="http://schemas.openxmlformats.org/drawingml/2006/main">
              <a:ext uri="{FF2B5EF4-FFF2-40B4-BE49-F238E27FC236}">
                <a16:creationId xmlns:a16="http://schemas.microsoft.com/office/drawing/2014/main" id="{9A0FFED9-1234-4E04-91F3-880C020B0DAD}"/>
              </a:ext>
            </a:extLst>
          </p:cNvPr>
          <p:cNvSpPr>
            <a:spLocks xmlns:a="http://schemas.openxmlformats.org/drawingml/2006/main" noGrp="1"/>
          </p:cNvSpPr>
          <p:nvPr/>
        </p:nvSpPr>
        <p:spPr>
          <a:xfrm xmlns:a="http://schemas.openxmlformats.org/drawingml/2006/main">
            <a:off x="6267450" y="390525"/>
            <a:ext cx="5534025" cy="1314450"/>
          </a:xfrm>
          <a:prstGeom xmlns:a="http://schemas.openxmlformats.org/drawingml/2006/main" prst="rect">
            <a:avLst/>
          </a:prstGeom>
          <a:solidFill xmlns:a="http://schemas.openxmlformats.org/drawingml/2006/main">
            <a:srgbClr val="EAF6EF"/>
          </a:solidFill>
          <a:ln xmlns:a="http://schemas.openxmlformats.org/drawingml/2006/main" w="0">
            <a:noFill/>
            <a:prstDash val="solid"/>
          </a:ln>
        </p:spPr>
      </p:sp>
      <p:sp>
        <p:nvSpPr>
          <p:cNvPr id="4" name="r2">
            <a:extLst xmlns:a="http://schemas.openxmlformats.org/drawingml/2006/main">
              <a:ext uri="{FF2B5EF4-FFF2-40B4-BE49-F238E27FC236}">
                <a16:creationId xmlns:a16="http://schemas.microsoft.com/office/drawing/2014/main" id="{EA544EC4-3BD6-4557-8691-A797DC7B231F}"/>
              </a:ext>
            </a:extLst>
          </p:cNvPr>
          <p:cNvSpPr>
            <a:spLocks xmlns:a="http://schemas.openxmlformats.org/drawingml/2006/main" noGrp="1"/>
          </p:cNvSpPr>
          <p:nvPr/>
        </p:nvSpPr>
        <p:spPr>
          <a:xfrm xmlns:a="http://schemas.openxmlformats.org/drawingml/2006/main">
            <a:off x="6267450" y="2000250"/>
            <a:ext cx="5534025" cy="13144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r3">
            <a:extLst xmlns:a="http://schemas.openxmlformats.org/drawingml/2006/main">
              <a:ext uri="{FF2B5EF4-FFF2-40B4-BE49-F238E27FC236}">
                <a16:creationId xmlns:a16="http://schemas.microsoft.com/office/drawing/2014/main" id="{7D38A249-0079-4DFE-B06F-6541C40A4CFA}"/>
              </a:ext>
            </a:extLst>
          </p:cNvPr>
          <p:cNvSpPr>
            <a:spLocks xmlns:a="http://schemas.openxmlformats.org/drawingml/2006/main" noGrp="1"/>
          </p:cNvSpPr>
          <p:nvPr/>
        </p:nvSpPr>
        <p:spPr>
          <a:xfrm xmlns:a="http://schemas.openxmlformats.org/drawingml/2006/main">
            <a:off x="6267450" y="3609975"/>
            <a:ext cx="5534025" cy="13144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r4">
            <a:extLst xmlns:a="http://schemas.openxmlformats.org/drawingml/2006/main">
              <a:ext uri="{FF2B5EF4-FFF2-40B4-BE49-F238E27FC236}">
                <a16:creationId xmlns:a16="http://schemas.microsoft.com/office/drawing/2014/main" id="{D6ADAB39-FB07-4D11-837A-D149D55924B0}"/>
              </a:ext>
            </a:extLst>
          </p:cNvPr>
          <p:cNvSpPr>
            <a:spLocks xmlns:a="http://schemas.openxmlformats.org/drawingml/2006/main" noGrp="1"/>
          </p:cNvSpPr>
          <p:nvPr/>
        </p:nvSpPr>
        <p:spPr>
          <a:xfrm xmlns:a="http://schemas.openxmlformats.org/drawingml/2006/main">
            <a:off x="6267450" y="5219700"/>
            <a:ext cx="5534025" cy="8001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r1t">
            <a:extLst xmlns:a="http://schemas.openxmlformats.org/drawingml/2006/main">
              <a:ext uri="{FF2B5EF4-FFF2-40B4-BE49-F238E27FC236}">
                <a16:creationId xmlns:a16="http://schemas.microsoft.com/office/drawing/2014/main" id="{ED84EEFA-C331-456B-BB7C-9026EE2BAC33}"/>
              </a:ext>
            </a:extLst>
          </p:cNvPr>
          <p:cNvSpPr>
            <a:spLocks xmlns:a="http://schemas.openxmlformats.org/drawingml/2006/main" noGrp="1"/>
          </p:cNvSpPr>
          <p:nvPr/>
        </p:nvSpPr>
        <p:spPr>
          <a:xfrm xmlns:a="http://schemas.openxmlformats.org/drawingml/2006/main">
            <a:off x="6562725" y="657225"/>
            <a:ext cx="4991100" cy="3619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108000"/>
              </a:lnSpc>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Sense is the current product center</a:t>
            </a:r>
          </a:p>
        </p:txBody>
      </p:sp>
      <p:sp>
        <p:nvSpPr>
          <p:cNvPr id="8" name="r1b">
            <a:extLst xmlns:a="http://schemas.openxmlformats.org/drawingml/2006/main">
              <a:ext uri="{FF2B5EF4-FFF2-40B4-BE49-F238E27FC236}">
                <a16:creationId xmlns:a16="http://schemas.microsoft.com/office/drawing/2014/main" id="{95DFF981-9CE0-418E-A4C7-8B451BEB0EB4}"/>
              </a:ext>
            </a:extLst>
          </p:cNvPr>
          <p:cNvSpPr>
            <a:spLocks xmlns:a="http://schemas.openxmlformats.org/drawingml/2006/main" noGrp="1"/>
          </p:cNvSpPr>
          <p:nvPr/>
        </p:nvSpPr>
        <p:spPr>
          <a:xfrm xmlns:a="http://schemas.openxmlformats.org/drawingml/2006/main">
            <a:off x="6562725" y="1066800"/>
            <a:ext cx="4991100" cy="438150"/>
          </a:xfrm>
          <a:prstGeom xmlns:a="http://schemas.openxmlformats.org/drawingml/2006/main" prst="rect">
            <a:avLst/>
          </a:prstGeom>
        </p:spPr>
        <p:txBody>
          <a:bodyPr xmlns:a="http://schemas.openxmlformats.org/drawingml/2006/main" spcFirstLastPara="1" lIns="0" tIns="0" rIns="0" bIns="0" anchor="t">
            <a:normAutofit fontScale="88735"/>
          </a:bodyPr>
          <a:lstStyle xmlns:a="http://schemas.openxmlformats.org/drawingml/2006/main"/>
          <a:p xmlns:a="http://schemas.openxmlformats.org/drawingml/2006/main">
            <a:pPr>
              <a:lnSpc>
                <a:spcPct val="108000"/>
              </a:lnSpc>
              <a:buNone/>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Read integrations, proactive check-ins, structured replies, RAG rollups, role-scoped views.</a:t>
            </a:r>
          </a:p>
        </p:txBody>
      </p:sp>
      <p:sp>
        <p:nvSpPr>
          <p:cNvPr id="9" name="r2t">
            <a:extLst xmlns:a="http://schemas.openxmlformats.org/drawingml/2006/main">
              <a:ext uri="{FF2B5EF4-FFF2-40B4-BE49-F238E27FC236}">
                <a16:creationId xmlns:a16="http://schemas.microsoft.com/office/drawing/2014/main" id="{1147553B-0A17-43D8-B787-118291D91B76}"/>
              </a:ext>
            </a:extLst>
          </p:cNvPr>
          <p:cNvSpPr>
            <a:spLocks xmlns:a="http://schemas.openxmlformats.org/drawingml/2006/main" noGrp="1"/>
          </p:cNvSpPr>
          <p:nvPr/>
        </p:nvSpPr>
        <p:spPr>
          <a:xfrm xmlns:a="http://schemas.openxmlformats.org/drawingml/2006/main">
            <a:off x="6562725" y="2266950"/>
            <a:ext cx="4991100" cy="3619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108000"/>
              </a:lnSpc>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Reconcile makes green trustworthy</a:t>
            </a:r>
          </a:p>
        </p:txBody>
      </p:sp>
      <p:sp>
        <p:nvSpPr>
          <p:cNvPr id="10" name="r2b">
            <a:extLst xmlns:a="http://schemas.openxmlformats.org/drawingml/2006/main">
              <a:ext uri="{FF2B5EF4-FFF2-40B4-BE49-F238E27FC236}">
                <a16:creationId xmlns:a16="http://schemas.microsoft.com/office/drawing/2014/main" id="{3F71D761-580D-454A-9EF5-AB9B038BB4ED}"/>
              </a:ext>
            </a:extLst>
          </p:cNvPr>
          <p:cNvSpPr>
            <a:spLocks xmlns:a="http://schemas.openxmlformats.org/drawingml/2006/main" noGrp="1"/>
          </p:cNvSpPr>
          <p:nvPr/>
        </p:nvSpPr>
        <p:spPr>
          <a:xfrm xmlns:a="http://schemas.openxmlformats.org/drawingml/2006/main">
            <a:off x="6562725" y="2676525"/>
            <a:ext cx="4991100" cy="438150"/>
          </a:xfrm>
          <a:prstGeom xmlns:a="http://schemas.openxmlformats.org/drawingml/2006/main" prst="rect">
            <a:avLst/>
          </a:prstGeom>
        </p:spPr>
        <p:txBody>
          <a:bodyPr xmlns:a="http://schemas.openxmlformats.org/drawingml/2006/main" spcFirstLastPara="1" lIns="0" tIns="0" rIns="0" bIns="0" anchor="t">
            <a:normAutofit fontScale="88735"/>
          </a:bodyPr>
          <a:lstStyle xmlns:a="http://schemas.openxmlformats.org/drawingml/2006/main"/>
          <a:p xmlns:a="http://schemas.openxmlformats.org/drawingml/2006/main">
            <a:pPr>
              <a:lnSpc>
                <a:spcPct val="108000"/>
              </a:lnSpc>
              <a:buNone/>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Cross-check human status with Jira, Git, PR, and CI facts; detect drift; write back with approval.</a:t>
            </a:r>
          </a:p>
        </p:txBody>
      </p:sp>
      <p:sp>
        <p:nvSpPr>
          <p:cNvPr id="11" name="r3t">
            <a:extLst xmlns:a="http://schemas.openxmlformats.org/drawingml/2006/main">
              <a:ext uri="{FF2B5EF4-FFF2-40B4-BE49-F238E27FC236}">
                <a16:creationId xmlns:a16="http://schemas.microsoft.com/office/drawing/2014/main" id="{3FD7C729-11A4-497C-BD8F-35E5E532BFB4}"/>
              </a:ext>
            </a:extLst>
          </p:cNvPr>
          <p:cNvSpPr>
            <a:spLocks xmlns:a="http://schemas.openxmlformats.org/drawingml/2006/main" noGrp="1"/>
          </p:cNvSpPr>
          <p:nvPr/>
        </p:nvSpPr>
        <p:spPr>
          <a:xfrm xmlns:a="http://schemas.openxmlformats.org/drawingml/2006/main">
            <a:off x="6562725" y="3876675"/>
            <a:ext cx="4991100" cy="3619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108000"/>
              </a:lnSpc>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Predict surfaces risk before review</a:t>
            </a:r>
          </a:p>
        </p:txBody>
      </p:sp>
      <p:sp>
        <p:nvSpPr>
          <p:cNvPr id="12" name="r3b">
            <a:extLst xmlns:a="http://schemas.openxmlformats.org/drawingml/2006/main">
              <a:ext uri="{FF2B5EF4-FFF2-40B4-BE49-F238E27FC236}">
                <a16:creationId xmlns:a16="http://schemas.microsoft.com/office/drawing/2014/main" id="{E1A08CFC-126D-48C3-A5A2-3F9C624A542C}"/>
              </a:ext>
            </a:extLst>
          </p:cNvPr>
          <p:cNvSpPr>
            <a:spLocks xmlns:a="http://schemas.openxmlformats.org/drawingml/2006/main" noGrp="1"/>
          </p:cNvSpPr>
          <p:nvPr/>
        </p:nvSpPr>
        <p:spPr>
          <a:xfrm xmlns:a="http://schemas.openxmlformats.org/drawingml/2006/main">
            <a:off x="6562725" y="4286250"/>
            <a:ext cx="4991100" cy="438150"/>
          </a:xfrm>
          <a:prstGeom xmlns:a="http://schemas.openxmlformats.org/drawingml/2006/main" prst="rect">
            <a:avLst/>
          </a:prstGeom>
        </p:spPr>
        <p:txBody>
          <a:bodyPr xmlns:a="http://schemas.openxmlformats.org/drawingml/2006/main" spcFirstLastPara="1" lIns="0" tIns="0" rIns="0" bIns="0" anchor="t">
            <a:normAutofit fontScale="88735"/>
          </a:bodyPr>
          <a:lstStyle xmlns:a="http://schemas.openxmlformats.org/drawingml/2006/main"/>
          <a:p xmlns:a="http://schemas.openxmlformats.org/drawingml/2006/main">
            <a:pPr>
              <a:lnSpc>
                <a:spcPct val="108000"/>
              </a:lnSpc>
              <a:buNone/>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Forecast milestone slip, detect dependency stalls, identify repeated blockers, and escalate by policy.</a:t>
            </a:r>
          </a:p>
        </p:txBody>
      </p:sp>
      <p:sp>
        <p:nvSpPr>
          <p:cNvPr id="13" name="r4t">
            <a:extLst xmlns:a="http://schemas.openxmlformats.org/drawingml/2006/main">
              <a:ext uri="{FF2B5EF4-FFF2-40B4-BE49-F238E27FC236}">
                <a16:creationId xmlns:a16="http://schemas.microsoft.com/office/drawing/2014/main" id="{1168B8B9-4AF3-458B-A511-438D785D6D18}"/>
              </a:ext>
            </a:extLst>
          </p:cNvPr>
          <p:cNvSpPr>
            <a:spLocks xmlns:a="http://schemas.openxmlformats.org/drawingml/2006/main" noGrp="1"/>
          </p:cNvSpPr>
          <p:nvPr/>
        </p:nvSpPr>
        <p:spPr>
          <a:xfrm xmlns:a="http://schemas.openxmlformats.org/drawingml/2006/main">
            <a:off x="6562725" y="5410200"/>
            <a:ext cx="4991100" cy="3238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nSpc>
                <a:spcPct val="108000"/>
              </a:lnSpc>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Coach turns insight into team support</a:t>
            </a:r>
          </a:p>
        </p:txBody>
      </p:sp>
      <p:sp>
        <p:nvSpPr>
          <p:cNvPr id="14" name="r4b">
            <a:extLst xmlns:a="http://schemas.openxmlformats.org/drawingml/2006/main">
              <a:ext uri="{FF2B5EF4-FFF2-40B4-BE49-F238E27FC236}">
                <a16:creationId xmlns:a16="http://schemas.microsoft.com/office/drawing/2014/main" id="{0ED88BFB-3F9E-4369-98C3-938526B52EBE}"/>
              </a:ext>
            </a:extLst>
          </p:cNvPr>
          <p:cNvSpPr>
            <a:spLocks xmlns:a="http://schemas.openxmlformats.org/drawingml/2006/main" noGrp="1"/>
          </p:cNvSpPr>
          <p:nvPr/>
        </p:nvSpPr>
        <p:spPr>
          <a:xfrm xmlns:a="http://schemas.openxmlformats.org/drawingml/2006/main">
            <a:off x="6562725" y="5753100"/>
            <a:ext cx="4991100" cy="342900"/>
          </a:xfrm>
          <a:prstGeom xmlns:a="http://schemas.openxmlformats.org/drawingml/2006/main" prst="rect">
            <a:avLst/>
          </a:prstGeom>
        </p:spPr>
        <p:txBody>
          <a:bodyPr xmlns:a="http://schemas.openxmlformats.org/drawingml/2006/main" spcFirstLastPara="1" lIns="0" tIns="0" rIns="0" bIns="0" anchor="t">
            <a:normAutofit fontScale="73099"/>
          </a:bodyPr>
          <a:lstStyle xmlns:a="http://schemas.openxmlformats.org/drawingml/2006/main"/>
          <a:p xmlns:a="http://schemas.openxmlformats.org/drawingml/2006/main">
            <a:pPr>
              <a:lnSpc>
                <a:spcPct val="108000"/>
              </a:lnSpc>
              <a:buNone/>
              <a:defRPr sz="1425">
                <a:solidFill>
                  <a:srgbClr val="222222"/>
                </a:solidFill>
                <a:latin typeface="Helvetica Neue"/>
                <a:ea typeface="Helvetica Neue"/>
                <a:cs typeface="Helvetica Neue"/>
              </a:defRPr>
            </a:pPr>
            <a:r>
              <a:rPr sz="1425">
                <a:solidFill>
                  <a:srgbClr val="222222"/>
                </a:solidFill>
                <a:latin typeface="Helvetica Neue"/>
                <a:ea typeface="Helvetica Neue"/>
                <a:cs typeface="Helvetica Neue"/>
              </a:rPr>
              <a:t>Standup/retro generation, load balancing, people-health signals, and natural-language portfolio queries.</a:t>
            </a:r>
          </a:p>
        </p:txBody>
      </p:sp>
      <p:sp>
        <p:nvSpPr>
          <p:cNvPr id="15" name="footer-9">
            <a:extLst xmlns:a="http://schemas.openxmlformats.org/drawingml/2006/main">
              <a:ext uri="{FF2B5EF4-FFF2-40B4-BE49-F238E27FC236}">
                <a16:creationId xmlns:a16="http://schemas.microsoft.com/office/drawing/2014/main" id="{46BD63D2-D74A-4009-A273-653047661EB8}"/>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spcFirstLastPara="1" lIns="0" tIns="0" rIns="0" bIns="0" anchor="b">
            <a:normAutofit fontScale="100000"/>
          </a:bodyPr>
          <a:lstStyle xmlns:a="http://schemas.openxmlformats.org/drawingml/2006/main"/>
          <a:p xmlns:a="http://schemas.openxmlformats.org/drawingml/2006/main">
            <a:pPr algn="r">
              <a:lnSpc>
                <a:spcPct val="108000"/>
              </a:lnSpc>
              <a:buNone/>
              <a:defRPr sz="1125">
                <a:solidFill>
                  <a:srgbClr val="000000"/>
                </a:solidFill>
                <a:latin typeface="Helvetica Neue"/>
                <a:ea typeface="Helvetica Neue"/>
                <a:cs typeface="Helvetica Neue"/>
              </a:defRPr>
            </a:pPr>
            <a:r>
              <a:rPr sz="1125">
                <a:solidFill>
                  <a:srgbClr val="000000"/>
                </a:solidFill>
                <a:latin typeface="Helvetica Neue"/>
                <a:ea typeface="Helvetica Neue"/>
                <a:cs typeface="Helvetica Neue"/>
              </a:rPr>
              <a:t>09</a:t>
            </a:r>
          </a:p>
        </p:txBody>
      </p:sp>
      <p:sp>
        <p:nvSpPr>
          <p:cNvPr id="16" name="">
            <a:extLst xmlns:a="http://schemas.openxmlformats.org/drawingml/2006/main">
              <a:ext uri="{FF2B5EF4-FFF2-40B4-BE49-F238E27FC236}">
                <a16:creationId xmlns:a16="http://schemas.microsoft.com/office/drawing/2014/main" id="{5281B297-E088-4417-B994-4810EEC9D367}"/>
              </a:ext>
            </a:extLst>
          </p:cNvPr>
          <p:cNvSpPr>
            <a:spLocks xmlns:a="http://schemas.openxmlformats.org/drawingml/2006/main" noGrp="1"/>
          </p:cNvSpPr>
          <p:nvPr/>
        </p:nvSpPr>
        <p:spPr>
          <a:xfrm xmlns:a="http://schemas.openxmlformats.org/drawingml/2006/main">
            <a:off x="666750" y="3429000"/>
            <a:ext cx="1066800" cy="1066800"/>
          </a:xfrm>
          <a:prstGeom xmlns:a="http://schemas.openxmlformats.org/drawingml/2006/main" prst="ellipse">
            <a:avLst/>
          </a:prstGeom>
          <a:solidFill xmlns:a="http://schemas.openxmlformats.org/drawingml/2006/main">
            <a:srgbClr val="2F9B68"/>
          </a:solidFill>
          <a:ln xmlns:a="http://schemas.openxmlformats.org/drawingml/2006/main" w="0">
            <a:solidFill>
              <a:srgbClr val="2F9B68"/>
            </a:solidFill>
            <a:prstDash val="solid"/>
          </a:ln>
        </p:spPr>
      </p:sp>
      <p:sp>
        <p:nvSpPr>
          <p:cNvPr id="17" name="">
            <a:extLst xmlns:a="http://schemas.openxmlformats.org/drawingml/2006/main">
              <a:ext uri="{FF2B5EF4-FFF2-40B4-BE49-F238E27FC236}">
                <a16:creationId xmlns:a16="http://schemas.microsoft.com/office/drawing/2014/main" id="{CC97AB7E-94D9-42D1-A632-D7BEBB4539DB}"/>
              </a:ext>
            </a:extLst>
          </p:cNvPr>
          <p:cNvSpPr>
            <a:spLocks xmlns:a="http://schemas.openxmlformats.org/drawingml/2006/main" noGrp="1"/>
          </p:cNvSpPr>
          <p:nvPr/>
        </p:nvSpPr>
        <p:spPr>
          <a:xfrm xmlns:a="http://schemas.openxmlformats.org/drawingml/2006/main">
            <a:off x="781050" y="3638550"/>
            <a:ext cx="838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Phase 0</a:t>
            </a:r>
          </a:p>
        </p:txBody>
      </p:sp>
      <p:sp>
        <p:nvSpPr>
          <p:cNvPr id="18" name="">
            <a:extLst xmlns:a="http://schemas.openxmlformats.org/drawingml/2006/main">
              <a:ext uri="{FF2B5EF4-FFF2-40B4-BE49-F238E27FC236}">
                <a16:creationId xmlns:a16="http://schemas.microsoft.com/office/drawing/2014/main" id="{963B9FD5-A93E-4606-B49B-66F531945A33}"/>
              </a:ext>
            </a:extLst>
          </p:cNvPr>
          <p:cNvSpPr>
            <a:spLocks xmlns:a="http://schemas.openxmlformats.org/drawingml/2006/main" noGrp="1"/>
          </p:cNvSpPr>
          <p:nvPr/>
        </p:nvSpPr>
        <p:spPr>
          <a:xfrm xmlns:a="http://schemas.openxmlformats.org/drawingml/2006/main">
            <a:off x="742950" y="3962400"/>
            <a:ext cx="914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Foundation</a:t>
            </a:r>
          </a:p>
        </p:txBody>
      </p:sp>
      <p:sp>
        <p:nvSpPr>
          <p:cNvPr id="19" name="">
            <a:extLst xmlns:a="http://schemas.openxmlformats.org/drawingml/2006/main">
              <a:ext uri="{FF2B5EF4-FFF2-40B4-BE49-F238E27FC236}">
                <a16:creationId xmlns:a16="http://schemas.microsoft.com/office/drawing/2014/main" id="{14C5D8A9-6187-40D8-A8F5-873AA355046A}"/>
              </a:ext>
            </a:extLst>
          </p:cNvPr>
          <p:cNvSpPr>
            <a:spLocks xmlns:a="http://schemas.openxmlformats.org/drawingml/2006/main" noGrp="1"/>
          </p:cNvSpPr>
          <p:nvPr/>
        </p:nvSpPr>
        <p:spPr>
          <a:xfrm xmlns:a="http://schemas.openxmlformats.org/drawingml/2006/main">
            <a:off x="2381250" y="3429000"/>
            <a:ext cx="1066800" cy="1066800"/>
          </a:xfrm>
          <a:prstGeom xmlns:a="http://schemas.openxmlformats.org/drawingml/2006/main" prst="ellipse">
            <a:avLst/>
          </a:prstGeom>
          <a:solidFill xmlns:a="http://schemas.openxmlformats.org/drawingml/2006/main">
            <a:srgbClr val="2F9B68"/>
          </a:solidFill>
          <a:ln xmlns:a="http://schemas.openxmlformats.org/drawingml/2006/main" w="0">
            <a:solidFill>
              <a:srgbClr val="2F9B68"/>
            </a:solidFill>
            <a:prstDash val="solid"/>
          </a:ln>
        </p:spPr>
      </p:sp>
      <p:sp>
        <p:nvSpPr>
          <p:cNvPr id="20" name="">
            <a:extLst xmlns:a="http://schemas.openxmlformats.org/drawingml/2006/main">
              <a:ext uri="{FF2B5EF4-FFF2-40B4-BE49-F238E27FC236}">
                <a16:creationId xmlns:a16="http://schemas.microsoft.com/office/drawing/2014/main" id="{4B59F113-3DE0-412D-AFE7-8781B0D8A01F}"/>
              </a:ext>
            </a:extLst>
          </p:cNvPr>
          <p:cNvSpPr>
            <a:spLocks xmlns:a="http://schemas.openxmlformats.org/drawingml/2006/main" noGrp="1"/>
          </p:cNvSpPr>
          <p:nvPr/>
        </p:nvSpPr>
        <p:spPr>
          <a:xfrm xmlns:a="http://schemas.openxmlformats.org/drawingml/2006/main">
            <a:off x="2495550" y="3638550"/>
            <a:ext cx="838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Phase 1</a:t>
            </a:r>
          </a:p>
        </p:txBody>
      </p:sp>
      <p:sp>
        <p:nvSpPr>
          <p:cNvPr id="21" name="">
            <a:extLst xmlns:a="http://schemas.openxmlformats.org/drawingml/2006/main">
              <a:ext uri="{FF2B5EF4-FFF2-40B4-BE49-F238E27FC236}">
                <a16:creationId xmlns:a16="http://schemas.microsoft.com/office/drawing/2014/main" id="{C0ED8EEE-E2BC-4FC9-BEA4-D672B45AF162}"/>
              </a:ext>
            </a:extLst>
          </p:cNvPr>
          <p:cNvSpPr>
            <a:spLocks xmlns:a="http://schemas.openxmlformats.org/drawingml/2006/main" noGrp="1"/>
          </p:cNvSpPr>
          <p:nvPr/>
        </p:nvSpPr>
        <p:spPr>
          <a:xfrm xmlns:a="http://schemas.openxmlformats.org/drawingml/2006/main">
            <a:off x="2457450" y="3962400"/>
            <a:ext cx="914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Sense</a:t>
            </a:r>
          </a:p>
        </p:txBody>
      </p:sp>
      <p:sp>
        <p:nvSpPr>
          <p:cNvPr id="22" name="">
            <a:extLst xmlns:a="http://schemas.openxmlformats.org/drawingml/2006/main">
              <a:ext uri="{FF2B5EF4-FFF2-40B4-BE49-F238E27FC236}">
                <a16:creationId xmlns:a16="http://schemas.microsoft.com/office/drawing/2014/main" id="{1B7473D9-ED33-48CB-884C-554C3E997F2D}"/>
              </a:ext>
            </a:extLst>
          </p:cNvPr>
          <p:cNvSpPr>
            <a:spLocks xmlns:a="http://schemas.openxmlformats.org/drawingml/2006/main" noGrp="1"/>
          </p:cNvSpPr>
          <p:nvPr/>
        </p:nvSpPr>
        <p:spPr>
          <a:xfrm xmlns:a="http://schemas.openxmlformats.org/drawingml/2006/main">
            <a:off x="4095750" y="3429000"/>
            <a:ext cx="1066800" cy="1066800"/>
          </a:xfrm>
          <a:prstGeom xmlns:a="http://schemas.openxmlformats.org/drawingml/2006/main" prst="ellipse">
            <a:avLst/>
          </a:prstGeom>
          <a:solidFill xmlns:a="http://schemas.openxmlformats.org/drawingml/2006/main">
            <a:srgbClr val="D88A16"/>
          </a:solidFill>
          <a:ln xmlns:a="http://schemas.openxmlformats.org/drawingml/2006/main" w="0">
            <a:solidFill>
              <a:srgbClr val="D88A16"/>
            </a:solidFill>
            <a:prstDash val="solid"/>
          </a:ln>
        </p:spPr>
      </p:sp>
      <p:sp>
        <p:nvSpPr>
          <p:cNvPr id="23" name="">
            <a:extLst xmlns:a="http://schemas.openxmlformats.org/drawingml/2006/main">
              <a:ext uri="{FF2B5EF4-FFF2-40B4-BE49-F238E27FC236}">
                <a16:creationId xmlns:a16="http://schemas.microsoft.com/office/drawing/2014/main" id="{D5827C13-D624-496F-8A1E-852B37603043}"/>
              </a:ext>
            </a:extLst>
          </p:cNvPr>
          <p:cNvSpPr>
            <a:spLocks xmlns:a="http://schemas.openxmlformats.org/drawingml/2006/main" noGrp="1"/>
          </p:cNvSpPr>
          <p:nvPr/>
        </p:nvSpPr>
        <p:spPr>
          <a:xfrm xmlns:a="http://schemas.openxmlformats.org/drawingml/2006/main">
            <a:off x="4210050" y="3638550"/>
            <a:ext cx="838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Phase 2</a:t>
            </a:r>
          </a:p>
        </p:txBody>
      </p:sp>
      <p:sp>
        <p:nvSpPr>
          <p:cNvPr id="24" name="">
            <a:extLst xmlns:a="http://schemas.openxmlformats.org/drawingml/2006/main">
              <a:ext uri="{FF2B5EF4-FFF2-40B4-BE49-F238E27FC236}">
                <a16:creationId xmlns:a16="http://schemas.microsoft.com/office/drawing/2014/main" id="{F6F02519-A942-4DE0-A2CE-72556F8180EB}"/>
              </a:ext>
            </a:extLst>
          </p:cNvPr>
          <p:cNvSpPr>
            <a:spLocks xmlns:a="http://schemas.openxmlformats.org/drawingml/2006/main" noGrp="1"/>
          </p:cNvSpPr>
          <p:nvPr/>
        </p:nvSpPr>
        <p:spPr>
          <a:xfrm xmlns:a="http://schemas.openxmlformats.org/drawingml/2006/main">
            <a:off x="4171950" y="3962400"/>
            <a:ext cx="914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Reconcile</a:t>
            </a:r>
          </a:p>
        </p:txBody>
      </p:sp>
      <p:sp>
        <p:nvSpPr>
          <p:cNvPr id="25" name="">
            <a:extLst xmlns:a="http://schemas.openxmlformats.org/drawingml/2006/main">
              <a:ext uri="{FF2B5EF4-FFF2-40B4-BE49-F238E27FC236}">
                <a16:creationId xmlns:a16="http://schemas.microsoft.com/office/drawing/2014/main" id="{F60BF671-FBBD-4A0C-85E4-4C76B1489718}"/>
              </a:ext>
            </a:extLst>
          </p:cNvPr>
          <p:cNvSpPr>
            <a:spLocks xmlns:a="http://schemas.openxmlformats.org/drawingml/2006/main" noGrp="1"/>
          </p:cNvSpPr>
          <p:nvPr/>
        </p:nvSpPr>
        <p:spPr>
          <a:xfrm xmlns:a="http://schemas.openxmlformats.org/drawingml/2006/main">
            <a:off x="2381250" y="4762500"/>
            <a:ext cx="1066800" cy="1066800"/>
          </a:xfrm>
          <a:prstGeom xmlns:a="http://schemas.openxmlformats.org/drawingml/2006/main" prst="ellipse">
            <a:avLst/>
          </a:prstGeom>
          <a:solidFill xmlns:a="http://schemas.openxmlformats.org/drawingml/2006/main">
            <a:srgbClr val="B8BCC4"/>
          </a:solidFill>
          <a:ln xmlns:a="http://schemas.openxmlformats.org/drawingml/2006/main" w="0">
            <a:solidFill>
              <a:srgbClr val="B8BCC4"/>
            </a:solidFill>
            <a:prstDash val="solid"/>
          </a:ln>
        </p:spPr>
      </p:sp>
      <p:sp>
        <p:nvSpPr>
          <p:cNvPr id="26" name="">
            <a:extLst xmlns:a="http://schemas.openxmlformats.org/drawingml/2006/main">
              <a:ext uri="{FF2B5EF4-FFF2-40B4-BE49-F238E27FC236}">
                <a16:creationId xmlns:a16="http://schemas.microsoft.com/office/drawing/2014/main" id="{61B3BE82-14BD-4A81-92AC-59EB5A79434D}"/>
              </a:ext>
            </a:extLst>
          </p:cNvPr>
          <p:cNvSpPr>
            <a:spLocks xmlns:a="http://schemas.openxmlformats.org/drawingml/2006/main" noGrp="1"/>
          </p:cNvSpPr>
          <p:nvPr/>
        </p:nvSpPr>
        <p:spPr>
          <a:xfrm xmlns:a="http://schemas.openxmlformats.org/drawingml/2006/main">
            <a:off x="2495550" y="4972050"/>
            <a:ext cx="838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Phase 3</a:t>
            </a:r>
          </a:p>
        </p:txBody>
      </p:sp>
      <p:sp>
        <p:nvSpPr>
          <p:cNvPr id="27" name="">
            <a:extLst xmlns:a="http://schemas.openxmlformats.org/drawingml/2006/main">
              <a:ext uri="{FF2B5EF4-FFF2-40B4-BE49-F238E27FC236}">
                <a16:creationId xmlns:a16="http://schemas.microsoft.com/office/drawing/2014/main" id="{4B1CBBF2-2BA4-4347-8CA2-87A1F24C6EE3}"/>
              </a:ext>
            </a:extLst>
          </p:cNvPr>
          <p:cNvSpPr>
            <a:spLocks xmlns:a="http://schemas.openxmlformats.org/drawingml/2006/main" noGrp="1"/>
          </p:cNvSpPr>
          <p:nvPr/>
        </p:nvSpPr>
        <p:spPr>
          <a:xfrm xmlns:a="http://schemas.openxmlformats.org/drawingml/2006/main">
            <a:off x="2457450" y="5295900"/>
            <a:ext cx="914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Predict</a:t>
            </a:r>
          </a:p>
        </p:txBody>
      </p:sp>
      <p:sp>
        <p:nvSpPr>
          <p:cNvPr id="28" name="">
            <a:extLst xmlns:a="http://schemas.openxmlformats.org/drawingml/2006/main">
              <a:ext uri="{FF2B5EF4-FFF2-40B4-BE49-F238E27FC236}">
                <a16:creationId xmlns:a16="http://schemas.microsoft.com/office/drawing/2014/main" id="{430406BA-A0E1-430A-9E01-39A12F60CD1B}"/>
              </a:ext>
            </a:extLst>
          </p:cNvPr>
          <p:cNvSpPr>
            <a:spLocks xmlns:a="http://schemas.openxmlformats.org/drawingml/2006/main" noGrp="1"/>
          </p:cNvSpPr>
          <p:nvPr/>
        </p:nvSpPr>
        <p:spPr>
          <a:xfrm xmlns:a="http://schemas.openxmlformats.org/drawingml/2006/main">
            <a:off x="4095750" y="4762500"/>
            <a:ext cx="1066800" cy="1066800"/>
          </a:xfrm>
          <a:prstGeom xmlns:a="http://schemas.openxmlformats.org/drawingml/2006/main" prst="ellipse">
            <a:avLst/>
          </a:prstGeom>
          <a:solidFill xmlns:a="http://schemas.openxmlformats.org/drawingml/2006/main">
            <a:srgbClr val="B8BCC4"/>
          </a:solidFill>
          <a:ln xmlns:a="http://schemas.openxmlformats.org/drawingml/2006/main" w="0">
            <a:solidFill>
              <a:srgbClr val="B8BCC4"/>
            </a:solidFill>
            <a:prstDash val="solid"/>
          </a:ln>
        </p:spPr>
      </p:sp>
      <p:sp>
        <p:nvSpPr>
          <p:cNvPr id="29" name="">
            <a:extLst xmlns:a="http://schemas.openxmlformats.org/drawingml/2006/main">
              <a:ext uri="{FF2B5EF4-FFF2-40B4-BE49-F238E27FC236}">
                <a16:creationId xmlns:a16="http://schemas.microsoft.com/office/drawing/2014/main" id="{CB11F535-A868-481F-AC22-9EA07FBC6B47}"/>
              </a:ext>
            </a:extLst>
          </p:cNvPr>
          <p:cNvSpPr>
            <a:spLocks xmlns:a="http://schemas.openxmlformats.org/drawingml/2006/main" noGrp="1"/>
          </p:cNvSpPr>
          <p:nvPr/>
        </p:nvSpPr>
        <p:spPr>
          <a:xfrm xmlns:a="http://schemas.openxmlformats.org/drawingml/2006/main">
            <a:off x="4210050" y="4972050"/>
            <a:ext cx="838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Phase 4</a:t>
            </a:r>
          </a:p>
        </p:txBody>
      </p:sp>
      <p:sp>
        <p:nvSpPr>
          <p:cNvPr id="30" name="">
            <a:extLst xmlns:a="http://schemas.openxmlformats.org/drawingml/2006/main">
              <a:ext uri="{FF2B5EF4-FFF2-40B4-BE49-F238E27FC236}">
                <a16:creationId xmlns:a16="http://schemas.microsoft.com/office/drawing/2014/main" id="{E2F5F078-CBA5-4CBF-AFE9-6376A035F583}"/>
              </a:ext>
            </a:extLst>
          </p:cNvPr>
          <p:cNvSpPr>
            <a:spLocks xmlns:a="http://schemas.openxmlformats.org/drawingml/2006/main" noGrp="1"/>
          </p:cNvSpPr>
          <p:nvPr/>
        </p:nvSpPr>
        <p:spPr>
          <a:xfrm xmlns:a="http://schemas.openxmlformats.org/drawingml/2006/main">
            <a:off x="4171950" y="5295900"/>
            <a:ext cx="914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Coach</a:t>
            </a:r>
          </a:p>
        </p:txBody>
      </p:sp>
      <p:sp>
        <p:nvSpPr>
          <p:cNvPr id="31" name="">
            <a:extLst xmlns:a="http://schemas.openxmlformats.org/drawingml/2006/main">
              <a:ext uri="{FF2B5EF4-FFF2-40B4-BE49-F238E27FC236}">
                <a16:creationId xmlns:a16="http://schemas.microsoft.com/office/drawing/2014/main" id="{75B8E645-A607-4CA3-AA5A-E3A5B34EA831}"/>
              </a:ext>
            </a:extLst>
          </p:cNvPr>
          <p:cNvSpPr>
            <a:spLocks xmlns:a="http://schemas.openxmlformats.org/drawingml/2006/main" noGrp="1"/>
          </p:cNvSpPr>
          <p:nvPr/>
        </p:nvSpPr>
        <p:spPr>
          <a:xfrm xmlns:a="http://schemas.openxmlformats.org/drawingml/2006/main">
            <a:off x="1733550" y="3962400"/>
            <a:ext cx="628650" cy="0"/>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32" name="">
            <a:extLst xmlns:a="http://schemas.openxmlformats.org/drawingml/2006/main">
              <a:ext uri="{FF2B5EF4-FFF2-40B4-BE49-F238E27FC236}">
                <a16:creationId xmlns:a16="http://schemas.microsoft.com/office/drawing/2014/main" id="{7C3BFC79-2670-47E6-B22B-D7FC7724762D}"/>
              </a:ext>
            </a:extLst>
          </p:cNvPr>
          <p:cNvSpPr>
            <a:spLocks xmlns:a="http://schemas.openxmlformats.org/drawingml/2006/main" noGrp="1"/>
          </p:cNvSpPr>
          <p:nvPr/>
        </p:nvSpPr>
        <p:spPr>
          <a:xfrm xmlns:a="http://schemas.openxmlformats.org/drawingml/2006/main">
            <a:off x="3448050" y="3962400"/>
            <a:ext cx="628650" cy="0"/>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33" name="">
            <a:extLst xmlns:a="http://schemas.openxmlformats.org/drawingml/2006/main">
              <a:ext uri="{FF2B5EF4-FFF2-40B4-BE49-F238E27FC236}">
                <a16:creationId xmlns:a16="http://schemas.microsoft.com/office/drawing/2014/main" id="{4D44775E-965B-4DAD-ACF9-5CC625918335}"/>
              </a:ext>
            </a:extLst>
          </p:cNvPr>
          <p:cNvSpPr>
            <a:spLocks xmlns:a="http://schemas.openxmlformats.org/drawingml/2006/main" noGrp="1"/>
          </p:cNvSpPr>
          <p:nvPr/>
        </p:nvSpPr>
        <p:spPr>
          <a:xfrm xmlns:a="http://schemas.openxmlformats.org/drawingml/2006/main">
            <a:off x="4629150" y="4514850"/>
            <a:ext cx="-1543050" cy="266700"/>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34" name="">
            <a:extLst xmlns:a="http://schemas.openxmlformats.org/drawingml/2006/main">
              <a:ext uri="{FF2B5EF4-FFF2-40B4-BE49-F238E27FC236}">
                <a16:creationId xmlns:a16="http://schemas.microsoft.com/office/drawing/2014/main" id="{D83E8C8D-2D38-4334-81EA-8D0195DFA48E}"/>
              </a:ext>
            </a:extLst>
          </p:cNvPr>
          <p:cNvSpPr>
            <a:spLocks xmlns:a="http://schemas.openxmlformats.org/drawingml/2006/main" noGrp="1"/>
          </p:cNvSpPr>
          <p:nvPr/>
        </p:nvSpPr>
        <p:spPr>
          <a:xfrm xmlns:a="http://schemas.openxmlformats.org/drawingml/2006/main">
            <a:off x="3448050" y="5295900"/>
            <a:ext cx="628650" cy="0"/>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Tree>
    <p:extLst>
      <p:ext uri="{BB962C8B-B14F-4D97-AF65-F5344CB8AC3E}">
        <p14:creationId xmlns:p14="http://schemas.microsoft.com/office/powerpoint/2010/main" val="84093903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itle">
            <a:extLst xmlns:a="http://schemas.openxmlformats.org/drawingml/2006/main">
              <a:ext uri="{FF2B5EF4-FFF2-40B4-BE49-F238E27FC236}">
                <a16:creationId xmlns:a16="http://schemas.microsoft.com/office/drawing/2014/main" id="{9CA0E1C6-8B68-4F51-800F-CEBCCACF7BBA}"/>
              </a:ext>
            </a:extLst>
          </p:cNvPr>
          <p:cNvSpPr>
            <a:spLocks xmlns:a="http://schemas.openxmlformats.org/drawingml/2006/main" noGrp="1"/>
          </p:cNvSpPr>
          <p:nvPr/>
        </p:nvSpPr>
        <p:spPr>
          <a:xfrm xmlns:a="http://schemas.openxmlformats.org/drawingml/2006/main">
            <a:off x="390525" y="342900"/>
            <a:ext cx="10572750" cy="1028700"/>
          </a:xfrm>
          <a:prstGeom xmlns:a="http://schemas.openxmlformats.org/drawingml/2006/main" prst="rect">
            <a:avLst/>
          </a:prstGeom>
        </p:spPr>
        <p:txBody>
          <a:bodyPr xmlns:a="http://schemas.openxmlformats.org/drawingml/2006/main" spcFirstLastPara="1" lIns="0" tIns="0" rIns="0" bIns="0" anchor="t">
            <a:normAutofit fontScale="92593"/>
          </a:bodyPr>
          <a:lstStyle xmlns:a="http://schemas.openxmlformats.org/drawingml/2006/main"/>
          <a:p xmlns:a="http://schemas.openxmlformats.org/drawingml/2006/main">
            <a:pPr>
              <a:lnSpc>
                <a:spcPct val="108000"/>
              </a:lnSpc>
              <a:buNone/>
              <a:defRPr sz="3375" b="1">
                <a:solidFill>
                  <a:srgbClr val="000000"/>
                </a:solidFill>
                <a:latin typeface="Helvetica Neue"/>
                <a:ea typeface="Helvetica Neue"/>
                <a:cs typeface="Helvetica Neue"/>
              </a:defRPr>
            </a:pPr>
            <a:r>
              <a:rPr sz="3375" b="1">
                <a:solidFill>
                  <a:srgbClr val="000000"/>
                </a:solidFill>
                <a:latin typeface="Helvetica Neue"/>
                <a:ea typeface="Helvetica Neue"/>
                <a:cs typeface="Helvetica Neue"/>
              </a:rPr>
              <a:t>The next product push should validate trust, then expand automation</a:t>
            </a:r>
          </a:p>
        </p:txBody>
      </p:sp>
      <p:sp>
        <p:nvSpPr>
          <p:cNvPr id="2" name="body">
            <a:extLst xmlns:a="http://schemas.openxmlformats.org/drawingml/2006/main">
              <a:ext uri="{FF2B5EF4-FFF2-40B4-BE49-F238E27FC236}">
                <a16:creationId xmlns:a16="http://schemas.microsoft.com/office/drawing/2014/main" id="{5175DEAC-0074-4261-82E6-694939B72D1B}"/>
              </a:ext>
            </a:extLst>
          </p:cNvPr>
          <p:cNvSpPr>
            <a:spLocks xmlns:a="http://schemas.openxmlformats.org/drawingml/2006/main" noGrp="1"/>
          </p:cNvSpPr>
          <p:nvPr/>
        </p:nvSpPr>
        <p:spPr>
          <a:xfrm xmlns:a="http://schemas.openxmlformats.org/drawingml/2006/main">
            <a:off x="390525" y="1724025"/>
            <a:ext cx="5534025" cy="1181100"/>
          </a:xfrm>
          <a:prstGeom xmlns:a="http://schemas.openxmlformats.org/drawingml/2006/main" prst="rect">
            <a:avLst/>
          </a:prstGeom>
        </p:spPr>
        <p:txBody>
          <a:bodyPr xmlns:a="http://schemas.openxmlformats.org/drawingml/2006/main" spcFirstLastPara="1" lIns="0" tIns="0" rIns="0" bIns="0" anchor="t">
            <a:normAutofit fontScale="99666"/>
          </a:bodyPr>
          <a:lstStyle xmlns:a="http://schemas.openxmlformats.org/drawingml/2006/main"/>
          <a:p xmlns:a="http://schemas.openxmlformats.org/drawingml/2006/main">
            <a:pPr>
              <a:lnSpc>
                <a:spcPct val="108000"/>
              </a:lnSpc>
              <a:buNone/>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The most valuable near-term motion is not adding more dashboards. It is proving that the loop collects better status with less human chasing and that leaders can trust the rollup trail.</a:t>
            </a:r>
          </a:p>
        </p:txBody>
      </p:sp>
      <p:sp>
        <p:nvSpPr>
          <p:cNvPr id="3" name="s1">
            <a:extLst xmlns:a="http://schemas.openxmlformats.org/drawingml/2006/main">
              <a:ext uri="{FF2B5EF4-FFF2-40B4-BE49-F238E27FC236}">
                <a16:creationId xmlns:a16="http://schemas.microsoft.com/office/drawing/2014/main" id="{82B8D3F5-E735-41D0-BDCD-F3726D12FD5A}"/>
              </a:ext>
            </a:extLst>
          </p:cNvPr>
          <p:cNvSpPr>
            <a:spLocks xmlns:a="http://schemas.openxmlformats.org/drawingml/2006/main" noGrp="1"/>
          </p:cNvSpPr>
          <p:nvPr/>
        </p:nvSpPr>
        <p:spPr>
          <a:xfrm xmlns:a="http://schemas.openxmlformats.org/drawingml/2006/main">
            <a:off x="7505700" y="2419350"/>
            <a:ext cx="209550" cy="209550"/>
          </a:xfrm>
          <a:prstGeom xmlns:a="http://schemas.openxmlformats.org/drawingml/2006/main" prst="rect">
            <a:avLst/>
          </a:prstGeom>
          <a:solidFill xmlns:a="http://schemas.openxmlformats.org/drawingml/2006/main">
            <a:srgbClr val="2F9B68"/>
          </a:solidFill>
          <a:ln xmlns:a="http://schemas.openxmlformats.org/drawingml/2006/main" w="0">
            <a:noFill/>
            <a:prstDash val="solid"/>
          </a:ln>
        </p:spPr>
      </p:sp>
      <p:sp>
        <p:nvSpPr>
          <p:cNvPr id="4" name="n1">
            <a:extLst xmlns:a="http://schemas.openxmlformats.org/drawingml/2006/main">
              <a:ext uri="{FF2B5EF4-FFF2-40B4-BE49-F238E27FC236}">
                <a16:creationId xmlns:a16="http://schemas.microsoft.com/office/drawing/2014/main" id="{07F8E958-40BF-45A2-992E-013E0B76F2ED}"/>
              </a:ext>
            </a:extLst>
          </p:cNvPr>
          <p:cNvSpPr>
            <a:spLocks xmlns:a="http://schemas.openxmlformats.org/drawingml/2006/main" noGrp="1"/>
          </p:cNvSpPr>
          <p:nvPr/>
        </p:nvSpPr>
        <p:spPr>
          <a:xfrm xmlns:a="http://schemas.openxmlformats.org/drawingml/2006/main">
            <a:off x="7886700" y="2333625"/>
            <a:ext cx="3905250" cy="419100"/>
          </a:xfrm>
          <a:prstGeom xmlns:a="http://schemas.openxmlformats.org/drawingml/2006/main" prst="rect">
            <a:avLst/>
          </a:prstGeom>
        </p:spPr>
        <p:txBody>
          <a:bodyPr xmlns:a="http://schemas.openxmlformats.org/drawingml/2006/main" spcFirstLastPara="1" lIns="0" tIns="0" rIns="0" bIns="0" anchor="t">
            <a:normAutofit fontScale="73417"/>
          </a:bodyPr>
          <a:lstStyle xmlns:a="http://schemas.openxmlformats.org/drawingml/2006/main"/>
          <a:p xmlns:a="http://schemas.openxmlformats.org/drawingml/2006/main">
            <a:pPr>
              <a:lnSpc>
                <a:spcPct val="108000"/>
              </a:lnSpc>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Pilot the Sense loop with one real delivery pod</a:t>
            </a:r>
          </a:p>
        </p:txBody>
      </p:sp>
      <p:sp>
        <p:nvSpPr>
          <p:cNvPr id="5" name="s2">
            <a:extLst xmlns:a="http://schemas.openxmlformats.org/drawingml/2006/main">
              <a:ext uri="{FF2B5EF4-FFF2-40B4-BE49-F238E27FC236}">
                <a16:creationId xmlns:a16="http://schemas.microsoft.com/office/drawing/2014/main" id="{90EC3E60-5621-4CA6-983C-4FDF9D666F71}"/>
              </a:ext>
            </a:extLst>
          </p:cNvPr>
          <p:cNvSpPr>
            <a:spLocks xmlns:a="http://schemas.openxmlformats.org/drawingml/2006/main" noGrp="1"/>
          </p:cNvSpPr>
          <p:nvPr/>
        </p:nvSpPr>
        <p:spPr>
          <a:xfrm xmlns:a="http://schemas.openxmlformats.org/drawingml/2006/main">
            <a:off x="7505700" y="3238500"/>
            <a:ext cx="209550" cy="209550"/>
          </a:xfrm>
          <a:prstGeom xmlns:a="http://schemas.openxmlformats.org/drawingml/2006/main" prst="rect">
            <a:avLst/>
          </a:prstGeom>
          <a:solidFill xmlns:a="http://schemas.openxmlformats.org/drawingml/2006/main">
            <a:srgbClr val="2F5DAE"/>
          </a:solidFill>
          <a:ln xmlns:a="http://schemas.openxmlformats.org/drawingml/2006/main" w="0">
            <a:noFill/>
            <a:prstDash val="solid"/>
          </a:ln>
        </p:spPr>
      </p:sp>
      <p:sp>
        <p:nvSpPr>
          <p:cNvPr id="6" name="n2">
            <a:extLst xmlns:a="http://schemas.openxmlformats.org/drawingml/2006/main">
              <a:ext uri="{FF2B5EF4-FFF2-40B4-BE49-F238E27FC236}">
                <a16:creationId xmlns:a16="http://schemas.microsoft.com/office/drawing/2014/main" id="{D794AFF6-5F48-41EC-9395-AA62D7F2BDF2}"/>
              </a:ext>
            </a:extLst>
          </p:cNvPr>
          <p:cNvSpPr>
            <a:spLocks xmlns:a="http://schemas.openxmlformats.org/drawingml/2006/main" noGrp="1"/>
          </p:cNvSpPr>
          <p:nvPr/>
        </p:nvSpPr>
        <p:spPr>
          <a:xfrm xmlns:a="http://schemas.openxmlformats.org/drawingml/2006/main">
            <a:off x="7886700" y="3152775"/>
            <a:ext cx="3905250" cy="419100"/>
          </a:xfrm>
          <a:prstGeom xmlns:a="http://schemas.openxmlformats.org/drawingml/2006/main" prst="rect">
            <a:avLst/>
          </a:prstGeom>
        </p:spPr>
        <p:txBody>
          <a:bodyPr xmlns:a="http://schemas.openxmlformats.org/drawingml/2006/main" spcFirstLastPara="1" lIns="0" tIns="0" rIns="0" bIns="0" anchor="t">
            <a:normAutofit fontScale="63213"/>
          </a:bodyPr>
          <a:lstStyle xmlns:a="http://schemas.openxmlformats.org/drawingml/2006/main"/>
          <a:p xmlns:a="http://schemas.openxmlformats.org/drawingml/2006/main">
            <a:pPr>
              <a:lnSpc>
                <a:spcPct val="108000"/>
              </a:lnSpc>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Instrument evidence quality and false-green reduction</a:t>
            </a:r>
          </a:p>
        </p:txBody>
      </p:sp>
      <p:sp>
        <p:nvSpPr>
          <p:cNvPr id="7" name="s3">
            <a:extLst xmlns:a="http://schemas.openxmlformats.org/drawingml/2006/main">
              <a:ext uri="{FF2B5EF4-FFF2-40B4-BE49-F238E27FC236}">
                <a16:creationId xmlns:a16="http://schemas.microsoft.com/office/drawing/2014/main" id="{9270E846-EEBD-43BB-9258-BE3149A993B7}"/>
              </a:ext>
            </a:extLst>
          </p:cNvPr>
          <p:cNvSpPr>
            <a:spLocks xmlns:a="http://schemas.openxmlformats.org/drawingml/2006/main" noGrp="1"/>
          </p:cNvSpPr>
          <p:nvPr/>
        </p:nvSpPr>
        <p:spPr>
          <a:xfrm xmlns:a="http://schemas.openxmlformats.org/drawingml/2006/main">
            <a:off x="7505700" y="4057650"/>
            <a:ext cx="209550" cy="209550"/>
          </a:xfrm>
          <a:prstGeom xmlns:a="http://schemas.openxmlformats.org/drawingml/2006/main" prst="rect">
            <a:avLst/>
          </a:prstGeom>
          <a:solidFill xmlns:a="http://schemas.openxmlformats.org/drawingml/2006/main">
            <a:srgbClr val="D88A16"/>
          </a:solidFill>
          <a:ln xmlns:a="http://schemas.openxmlformats.org/drawingml/2006/main" w="0">
            <a:noFill/>
            <a:prstDash val="solid"/>
          </a:ln>
        </p:spPr>
      </p:sp>
      <p:sp>
        <p:nvSpPr>
          <p:cNvPr id="8" name="n3">
            <a:extLst xmlns:a="http://schemas.openxmlformats.org/drawingml/2006/main">
              <a:ext uri="{FF2B5EF4-FFF2-40B4-BE49-F238E27FC236}">
                <a16:creationId xmlns:a16="http://schemas.microsoft.com/office/drawing/2014/main" id="{110B02DD-F8F7-4D38-94ED-597D89F325C4}"/>
              </a:ext>
            </a:extLst>
          </p:cNvPr>
          <p:cNvSpPr>
            <a:spLocks xmlns:a="http://schemas.openxmlformats.org/drawingml/2006/main" noGrp="1"/>
          </p:cNvSpPr>
          <p:nvPr/>
        </p:nvSpPr>
        <p:spPr>
          <a:xfrm xmlns:a="http://schemas.openxmlformats.org/drawingml/2006/main">
            <a:off x="7886700" y="3971925"/>
            <a:ext cx="3905250" cy="419100"/>
          </a:xfrm>
          <a:prstGeom xmlns:a="http://schemas.openxmlformats.org/drawingml/2006/main" prst="rect">
            <a:avLst/>
          </a:prstGeom>
        </p:spPr>
        <p:txBody>
          <a:bodyPr xmlns:a="http://schemas.openxmlformats.org/drawingml/2006/main" spcFirstLastPara="1" lIns="0" tIns="0" rIns="0" bIns="0" anchor="t">
            <a:normAutofit fontScale="68913"/>
          </a:bodyPr>
          <a:lstStyle xmlns:a="http://schemas.openxmlformats.org/drawingml/2006/main"/>
          <a:p xmlns:a="http://schemas.openxmlformats.org/drawingml/2006/main">
            <a:pPr>
              <a:lnSpc>
                <a:spcPct val="108000"/>
              </a:lnSpc>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Prioritize Reconcile before write-back automation</a:t>
            </a:r>
          </a:p>
        </p:txBody>
      </p:sp>
      <p:sp>
        <p:nvSpPr>
          <p:cNvPr id="9" name="s4">
            <a:extLst xmlns:a="http://schemas.openxmlformats.org/drawingml/2006/main">
              <a:ext uri="{FF2B5EF4-FFF2-40B4-BE49-F238E27FC236}">
                <a16:creationId xmlns:a16="http://schemas.microsoft.com/office/drawing/2014/main" id="{38465556-0247-4B81-80A8-F4A153D6DAC3}"/>
              </a:ext>
            </a:extLst>
          </p:cNvPr>
          <p:cNvSpPr>
            <a:spLocks xmlns:a="http://schemas.openxmlformats.org/drawingml/2006/main" noGrp="1"/>
          </p:cNvSpPr>
          <p:nvPr/>
        </p:nvSpPr>
        <p:spPr>
          <a:xfrm xmlns:a="http://schemas.openxmlformats.org/drawingml/2006/main">
            <a:off x="7505700" y="4876800"/>
            <a:ext cx="209550" cy="2095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0" name="n4">
            <a:extLst xmlns:a="http://schemas.openxmlformats.org/drawingml/2006/main">
              <a:ext uri="{FF2B5EF4-FFF2-40B4-BE49-F238E27FC236}">
                <a16:creationId xmlns:a16="http://schemas.microsoft.com/office/drawing/2014/main" id="{E454DAC2-6DFC-4BBB-8F1F-3DE2B407A2AF}"/>
              </a:ext>
            </a:extLst>
          </p:cNvPr>
          <p:cNvSpPr>
            <a:spLocks xmlns:a="http://schemas.openxmlformats.org/drawingml/2006/main" noGrp="1"/>
          </p:cNvSpPr>
          <p:nvPr/>
        </p:nvSpPr>
        <p:spPr>
          <a:xfrm xmlns:a="http://schemas.openxmlformats.org/drawingml/2006/main">
            <a:off x="7886700" y="4791075"/>
            <a:ext cx="3905250" cy="419100"/>
          </a:xfrm>
          <a:prstGeom xmlns:a="http://schemas.openxmlformats.org/drawingml/2006/main" prst="rect">
            <a:avLst/>
          </a:prstGeom>
        </p:spPr>
        <p:txBody>
          <a:bodyPr xmlns:a="http://schemas.openxmlformats.org/drawingml/2006/main" spcFirstLastPara="1" lIns="0" tIns="0" rIns="0" bIns="0" anchor="t">
            <a:normAutofit fontScale="68543"/>
          </a:bodyPr>
          <a:lstStyle xmlns:a="http://schemas.openxmlformats.org/drawingml/2006/main"/>
          <a:p xmlns:a="http://schemas.openxmlformats.org/drawingml/2006/main">
            <a:pPr>
              <a:lnSpc>
                <a:spcPct val="108000"/>
              </a:lnSpc>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Keep provider neutrality as a product requirement</a:t>
            </a:r>
          </a:p>
        </p:txBody>
      </p:sp>
      <p:sp>
        <p:nvSpPr>
          <p:cNvPr id="11" name="bottom-band">
            <a:extLst xmlns:a="http://schemas.openxmlformats.org/drawingml/2006/main">
              <a:ext uri="{FF2B5EF4-FFF2-40B4-BE49-F238E27FC236}">
                <a16:creationId xmlns:a16="http://schemas.microsoft.com/office/drawing/2014/main" id="{D37A49E6-4470-4255-AF17-25489D679217}"/>
              </a:ext>
            </a:extLst>
          </p:cNvPr>
          <p:cNvSpPr>
            <a:spLocks xmlns:a="http://schemas.openxmlformats.org/drawingml/2006/main" noGrp="1"/>
          </p:cNvSpPr>
          <p:nvPr/>
        </p:nvSpPr>
        <p:spPr>
          <a:xfrm xmlns:a="http://schemas.openxmlformats.org/drawingml/2006/main">
            <a:off x="0" y="5943600"/>
            <a:ext cx="12192000" cy="9144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2" name="close">
            <a:extLst xmlns:a="http://schemas.openxmlformats.org/drawingml/2006/main">
              <a:ext uri="{FF2B5EF4-FFF2-40B4-BE49-F238E27FC236}">
                <a16:creationId xmlns:a16="http://schemas.microsoft.com/office/drawing/2014/main" id="{9D6BE140-C437-4960-B300-DDBDE8AC3118}"/>
              </a:ext>
            </a:extLst>
          </p:cNvPr>
          <p:cNvSpPr>
            <a:spLocks xmlns:a="http://schemas.openxmlformats.org/drawingml/2006/main" noGrp="1"/>
          </p:cNvSpPr>
          <p:nvPr/>
        </p:nvSpPr>
        <p:spPr>
          <a:xfrm xmlns:a="http://schemas.openxmlformats.org/drawingml/2006/main">
            <a:off x="762000" y="6219825"/>
            <a:ext cx="10668000" cy="419100"/>
          </a:xfrm>
          <a:prstGeom xmlns:a="http://schemas.openxmlformats.org/drawingml/2006/main" prst="rect">
            <a:avLst/>
          </a:prstGeom>
        </p:spPr>
        <p:txBody>
          <a:bodyPr xmlns:a="http://schemas.openxmlformats.org/drawingml/2006/main" spcFirstLastPara="1" lIns="0" tIns="0" rIns="0" bIns="0" anchor="t">
            <a:normAutofit fontScale="79206"/>
          </a:bodyPr>
          <a:lstStyle xmlns:a="http://schemas.openxmlformats.org/drawingml/2006/main"/>
          <a:p xmlns:a="http://schemas.openxmlformats.org/drawingml/2006/main">
            <a:pPr algn="ctr">
              <a:lnSpc>
                <a:spcPct val="108000"/>
              </a:lnSpc>
              <a:buNone/>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OpenProgram can become the operating rhythm for software delivery: current, source-linked, role-aware, and eventually predictive.</a:t>
            </a:r>
          </a:p>
        </p:txBody>
      </p:sp>
      <p:sp>
        <p:nvSpPr>
          <p:cNvPr id="13" name="footer-10">
            <a:extLst xmlns:a="http://schemas.openxmlformats.org/drawingml/2006/main">
              <a:ext uri="{FF2B5EF4-FFF2-40B4-BE49-F238E27FC236}">
                <a16:creationId xmlns:a16="http://schemas.microsoft.com/office/drawing/2014/main" id="{ABE9DA42-E0C2-45DA-86F8-39456D89E427}"/>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spcFirstLastPara="1" lIns="0" tIns="0" rIns="0" bIns="0" anchor="b">
            <a:normAutofit fontScale="100000"/>
          </a:bodyPr>
          <a:lstStyle xmlns:a="http://schemas.openxmlformats.org/drawingml/2006/main"/>
          <a:p xmlns:a="http://schemas.openxmlformats.org/drawingml/2006/main">
            <a:pPr algn="r">
              <a:lnSpc>
                <a:spcPct val="108000"/>
              </a:lnSpc>
              <a:buNone/>
              <a:defRPr sz="1125">
                <a:solidFill>
                  <a:srgbClr val="000000"/>
                </a:solidFill>
                <a:latin typeface="Helvetica Neue"/>
                <a:ea typeface="Helvetica Neue"/>
                <a:cs typeface="Helvetica Neue"/>
              </a:defRPr>
            </a:pPr>
            <a:r>
              <a:rPr sz="1125">
                <a:solidFill>
                  <a:srgbClr val="000000"/>
                </a:solidFill>
                <a:latin typeface="Helvetica Neue"/>
                <a:ea typeface="Helvetica Neue"/>
                <a:cs typeface="Helvetica Neue"/>
              </a:rPr>
              <a:t>10</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b0f6cd822682488a"/>
          <a:srcRect xmlns:a="http://schemas.openxmlformats.org/drawingml/2006/main" l="0" t="13326" r="0" b="13326"/>
          <a:stretch xmlns:a="http://schemas.openxmlformats.org/drawingml/2006/main">
            <a:fillRect l="0" t="0" r="0" b="0"/>
          </a:stretch>
        </p:blipFill>
        <p:spPr>
          <a:xfrm xmlns:a="http://schemas.openxmlformats.org/drawingml/2006/main">
            <a:off x="457200" y="3257550"/>
            <a:ext cx="5219700" cy="20383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3AE70EE5-AA2B-41E6-9E66-C46EF08B9072}"/>
              </a:ext>
            </a:extLst>
          </p:cNvPr>
          <p:cNvSpPr>
            <a:spLocks xmlns:a="http://schemas.openxmlformats.org/drawingml/2006/main" noGrp="1"/>
          </p:cNvSpPr>
          <p:nvPr/>
        </p:nvSpPr>
        <p:spPr>
          <a:xfrm xmlns:a="http://schemas.openxmlformats.org/drawingml/2006/main">
            <a:off x="457200" y="3257550"/>
            <a:ext cx="5219700" cy="2038350"/>
          </a:xfrm>
          <a:prstGeom xmlns:a="http://schemas.openxmlformats.org/drawingml/2006/main" prst="rect">
            <a:avLst/>
          </a:prstGeom>
          <a:noFill xmlns:a="http://schemas.openxmlformats.org/drawingml/2006/main"/>
          <a:ln xmlns:a="http://schemas.openxmlformats.org/drawingml/2006/main" w="9525">
            <a:solidFill>
              <a:srgbClr val="B8BCC4"/>
            </a:solidFill>
            <a:prstDash val="solid"/>
          </a:ln>
        </p:spPr>
      </p:sp>
    </p:spTree>
    <p:extLst>
      <p:ext uri="{BB962C8B-B14F-4D97-AF65-F5344CB8AC3E}">
        <p14:creationId xmlns:p14="http://schemas.microsoft.com/office/powerpoint/2010/main" val="13145005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2026-07-01T20:06:30.7920000Z</dcterms:created>
  <dcterms:modified xsi:type="dcterms:W3CDTF">2026-07-01T20:06:30.7920000Z</dcterms:modified>
</coreProperties>
</file>