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eb41052d794d00" /><Relationship Type="http://schemas.openxmlformats.org/officeDocument/2006/relationships/extended-properties" Target="/docProps/app.xml" Id="Ra09d38877df642fe" /><Relationship Type="http://schemas.openxmlformats.org/officeDocument/2006/relationships/officeDocument" Target="/ppt/presentation.xml" Id="R5dba926279c7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34b01fa3e47e7"/>
  </p:sldMasterIdLst>
  <p:notesMasterIdLst>
    <p:notesMasterId xmlns:r="http://schemas.openxmlformats.org/officeDocument/2006/relationships" r:id="R1eee46f4e1b14e51"/>
  </p:notesMasterIdLst>
  <p:sldIdLst>
    <p:sldId xmlns:r="http://schemas.openxmlformats.org/officeDocument/2006/relationships" id="256" r:id="R9293302085664f21"/>
    <p:sldId xmlns:r="http://schemas.openxmlformats.org/officeDocument/2006/relationships" id="257" r:id="R018afb20b9c84b39"/>
    <p:sldId xmlns:r="http://schemas.openxmlformats.org/officeDocument/2006/relationships" id="258" r:id="Re0c818ca0e174942"/>
    <p:sldId xmlns:r="http://schemas.openxmlformats.org/officeDocument/2006/relationships" id="259" r:id="R35c33cd54a5c490d"/>
    <p:sldId xmlns:r="http://schemas.openxmlformats.org/officeDocument/2006/relationships" id="260" r:id="R952e40d1ff6c4f56"/>
    <p:sldId xmlns:r="http://schemas.openxmlformats.org/officeDocument/2006/relationships" id="261" r:id="Rb4c0dccbdded4dfa"/>
    <p:sldId xmlns:r="http://schemas.openxmlformats.org/officeDocument/2006/relationships" id="262" r:id="R91b3511f7c8e4dc3"/>
    <p:sldId xmlns:r="http://schemas.openxmlformats.org/officeDocument/2006/relationships" id="263" r:id="Rc6fee2f589064c99"/>
    <p:sldId xmlns:r="http://schemas.openxmlformats.org/officeDocument/2006/relationships" id="264" r:id="Rb8fb0e7ba46449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6cbb9a07242a4" /><Relationship Type="http://schemas.openxmlformats.org/officeDocument/2006/relationships/slideMaster" Target="/ppt/slideMasters/slideMaster1.xml" Id="R7c534b01fa3e47e7" /><Relationship Type="http://schemas.openxmlformats.org/officeDocument/2006/relationships/notesMaster" Target="/ppt/notesMasters/notesMaster1.xml" Id="R1eee46f4e1b14e51" /><Relationship Type="http://schemas.openxmlformats.org/officeDocument/2006/relationships/presProps" Target="/ppt/presProps.xml" Id="R5dc8e5a6bf6d41a7" /><Relationship Type="http://schemas.openxmlformats.org/officeDocument/2006/relationships/tableStyles" Target="/ppt/tableStyles.xml" Id="R93f1c9c09cd643e3" /><Relationship Type="http://schemas.openxmlformats.org/officeDocument/2006/relationships/slide" Target="/ppt/slides/slide1.xml" Id="R9293302085664f21" /><Relationship Type="http://schemas.openxmlformats.org/officeDocument/2006/relationships/slide" Target="/ppt/slides/slide2.xml" Id="R018afb20b9c84b39" /><Relationship Type="http://schemas.openxmlformats.org/officeDocument/2006/relationships/slide" Target="/ppt/slides/slide3.xml" Id="Re0c818ca0e174942" /><Relationship Type="http://schemas.openxmlformats.org/officeDocument/2006/relationships/slide" Target="/ppt/slides/slide4.xml" Id="R35c33cd54a5c490d" /><Relationship Type="http://schemas.openxmlformats.org/officeDocument/2006/relationships/slide" Target="/ppt/slides/slide5.xml" Id="R952e40d1ff6c4f56" /><Relationship Type="http://schemas.openxmlformats.org/officeDocument/2006/relationships/slide" Target="/ppt/slides/slide6.xml" Id="Rb4c0dccbdded4dfa" /><Relationship Type="http://schemas.openxmlformats.org/officeDocument/2006/relationships/slide" Target="/ppt/slides/slide7.xml" Id="R91b3511f7c8e4dc3" /><Relationship Type="http://schemas.openxmlformats.org/officeDocument/2006/relationships/slide" Target="/ppt/slides/slide8.xml" Id="Rc6fee2f589064c99" /><Relationship Type="http://schemas.openxmlformats.org/officeDocument/2006/relationships/slide" Target="/ppt/slides/slide9.xml" Id="Rb8fb0e7ba464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d2429571d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1a002b46643b9" /><Relationship Type="http://schemas.openxmlformats.org/officeDocument/2006/relationships/notesMaster" Target="/ppt/notesMasters/notesMaster1.xml" Id="Rf5ee9ae0532644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cba00b69014fa6" /><Relationship Type="http://schemas.openxmlformats.org/officeDocument/2006/relationships/notesMaster" Target="/ppt/notesMasters/notesMaster1.xml" Id="R541626feb3e945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75a83d46c94bad" /><Relationship Type="http://schemas.openxmlformats.org/officeDocument/2006/relationships/notesMaster" Target="/ppt/notesMasters/notesMaster1.xml" Id="Rbe5bd499bf684e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3c176216c4f43" /><Relationship Type="http://schemas.openxmlformats.org/officeDocument/2006/relationships/notesMaster" Target="/ppt/notesMasters/notesMaster1.xml" Id="R559fdef8cfb644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b6cc3ca3f446fc" /><Relationship Type="http://schemas.openxmlformats.org/officeDocument/2006/relationships/notesMaster" Target="/ppt/notesMasters/notesMaster1.xml" Id="Rca47530d3faf42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4183424b4466d" /><Relationship Type="http://schemas.openxmlformats.org/officeDocument/2006/relationships/notesMaster" Target="/ppt/notesMasters/notesMaster1.xml" Id="R9161c25d286342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c71cab47c2402c" /><Relationship Type="http://schemas.openxmlformats.org/officeDocument/2006/relationships/notesMaster" Target="/ppt/notesMasters/notesMaster1.xml" Id="Re5c7fe158efe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82beaee60547cf" /><Relationship Type="http://schemas.openxmlformats.org/officeDocument/2006/relationships/notesMaster" Target="/ppt/notesMasters/notesMaster1.xml" Id="R91c04307c5554b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866c05b1ca4403" /><Relationship Type="http://schemas.openxmlformats.org/officeDocument/2006/relationships/notesMaster" Target="/ppt/notesMasters/notesMaster1.xml" Id="R025525e276df49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b19664cad4d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30ab2d2b74d92" /><Relationship Type="http://schemas.openxmlformats.org/officeDocument/2006/relationships/slideLayout" Target="/ppt/slideLayouts/slideLayout1.xml" Id="R24aeb0ccb37546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eb0ccb37546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4fcea7f7b4dbc" /><Relationship Type="http://schemas.openxmlformats.org/officeDocument/2006/relationships/notesSlide" Target="/ppt/notesSlides/notesSlide1.xml" Id="R3b454af653bd48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035f4ee0d4eb0" /><Relationship Type="http://schemas.openxmlformats.org/officeDocument/2006/relationships/chart" Target="/ppt/slides/charts/chart1.xml" Id="Rf459d09b821d4610" /><Relationship Type="http://schemas.openxmlformats.org/officeDocument/2006/relationships/notesSlide" Target="/ppt/notesSlides/notesSlide2.xml" Id="R923b36c0c50943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f4b7279e84aa0" /><Relationship Type="http://schemas.openxmlformats.org/officeDocument/2006/relationships/notesSlide" Target="/ppt/notesSlides/notesSlide3.xml" Id="R1cbb8eb689f6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77687e754a48" /><Relationship Type="http://schemas.openxmlformats.org/officeDocument/2006/relationships/image" Target="/ppt/media/image.png" Id="Rd2a0162ebf7f49cc" /><Relationship Type="http://schemas.openxmlformats.org/officeDocument/2006/relationships/notesSlide" Target="/ppt/notesSlides/notesSlide4.xml" Id="R8471832173cf41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224d329a44a60" /><Relationship Type="http://schemas.openxmlformats.org/officeDocument/2006/relationships/image" Target="/ppt/media/image2.png" Id="Rc645e00a37684414" /><Relationship Type="http://schemas.openxmlformats.org/officeDocument/2006/relationships/notesSlide" Target="/ppt/notesSlides/notesSlide5.xml" Id="R227809c26d13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4ca262fdd434b" /><Relationship Type="http://schemas.openxmlformats.org/officeDocument/2006/relationships/image" Target="/ppt/media/image3.png" Id="Rcdb415830f0c4034" /><Relationship Type="http://schemas.openxmlformats.org/officeDocument/2006/relationships/notesSlide" Target="/ppt/notesSlides/notesSlide6.xml" Id="R8a296cc175c7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0420df25f4e51" /><Relationship Type="http://schemas.openxmlformats.org/officeDocument/2006/relationships/notesSlide" Target="/ppt/notesSlides/notesSlide7.xml" Id="Rb768526041fc46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65f78a8344a3a" /><Relationship Type="http://schemas.openxmlformats.org/officeDocument/2006/relationships/notesSlide" Target="/ppt/notesSlides/notesSlide8.xml" Id="Rf090a520d67143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f37f6c5a84c3a" /><Relationship Type="http://schemas.openxmlformats.org/officeDocument/2006/relationships/notesSlide" Target="/ppt/notesSlides/notesSlide9.xml" Id="R91ad16b11a9d4a0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Recent work</c:v>
          </c:tx>
          <c:spPr>
            <a:solidFill xmlns:a="http://schemas.openxmlformats.org/drawingml/2006/main">
              <a:srgbClr val="0066CC"/>
            </a:solidFill>
          </c:spPr>
          <c:dLbls/>
          <c:cat>
            <c:strLit>
              <c:ptCount val="3"/>
              <c:pt idx="0">
                <c:v>Features</c:v>
              </c:pt>
              <c:pt idx="1">
                <c:v>Fixes</c:v>
              </c:pt>
              <c:pt idx="2">
                <c:v>Support</c:v>
              </c:pt>
            </c:strLit>
          </c:cat>
          <c:val>
            <c:numLit>
              <c:formatCode>General</c:formatCode>
              <c:ptCount val="3"/>
              <c:pt idx="0">
                <c:v>14</c:v>
              </c:pt>
              <c:pt idx="1">
                <c:v>18</c:v>
              </c:pt>
              <c:pt idx="2">
                <c:v>11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C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CC28C-DF44-408B-9786-6960801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OpenProgram -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6E53E-862B-4F7D-89CB-485EF2B7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0127-6A3A-48B3-9100-DE5D931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</a:defRPr>
            </a:pPr>
            <a:r>
              <a:rPr sz="1950" b="0">
                <a:solidFill>
                  <a:srgbClr val="4B5563"/>
                </a:solidFill>
              </a:rPr>
              <a:t>OpenProgram product, business, and feature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D0E07-0E84-4AC7-96A1-E64C5B9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July 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F11E0-A412-453B-8359-65B820BE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398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A5A21-919C-4734-9B55-4777102A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8003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One canonical delivery graph. Proactive status collection. Explainable rollups for every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E6E04-3599-4681-8E72-27C3E439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OpenProgram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1F3C5-FDAA-483A-AD00-20373C1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4504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98053-55B3-4E03-905A-FE1096EB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THE HOOK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42945-36BD-457C-BB71-CAF3E31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Status is expensive when humans assemble it by hand.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D6BC7-CA37-40AB-9FAA-C9C09625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FCD90-D6D4-47D4-B5C2-55188D6E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The hook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18756-1301-4494-9213-B9B7D49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F8C18-2F1F-4036-A2F0-FBBF23D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9D856-0877-4856-A684-7D26FD50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Teams spend recurring time chasing updates instead of acting on exceptions.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5DCB2-78EA-43E0-B293-9172DBCD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89EA-5D5A-4A39-9121-72CC3F6E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Silence is easy to misread as healthy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727F-2204-4452-9A73-7FD49C31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DF22C-80BA-4034-90AB-215E4A3F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Manual rollups hide the path from program risk back to the source blocker.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E4C44-DE4F-4599-817B-0C70C72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4F484-0616-4940-85BB-622E227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Leader views need signal without exposing raw developer messages.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0BC42-6D39-446B-85A8-BD88D00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6908D-BA50-4E7E-B524-429ACE3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66CC"/>
                </a:solidFill>
              </a:defRPr>
            </a:pPr>
            <a:r>
              <a:rPr sz="3150" b="1">
                <a:solidFill>
                  <a:srgbClr val="0066CC"/>
                </a:solidFill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29AF5-9B85-4E6A-92E2-8A9D5A7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features shipped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00D85-7585-4069-8B64-F782F1B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since 2026-06-02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748FB-6750-44FB-BE57-2DC297B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F6D8E-047A-486A-8DA2-A0B3A40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8038"/>
                </a:solidFill>
              </a:defRPr>
            </a:pPr>
            <a:r>
              <a:rPr sz="3150" b="1">
                <a:solidFill>
                  <a:srgbClr val="188038"/>
                </a:solidFill>
              </a:rPr>
              <a:t>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F5B89-CAA4-4C92-868D-284CE29C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fixes hardened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B76CD-6086-43A1-A776-3F16D673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same period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0E291-A020-4A59-8B7E-A65FC28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4CC81-CB26-4D10-A179-ABDA55C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479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6A00"/>
                </a:solidFill>
              </a:defRPr>
            </a:pPr>
            <a:r>
              <a:rPr sz="3150" b="1">
                <a:solidFill>
                  <a:srgbClr val="B66A00"/>
                </a:solidFill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0A47F-73B8-49C3-AAFF-FC49CE3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432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infra/test/docs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09F95-9688-4CE9-BF36-C2B44703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9085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delivery support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858000" y="3676650"/>
          <a:ext xmlns:a="http://schemas.openxmlformats.org/drawingml/2006/main" cx="47053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59d09b821d4610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CEF11-E9C8-42D8-873D-76E598D0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Source: git history since 2026-06-02; PR metadata was unavailable locally.</a:t>
            </a:r>
          </a:p>
        </p:txBody>
      </p:sp>
    </p:spTree>
    <p:extLst>
      <p:ext uri="{BB962C8B-B14F-4D97-AF65-F5344CB8AC3E}">
        <p14:creationId xmlns:p14="http://schemas.microsoft.com/office/powerpoint/2010/main" val="670440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A1E7E-F15A-462D-A751-3DABBE0F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PRODUCT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BA8FF-1C41-45A2-80FE-1813100B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OpenProgram keeps one live operating model of delivery.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2467C-50D0-44C3-9EF8-2ED0E574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EAB6D-08B4-4095-BF14-D769F0AD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Product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2AA5-BFCD-4C68-A89A-FF4E0727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7497-8EE4-4BB1-AF9A-5C03204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 product connects chat, Jira, GitHub, calendar, and workflow events into a graph-backed system of record that every persona reads through a different lens.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52E27-A547-4833-91A0-D2E728A4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5BE12-359D-4558-98E9-C6DD649F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6CC"/>
                </a:solidFill>
              </a:defRPr>
            </a:pPr>
            <a:r>
              <a:rPr sz="2100" b="1">
                <a:solidFill>
                  <a:srgbClr val="0066CC"/>
                </a:solidFill>
              </a:rPr>
              <a:t>Sense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DE85F-B76A-4072-8002-D8DBD93A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Collect status through proactive chat check-ins and read-only delivery sync.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42F68-11DD-4A9B-9806-93A8212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6CC"/>
                </a:solidFill>
              </a:defRPr>
            </a:pPr>
            <a:r>
              <a:rPr sz="2250" b="1">
                <a:solidFill>
                  <a:srgbClr val="0066CC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118A6-844F-45B5-834D-B531A6DB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D38DE-11AD-4A43-87CF-805C2C2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B4D85-2FBD-4FA3-9EBA-446E6C61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Store programs, projects, pods, people, tasks, workstreams, and facts in one graph.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B480B-5EF6-4223-A2DF-5D40D53D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6CC"/>
                </a:solidFill>
              </a:defRPr>
            </a:pPr>
            <a:r>
              <a:rPr sz="2250" b="1">
                <a:solidFill>
                  <a:srgbClr val="0066CC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42F3E-E496-419D-A652-D987402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DA1C1-1534-4AA2-87D9-74EF631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Roll 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5E5D-38BC-4FCC-9F67-4A50CD37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Compute RAG, confidence, blockers, completeness, and portfolio heatmap cells.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88BCC-F716-488D-8DF2-3DBA464D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6CC"/>
                </a:solidFill>
              </a:defRPr>
            </a:pPr>
            <a:r>
              <a:rPr sz="2250" b="1">
                <a:solidFill>
                  <a:srgbClr val="0066CC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263CD-27EA-49F2-89F0-9133AF0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E1AC2-7AD0-4804-98C5-E47119CB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9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DDC72-BA06-4906-8F56-7A1DE3B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Surface role-specific dashboards, flow metrics, feed events, and ask-anything answers.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792C9-7863-4F07-93E9-AC758EC5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Business takeaway: a program review becomes a drillable operating view, not a weekly reconstruction exercise.</a:t>
            </a:r>
          </a:p>
        </p:txBody>
      </p:sp>
    </p:spTree>
    <p:extLst>
      <p:ext uri="{BB962C8B-B14F-4D97-AF65-F5344CB8AC3E}">
        <p14:creationId xmlns:p14="http://schemas.microsoft.com/office/powerpoint/2010/main" val="196882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1B93D-FC18-49A3-9CC3-3EF45600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FDE67-F590-4885-A652-FD3F81B3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Runtime configuration makes the delivery graph business-owned.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1613D-D1B4-4C06-BF30-B9BBEE5B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E1227-37BC-41BF-9A90-830F2FE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AFA5D-B393-442C-AC94-6679BAE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B1D6B-1094-47A8-A025-555A75EE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83113-0E52-4CA4-BED7-02C4910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Admins can manage programs, projects, pods, members, links, assignments, and check-in timing at runtime.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1FDAA-0EBB-48CA-AB1B-5FC0BE47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71DA3-955D-484E-A54D-B9BD8336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Directory sync promotes real users into configured members without hardcoded seed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31FBA-C169-4C14-BDAC-3FDF4CC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28690-B491-4BF4-9305-31F6D473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Jira and GitHub scopes are configured on project and pod definitions, so scheduled sync follows the business structure.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D4EAE-8493-4CAD-980B-DFEF260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C5C68-1D84-42B9-8414-B3CC6B3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same graph powers selectors, detail pages, and rollups across the product.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835E0-EDAE-487D-8E86-A8807628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5581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0162ebf7f49cc"/>
          <a:stretch xmlns:a="http://schemas.openxmlformats.org/drawingml/2006/main"/>
        </p:blipFill>
        <p:spPr>
          <a:xfrm xmlns:a="http://schemas.openxmlformats.org/drawingml/2006/main">
            <a:off x="5962650" y="2231364"/>
            <a:ext cx="5429250" cy="289057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A2134-0596-4016-A25E-3E36562C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391150"/>
            <a:ext cx="558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Runtime Configuration: directory-backed member onboarding</a:t>
            </a:r>
          </a:p>
        </p:txBody>
      </p:sp>
    </p:spTree>
    <p:extLst>
      <p:ext uri="{BB962C8B-B14F-4D97-AF65-F5344CB8AC3E}">
        <p14:creationId xmlns:p14="http://schemas.microsoft.com/office/powerpoint/2010/main" val="1913622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C00A2-0652-4B26-8B03-3CF94905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7E6E5-96BE-45EF-8824-B629157D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Daily check-ins move status collection into the flow of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7F1B9-6FDF-4721-942F-BFC0007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5F1E6-9C01-4CD1-A78D-F034A9C8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49DC0-C61E-4008-8BB2-204D512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37A81-5362-4476-A644-43BBF1D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8293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5e00a37684414"/>
          <a:stretch xmlns:a="http://schemas.openxmlformats.org/drawingml/2006/main"/>
        </p:blipFill>
        <p:spPr>
          <a:xfrm xmlns:a="http://schemas.openxmlformats.org/drawingml/2006/main">
            <a:off x="513925" y="2038350"/>
            <a:ext cx="5601550" cy="3486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CED1B-30B0-45A8-8A5D-6F48ABD8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Mock Slack surface used for local/admin check-in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9DF28-086C-48C9-B655-1269991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6CC"/>
                </a:solidFill>
              </a:defRPr>
            </a:pPr>
            <a:r>
              <a:rPr sz="2550" b="1">
                <a:solidFill>
                  <a:srgbClr val="0066C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FEC88-1C41-4F88-843B-0AAE6A6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8D0D1-FA87-4483-976E-20F46438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19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Workflow dispatch sends each developer a contextual DM with a correlation ID.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FD115-057A-46B0-84F2-7FE2864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6CC"/>
                </a:solidFill>
              </a:defRPr>
            </a:pPr>
            <a:r>
              <a:rPr sz="2550" b="1">
                <a:solidFill>
                  <a:srgbClr val="0066C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1340D-56EF-4777-9C53-3BF539C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7B43F-23E7-4BFE-AE42-CA93B60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Replies are parsed into progress, blockers, ETA, source quality, and clarification needs.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05C2E-81B6-49C6-ABC4-19632FF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6CC"/>
                </a:solidFill>
              </a:defRPr>
            </a:pPr>
            <a:r>
              <a:rPr sz="2550" b="1">
                <a:solidFill>
                  <a:srgbClr val="0066C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2D080-317C-483F-B8D8-84A9DC4D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862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DD559-CFDA-42D6-BD0A-6B7E7E43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291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Duplicate, ambiguous, non-status, and stale replies are handled without falsely turning status green.</a:t>
            </a:r>
          </a:p>
        </p:txBody>
      </p:sp>
    </p:spTree>
    <p:extLst>
      <p:ext uri="{BB962C8B-B14F-4D97-AF65-F5344CB8AC3E}">
        <p14:creationId xmlns:p14="http://schemas.microsoft.com/office/powerpoint/2010/main" val="564290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06FC7-A243-419E-9416-D0706CA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2A576-464A-4D31-BBE6-7089314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Role views translate signals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4EB8F-F224-4AAC-AB6E-0BD6A4DD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3A01-36BE-4437-BC53-6D6BB9B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2022B-F297-451E-8D5A-6ED831D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B5171-DE81-4A5E-9414-0B964624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Each persona gets the slice that maps to their daily decision, while high-level views avoid exposing raw DM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3956B-61BD-4E15-94A9-B166FDE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9245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415830f0c4034"/>
          <a:stretch xmlns:a="http://schemas.openxmlformats.org/drawingml/2006/main"/>
        </p:blipFill>
        <p:spPr>
          <a:xfrm xmlns:a="http://schemas.openxmlformats.org/drawingml/2006/main">
            <a:off x="902654" y="2552700"/>
            <a:ext cx="4919343" cy="276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35A9E-EF91-4594-B743-43A909D7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92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Pod detail view: check-in completeness and blockers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5C229-DD0C-4A78-8E59-791D662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6E610-BBFC-4CC7-A6F6-5891B60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Developer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568B4-21FD-485F-9294-F5243837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812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focus, tasks, blockers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1E99A-34FC-4449-B67A-1B9E1CAC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ADD15-BA5C-4E3F-ACC2-8A3630A5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Scrum master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F991F-37C7-43A5-A592-DF85A6DC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670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check-in completeness, blocker 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4872A-8717-4A30-8FDE-A1B31FE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6BDB3-29BA-4F62-9034-250FBF0E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Product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E41A2-A04C-4623-A2BE-0FBA20F5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project progress and task health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7862B-796C-48B1-94A3-A18AF446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3C57E-3428-467A-BBEE-1BAA144B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Manager / Exec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87FA3-A249-473B-A86F-E77D90D8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386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hierarchy, heatmap, portfolio health</a:t>
            </a:r>
          </a:p>
        </p:txBody>
      </p:sp>
    </p:spTree>
    <p:extLst>
      <p:ext uri="{BB962C8B-B14F-4D97-AF65-F5344CB8AC3E}">
        <p14:creationId xmlns:p14="http://schemas.microsoft.com/office/powerpoint/2010/main" val="1318005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BC3C7-2F07-45D8-8008-8C2E675A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561C4-3683-4660-AA08-60F02B65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Portfolio flow shows what is moving and what is stuck.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3ABAC-885C-47FF-BAB4-DDBD1ABF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EF20A-79EA-473B-845F-68C8019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Feature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32844-36DC-4690-8003-6175BDF8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6351D-7C46-4EF6-8D1A-37114636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The latest product work adds workstreams, work items, flow metrics, a portfolio feed, and a natural-language ask endpoint for leaders.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ED106-885F-42DA-A7DC-1C709EF5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68E66-5C87-45FC-8326-BC0A82E2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66CC"/>
                </a:solidFill>
              </a:defRPr>
            </a:pPr>
            <a:r>
              <a:rPr sz="3150" b="1">
                <a:solidFill>
                  <a:srgbClr val="0066CC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2F435-F8ED-4976-8FA8-F9E593EE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active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48426-D120-4C9F-BF3C-4449280A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currently in active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C3ED6-38FA-473A-BBAB-2A3810F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CFD55-5CE9-474D-B3E9-1B397A43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8038"/>
                </a:solidFill>
              </a:defRPr>
            </a:pPr>
            <a:r>
              <a:rPr sz="3150" b="1">
                <a:solidFill>
                  <a:srgbClr val="188038"/>
                </a:solidFill>
              </a:rPr>
              <a:t>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25BA9-A4EB-4B05-9A7A-F5C0C5C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in flight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365C0-CF62-4E10-8BE7-19659784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feature work moving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09EAA-6289-47F5-BC9F-BDD58B5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F4FF0-35BA-4919-BD13-84D4303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6A00"/>
                </a:solidFill>
              </a:defRPr>
            </a:pPr>
            <a:r>
              <a:rPr sz="3150" b="1">
                <a:solidFill>
                  <a:srgbClr val="B66A00"/>
                </a:solidFill>
              </a:rPr>
              <a:t>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FDC66-383A-481E-9730-32794342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411B9-BE17-4A54-AECC-CDDC5914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idle for 7+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EF03D-FDF5-4DF9-A9D4-EC845CD0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8F0B5-B19F-4ECA-8D7F-5746DF6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42318"/>
                </a:solidFill>
              </a:defRPr>
            </a:pPr>
            <a:r>
              <a:rPr sz="3150" b="1">
                <a:solidFill>
                  <a:srgbClr val="B42318"/>
                </a:solidFill>
              </a:rPr>
              <a:t>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4B62A-3FFC-42C9-A48C-D560416B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abandoned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C38C9-7E36-4BCD-93DA-906C3CF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57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idle for 21+ days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D2D2F-0697-4ECC-9822-2132ED1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5AFD7-5AEF-4555-BE92-CF3B2C3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31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Leader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76A56-3C85-4AF4-AF91-65441F26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59" y="4552950"/>
            <a:ext cx="134759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31047-A0A4-4AEB-BAE3-3D7BA3DF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22" y="4552950"/>
            <a:ext cx="19465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9F103-BF20-4D02-9807-A66FF3B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BBFF0-AB85-4505-AA68-E7F72FA1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1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What changed?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0BE4A-3061-4CF7-A9ED-ADA5F01F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59" y="4914900"/>
            <a:ext cx="134759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Feed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59719-5F70-4A7D-B2A6-B012EB86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22" y="4914900"/>
            <a:ext cx="19465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Review new risks first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F6441-2B06-46FC-9484-C3EA9ED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7DD5E-4D44-439F-AEAF-9D012D75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31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Where is motion slow?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CBB16-6078-45A7-9B86-5BA739BD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59" y="5276850"/>
            <a:ext cx="134759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Cycle 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D20DAC-0701-4308-9993-767153F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22" y="5276850"/>
            <a:ext cx="19465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Move blockers or scope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F1EF8D-4EC9-417D-85DE-5C7BE03D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0BBB68-F68F-4BA1-9A80-3EF85D8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31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Which workstream needs attention?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794F4-F2A0-4164-9E9B-CF5D0C38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59" y="5638800"/>
            <a:ext cx="134759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RAG + 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F1CAD7-5B08-4821-B191-739437E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22" y="5638800"/>
            <a:ext cx="19465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Drill into owners and facts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E02B1A-C225-4230-8A32-39BA4C16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8685A-9D4D-44D8-A137-4406EA9B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31443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Can I ask a custom question?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810E81-703B-48E6-A2EE-E48DC830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59" y="6000750"/>
            <a:ext cx="134759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LLM answer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289C67-7E84-4F8B-BC0E-F8EDDA0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722" y="6000750"/>
            <a:ext cx="19465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 sourced portfolio context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AD0F81-1C43-4FD8-B68E-E1B8153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A45035-A70B-4E44-B054-A0A1AC46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business shift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1404DD-E533-4773-BD5E-2C094621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809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Leaders can move from status color to delivery motion: what changed, what aged, and where intervention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1098255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03785-3C45-4C93-A6E6-3F63DC3A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4F359-E442-4A0C-ACA8-8F93C03B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Trust is a product feature, not a backend detail.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8CB93-A616-44A8-BC50-1BEC8C48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C7520-065D-4648-B153-F305A80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D5879-C8CD-40BC-9BED-2CC3BF4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D7DD6-930E-4555-B5E0-1AC8EAC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E3308-D291-46BB-AFF0-5E3404D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Read-only integrations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9BBA-E8E3-4AA2-98EA-C1A44FA7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152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Jira, GitHub, and calendar sync feed facts without writing back in the current phase.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9EAB7-2DEF-498E-8408-6538784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F84A8-7168-43ED-96B9-678DBD7F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Provider-neutral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2D650-FC15-42C5-9D1E-A16BDF76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152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Fake and real adapters sit behind stable ports, with DBOS and Temporal selectable by configuration.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717D0-5ABE-4401-811D-F5493D5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8156B-93AC-46D3-A187-515D2783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Access and 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E2E4A-FB87-4312-87A8-6F450B81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4152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Admin surfaces are gated; portfolio views do not expose raw developer-message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750DB-EBAA-4455-93EC-E1E084C5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6110F-BD84-4373-8F31-233F03D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</a:defRPr>
            </a:pPr>
            <a:r>
              <a:rPr sz="1800" b="1">
                <a:solidFill>
                  <a:srgbClr val="0066CC"/>
                </a:solidFill>
              </a:rPr>
              <a:t>Behavioral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461F1-EA7C-4AFF-9A4D-72F96C95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152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The Mock Slack matrix covers all 45 rows, and the unit suite reached 173 passing tests in the latest QA 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B2EFA-5699-437A-8F01-24616BE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293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This matters because leaders will only act on automated rollups when the system makes source, freshness, and boundaries explicit.</a:t>
            </a:r>
          </a:p>
        </p:txBody>
      </p:sp>
    </p:spTree>
    <p:extLst>
      <p:ext uri="{BB962C8B-B14F-4D97-AF65-F5344CB8AC3E}">
        <p14:creationId xmlns:p14="http://schemas.microsoft.com/office/powerpoint/2010/main" val="891772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2DC5A-D45E-46B8-AE55-E4A09DC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9493D-40E9-4CE6-A18E-39B4DAB5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What's next: close the loop from sense to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4552B-93B7-4EFB-B963-EEA6604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DC91B-7B37-40C8-8896-046C7ACD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4D610-3316-4C17-9B37-D81827C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36A0E-2E42-4201-876D-86B88BF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711E4-CB25-44C9-97A7-1F3B4044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6CC"/>
                </a:solidFill>
              </a:defRPr>
            </a:pPr>
            <a:r>
              <a:rPr sz="2250" b="1">
                <a:solidFill>
                  <a:srgbClr val="0066CC"/>
                </a:solidFill>
              </a:rPr>
              <a:t>Reconcile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3768B-5C3B-434F-B1E7-157115E6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Compare stated status with Jira, PR, and CI facts; surface drift and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BCE45-BC62-4431-89CD-77AF1D16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E2B18-B2A6-48EA-AFC1-949B349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FFA70-CA64-45F4-A032-4951E41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Forecast milestone slip, stale dependencies, repeated blockers, and scope pressure.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FCA90-9BFD-4251-BC59-C9419F6A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29F4B-E4DB-48CC-AF18-8FB2A9B1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A0CBD-757E-40D5-A0A4-8AE76879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Generate standup and stakeholder updates, recommend load balancing, and answer portfolio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B2258-DA7C-46EF-B5E1-AFBB9240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899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BEC4C-DF15-4D73-8EE8-91038B01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0540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Recommended demo path: configure the graph, dispatch check-ins, inspect role dashboards, review portfolio flow, then ask a portfolio question.</a:t>
            </a:r>
          </a:p>
        </p:txBody>
      </p:sp>
    </p:spTree>
    <p:extLst>
      <p:ext uri="{BB962C8B-B14F-4D97-AF65-F5344CB8AC3E}">
        <p14:creationId xmlns:p14="http://schemas.microsoft.com/office/powerpoint/2010/main" val="2108639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2026-07-01T19:36:57.3390000Z</dcterms:created>
  <dcterms:modified xsi:type="dcterms:W3CDTF">2026-07-01T19:36:57.3390000Z</dcterms:modified>
</coreProperties>
</file>